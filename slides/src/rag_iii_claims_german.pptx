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</p:sldMasterIdLst>
  <p:notesMasterIdLst>
    <p:notesMasterId r:id="rId10"/>
  </p:notesMasterIdLst>
  <p:handoutMasterIdLst>
    <p:handoutMasterId r:id="rId11"/>
  </p:handoutMasterIdLst>
  <p:sldIdLst>
    <p:sldId id="256" r:id="rId8"/>
    <p:sldId id="257" r:id="rId9"/>
    <p:sldId id="258" r:id="rId7"/>
    <p:sldId id="259" r:id="rId6"/>
    <p:sldId id="260" r:id="rId5"/>
    <p:sldId id="261" r:id="rId4"/>
    <p:sldId id="262" r:id="rId3"/>
    <p:sldId id="263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C580"/>
    <a:srgbClr val="007A9E"/>
    <a:srgbClr val="B1063A"/>
    <a:srgbClr val="F6A800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65"/>
  </p:normalViewPr>
  <p:slideViewPr>
    <p:cSldViewPr snapToGrid="0">
      <p:cViewPr varScale="1">
        <p:scale>
          <a:sx n="108" d="100"/>
          <a:sy n="108" d="100"/>
        </p:scale>
        <p:origin x="62" y="1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microsoft.com/office/2007/relationships/hdphoto" Target="../media/hdphoto1.wdp"/><Relationship Id="rId6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microsoft.com/office/2007/relationships/hdphoto" Target="../media/hdphoto2.wdp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microsoft.com/office/2007/relationships/hdphoto" Target="../media/hdphoto3.wdp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bg2">
                    <a:lumMod val="50000"/>
                  </a:schemeClr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026263" y="453524"/>
            <a:ext cx="1705178" cy="603083"/>
          </a:xfrm>
          <a:prstGeom prst="rect">
            <a:avLst/>
          </a:prstGeom>
        </p:spPr>
      </p:pic>
      <p:pic>
        <p:nvPicPr>
          <p:cNvPr id="8" name="Grafik 7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998127" y="1208272"/>
            <a:ext cx="1705179" cy="11381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4" name="Google Shape;134;p15">
            <a:extLst>
              <a:ext uri="{FF2B5EF4-FFF2-40B4-BE49-F238E27FC236}">
                <a16:creationId xmlns:a16="http://schemas.microsoft.com/office/drawing/2014/main" id="{CC4BE7D5-1352-5B00-5621-A958D5BE4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96834F11-6396-8BB9-7520-9DD3ADB01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267D76-D5BA-6845-E3AB-2F4598ADC1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599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8781CD25-6811-018E-09CF-0BE31A58D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7B9C4789-6EA7-5996-483E-221604B7C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852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chemeClr val="accent6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139C02A8-790F-AD34-F688-7E80509028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4932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F6A800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1CB449-ECAF-3764-43B6-A41BDE7EE5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148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1CB449-ECAF-3764-43B6-A41BDE7EE5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52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B1063A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5F1BB485-FCF5-2D04-AFE5-6D2EFEF92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7EF65610-C453-6A30-68F2-BD813F03B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6818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0" name="Google Shape;40;p4">
            <a:extLst>
              <a:ext uri="{FF2B5EF4-FFF2-40B4-BE49-F238E27FC236}">
                <a16:creationId xmlns:a16="http://schemas.microsoft.com/office/drawing/2014/main" id="{BB194991-4909-0985-60EF-39F5D242E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" name="Google Shape;134;p15">
            <a:extLst>
              <a:ext uri="{FF2B5EF4-FFF2-40B4-BE49-F238E27FC236}">
                <a16:creationId xmlns:a16="http://schemas.microsoft.com/office/drawing/2014/main" id="{5A040F92-419B-29C0-2C02-9665F52DF3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 preserve="1">
  <p:cSld name="Titelfolie dunkel">
    <p:bg>
      <p:bgPr>
        <a:solidFill>
          <a:schemeClr val="bg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E3660A-1D0C-8A16-64A4-473D6A33D5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04523" y="446444"/>
            <a:ext cx="1726918" cy="610163"/>
          </a:xfrm>
          <a:prstGeom prst="rect">
            <a:avLst/>
          </a:prstGeom>
        </p:spPr>
      </p:pic>
      <p:pic>
        <p:nvPicPr>
          <p:cNvPr id="6" name="Google Shape;20;p2"/>
          <p:cNvPicPr preferRelativeResize="0"/>
          <p:nvPr userDrawn="1"/>
        </p:nvPicPr>
        <p:blipFill rotWithShape="1">
          <a:blip r:embed="rId4">
            <a:alphaModFix/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B32D28F-B087-9B58-8189-24EDBEBFDF4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04523" y="1310883"/>
            <a:ext cx="1705179" cy="113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88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Google Shape;40;p4">
            <a:extLst>
              <a:ext uri="{FF2B5EF4-FFF2-40B4-BE49-F238E27FC236}">
                <a16:creationId xmlns:a16="http://schemas.microsoft.com/office/drawing/2014/main" id="{72F63D37-7F20-17B0-CCE3-94EBB86F4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6" name="Google Shape;134;p15">
            <a:extLst>
              <a:ext uri="{FF2B5EF4-FFF2-40B4-BE49-F238E27FC236}">
                <a16:creationId xmlns:a16="http://schemas.microsoft.com/office/drawing/2014/main" id="{82374E83-9E09-0C86-54AE-659228696D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1595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EF291D13-D1CC-1DC3-70E1-665C5235A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1C2166B4-681D-8B6E-1857-624E9F94E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2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6ED25AF-4EBD-2254-4C4C-6AA067C5A4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EDE78CFB-C4B3-FC7C-088D-7871555C4F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301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1B03F3B-0E13-8A0A-2434-8AC473714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2BCB3C85-1A2E-AC16-3C33-E705D6944F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9899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1B03F3B-0E13-8A0A-2434-8AC473714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6A533E51-3378-2F65-B931-842E03231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3BFD1045-8E13-09CC-F6D7-A483C2B00FA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18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BBE6B796-4D84-E6D1-DF2E-478573A1E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340BAAF-8CD4-CAD8-F24F-2751628129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70482C6-729F-7F14-8894-5A9067E685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82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321B610B-64F7-D6A3-8D6F-744AF321EE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Google Shape;40;p4">
            <a:extLst>
              <a:ext uri="{FF2B5EF4-FFF2-40B4-BE49-F238E27FC236}">
                <a16:creationId xmlns:a16="http://schemas.microsoft.com/office/drawing/2014/main" id="{D94C1399-A05C-DA8C-25EA-43D1A7C140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" name="Google Shape;134;p15">
            <a:extLst>
              <a:ext uri="{FF2B5EF4-FFF2-40B4-BE49-F238E27FC236}">
                <a16:creationId xmlns:a16="http://schemas.microsoft.com/office/drawing/2014/main" id="{3968C25E-E73D-FB22-A149-5738F11BA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3B92008-EDF8-949D-8B24-6122CE24CD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815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907DAB2-1F16-E43A-3DC4-B6A974BAEB11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EF73EC15-FC27-36A5-D3BC-ED6C80A2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AC6295F-275E-8306-BEC0-38AD327D32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509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6265508-9AEA-37D5-75A4-31412279FABE}"/>
              </a:ext>
            </a:extLst>
          </p:cNvPr>
          <p:cNvSpPr/>
          <p:nvPr userDrawn="1"/>
        </p:nvSpPr>
        <p:spPr>
          <a:xfrm>
            <a:off x="200167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Google Shape;134;p15">
            <a:extLst>
              <a:ext uri="{FF2B5EF4-FFF2-40B4-BE49-F238E27FC236}">
                <a16:creationId xmlns:a16="http://schemas.microsoft.com/office/drawing/2014/main" id="{4D92B17C-3272-C651-466F-574E1104A3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59BE8E-E107-725F-DCAA-612D12BE8D23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23940B95-489D-2B1D-0748-509C0840E6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7CFC5A3-06F9-B9EA-2D0A-3758E7734044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976B88F6-11B0-1F9F-7E40-C41688863D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1E948B8-829C-AB3C-FBEE-5D482CD8D845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FAC7BABB-777B-6293-8B06-34FF024CA2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D091F16-BA09-BADD-0CB2-E82A3AAF3BB8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F0F2C98B-C9AA-B31C-1432-EA4267A472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ACD00DA-15E7-A010-2C79-14A8503D61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B253E7-E103-C0CF-3E17-93350DD7A41F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1" name="Google Shape;134;p15">
            <a:extLst>
              <a:ext uri="{FF2B5EF4-FFF2-40B4-BE49-F238E27FC236}">
                <a16:creationId xmlns:a16="http://schemas.microsoft.com/office/drawing/2014/main" id="{68D0BE14-D3E5-25A6-996E-4246A573A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407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E3A5BAD-26C8-942D-897C-C51DD99FAED3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3" name="Google Shape;40;p4">
            <a:extLst>
              <a:ext uri="{FF2B5EF4-FFF2-40B4-BE49-F238E27FC236}">
                <a16:creationId xmlns:a16="http://schemas.microsoft.com/office/drawing/2014/main" id="{CE79A2F5-8992-C8F4-E0BF-0E2CB8A77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CA1ED46F-C2D4-FCA8-D2D7-3A6A3EE3C5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5115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B2E3FD4D-4BAE-20D9-F11B-C9B907C1C103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8ABFDF8E-2714-DEBF-2939-E469AC3CE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ACE4E089-09D6-A340-453B-A23080B15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7049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4" name="Google Shape;40;p4">
            <a:extLst>
              <a:ext uri="{FF2B5EF4-FFF2-40B4-BE49-F238E27FC236}">
                <a16:creationId xmlns:a16="http://schemas.microsoft.com/office/drawing/2014/main" id="{89DC3406-4947-803D-3A4E-28BBF825E8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8ADE0D3D-2EDB-F0CB-7A13-A5664ACEB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5171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9E99921-C510-7243-5D50-F7AD23D7FC9B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6D99F7D-81E8-E37E-8330-1F5F41E5AA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A9110798-7440-481E-81AA-8E8FBC6239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778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D6DD659-B927-3964-615D-EC244D06202E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66811DF-A9BB-2F47-E804-FEEAF2BCB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33CB2BEC-CF31-0F70-C619-CC277EE34D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2501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A0280BF-0E7C-AFED-D6FE-678A1880DF56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Google Shape;40;p4">
            <a:extLst>
              <a:ext uri="{FF2B5EF4-FFF2-40B4-BE49-F238E27FC236}">
                <a16:creationId xmlns:a16="http://schemas.microsoft.com/office/drawing/2014/main" id="{23031402-6EC7-6D0B-0C21-55A800158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3" name="Google Shape;134;p15">
            <a:extLst>
              <a:ext uri="{FF2B5EF4-FFF2-40B4-BE49-F238E27FC236}">
                <a16:creationId xmlns:a16="http://schemas.microsoft.com/office/drawing/2014/main" id="{2CC05627-B4CE-8193-CB4C-A9CD8EFA7C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371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9E50E069-5CB9-5398-B121-9F8D075B6CBA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775894F4-7512-9DCE-C06E-3692E9AF97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8CF486B0-3028-8CCA-1246-88FBCD7739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3145582-F029-666E-2CBD-D45C8F91DB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189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C95FD821-2EF0-F787-BD25-59427DA2FCB9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5DBA9C0-1367-43D6-F92B-2BC631589F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AF81C945-CDA9-D795-D99E-9E6956E080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DE236AF8-8F7A-1A3D-8432-A49A1F25E6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0918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C95AD7B-2E81-A66B-FE43-97CF906AD6C5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007A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AE2036F9-DFD9-5610-5439-957AC760D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0ADCEF86-E678-7C5D-ED12-815CF32607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5239716-4CA0-BAB0-CC92-C62FD66A4C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581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4D93132-4A58-7B06-7D90-E715012A5D84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18E7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321B610B-64F7-D6A3-8D6F-744AF321EE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1F88245-1CCC-370D-1062-CB04B28AB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3" name="Google Shape;134;p15">
            <a:extLst>
              <a:ext uri="{FF2B5EF4-FFF2-40B4-BE49-F238E27FC236}">
                <a16:creationId xmlns:a16="http://schemas.microsoft.com/office/drawing/2014/main" id="{579F8731-A184-B349-31B3-18F2A474AE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6413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hell" userDrawn="1">
  <p:cSld name="Leer hell">
    <p:bg>
      <p:bgPr>
        <a:solidFill>
          <a:schemeClr val="bg2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42;p5">
            <a:extLst>
              <a:ext uri="{FF2B5EF4-FFF2-40B4-BE49-F238E27FC236}">
                <a16:creationId xmlns:a16="http://schemas.microsoft.com/office/drawing/2014/main" id="{826AB866-D8C1-E796-E460-12E4F2141A6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 rot="10800000" flipV="1">
            <a:off x="6513446" y="2441422"/>
            <a:ext cx="7789690" cy="59461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</p:pic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992FB5AC-7938-700F-A2DE-6E72FFE0D756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56E674C0-461E-EB3E-51A7-188B569B21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144B6387-8C7C-8BA8-DAD4-9E24A34F4E0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C9AA6CDF-C2D8-66CE-164D-43EDC659F4E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4" name="Google Shape;50;p6">
            <a:extLst>
              <a:ext uri="{FF2B5EF4-FFF2-40B4-BE49-F238E27FC236}">
                <a16:creationId xmlns:a16="http://schemas.microsoft.com/office/drawing/2014/main" id="{DFA379ED-BBB8-344D-3762-3D5D7DE02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5" name="Google Shape;52;p6">
            <a:extLst>
              <a:ext uri="{FF2B5EF4-FFF2-40B4-BE49-F238E27FC236}">
                <a16:creationId xmlns:a16="http://schemas.microsoft.com/office/drawing/2014/main" id="{82E9E9B7-158B-6C97-993D-E5724D5D56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39243C2-AB81-0464-CB69-B49220FC4D7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982786" y="438764"/>
            <a:ext cx="1748655" cy="6178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>
  <p:cSld name="Abschlussfolie dunkel">
    <p:bg>
      <p:bgPr>
        <a:solidFill>
          <a:schemeClr val="dk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0BF41E5-5043-1676-634A-40E34BE614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22" name="Google Shape;42;p5">
            <a:extLst>
              <a:ext uri="{FF2B5EF4-FFF2-40B4-BE49-F238E27FC236}">
                <a16:creationId xmlns:a16="http://schemas.microsoft.com/office/drawing/2014/main" id="{C66AEA29-77E0-21E3-CA86-7D515B5A085C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-3085333" y="260100"/>
            <a:ext cx="9660910" cy="78703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1009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bschlussfolie">
  <p:cSld name="Abschlussfolie">
    <p:bg>
      <p:bgPr>
        <a:solidFill>
          <a:schemeClr val="l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/>
          <p:cNvPicPr preferRelativeResize="0"/>
          <p:nvPr/>
        </p:nvPicPr>
        <p:blipFill rotWithShape="1">
          <a:blip r:embed="rId2">
            <a:alphaModFix amt="5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684787" y="-627015"/>
            <a:ext cx="10703154" cy="756339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0" name="Google Shape;50;p6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53" name="Google Shape;53;p6"/>
          <p:cNvPicPr preferRelativeResize="0"/>
          <p:nvPr/>
        </p:nvPicPr>
        <p:blipFill rotWithShape="1">
          <a:blip r:embed="rId4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072C3A-9DC1-18BF-6974-3EEFD44EE1E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26263" y="453524"/>
            <a:ext cx="1705178" cy="603083"/>
          </a:xfrm>
          <a:prstGeom prst="rect">
            <a:avLst/>
          </a:prstGeom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B6E005FD-DA69-BC23-E7D7-52DB0268EA8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26263" y="1152000"/>
            <a:ext cx="1705178" cy="11381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652"/>
                    </a14:imgEffect>
                    <a14:imgEffect>
                      <a14:saturation sat="35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7CADC23-6428-4139-3752-F45AF64B83B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104;p12">
            <a:extLst>
              <a:ext uri="{FF2B5EF4-FFF2-40B4-BE49-F238E27FC236}">
                <a16:creationId xmlns:a16="http://schemas.microsoft.com/office/drawing/2014/main" id="{78011120-BB62-FEEF-47A5-CC5E0ADEDF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4;p15">
            <a:extLst>
              <a:ext uri="{FF2B5EF4-FFF2-40B4-BE49-F238E27FC236}">
                <a16:creationId xmlns:a16="http://schemas.microsoft.com/office/drawing/2014/main" id="{D15598A7-DB5B-B8C8-4182-4D26D183AE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2D1482AC-51B3-ADB0-D743-121C59C19C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4214" y="1602999"/>
            <a:ext cx="5341916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E04D412F-B365-ECD8-8FFF-3B124DCAD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400DC504-4891-BD2A-4E5C-EE4335FF40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3200" b="1" i="0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8A407166-5C0A-38F2-027B-AF7C9B6D12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" userDrawn="1">
  <p:cSld name="Topic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>
            <a:spLocks noGrp="1"/>
          </p:cNvSpPr>
          <p:nvPr>
            <p:ph type="body" idx="1"/>
          </p:nvPr>
        </p:nvSpPr>
        <p:spPr>
          <a:xfrm>
            <a:off x="474663" y="2024063"/>
            <a:ext cx="3600000" cy="655637"/>
          </a:xfrm>
          <a:prstGeom prst="rect">
            <a:avLst/>
          </a:prstGeom>
          <a:solidFill>
            <a:srgbClr val="007A9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17"/>
          <p:cNvSpPr txBox="1">
            <a:spLocks noGrp="1"/>
          </p:cNvSpPr>
          <p:nvPr>
            <p:ph type="body" idx="2"/>
          </p:nvPr>
        </p:nvSpPr>
        <p:spPr>
          <a:xfrm>
            <a:off x="4293394" y="2024063"/>
            <a:ext cx="3600000" cy="65563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7"/>
          <p:cNvSpPr txBox="1">
            <a:spLocks noGrp="1"/>
          </p:cNvSpPr>
          <p:nvPr>
            <p:ph type="body" idx="3"/>
          </p:nvPr>
        </p:nvSpPr>
        <p:spPr>
          <a:xfrm>
            <a:off x="8112125" y="2024063"/>
            <a:ext cx="3600000" cy="655637"/>
          </a:xfrm>
          <a:prstGeom prst="rect">
            <a:avLst/>
          </a:prstGeom>
          <a:solidFill>
            <a:srgbClr val="18E79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7"/>
          <p:cNvSpPr txBox="1">
            <a:spLocks noGrp="1"/>
          </p:cNvSpPr>
          <p:nvPr>
            <p:ph type="body" idx="4"/>
          </p:nvPr>
        </p:nvSpPr>
        <p:spPr>
          <a:xfrm>
            <a:off x="474213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17"/>
          <p:cNvSpPr txBox="1">
            <a:spLocks noGrp="1"/>
          </p:cNvSpPr>
          <p:nvPr>
            <p:ph type="body" idx="5"/>
          </p:nvPr>
        </p:nvSpPr>
        <p:spPr>
          <a:xfrm>
            <a:off x="4292944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6"/>
          </p:nvPr>
        </p:nvSpPr>
        <p:spPr>
          <a:xfrm>
            <a:off x="8111675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7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7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7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3A8B5D5-BB9A-EA75-2F92-CD7AEF1C32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5948DC93-E1FE-631C-E582-7C35D931F2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4" name="Google Shape;134;p15">
            <a:extLst>
              <a:ext uri="{FF2B5EF4-FFF2-40B4-BE49-F238E27FC236}">
                <a16:creationId xmlns:a16="http://schemas.microsoft.com/office/drawing/2014/main" id="{FEEB5722-502E-A839-6FED-2CFF08C3E8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 userDrawn="1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5" name="Google Shape;134;p15">
            <a:extLst>
              <a:ext uri="{FF2B5EF4-FFF2-40B4-BE49-F238E27FC236}">
                <a16:creationId xmlns:a16="http://schemas.microsoft.com/office/drawing/2014/main" id="{0DE01C98-EDAF-C75C-A07C-6D54FA668D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 userDrawn="1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22E8A514-8E80-9DEB-F599-FD0E4844B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 userDrawn="1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4;p15">
            <a:extLst>
              <a:ext uri="{FF2B5EF4-FFF2-40B4-BE49-F238E27FC236}">
                <a16:creationId xmlns:a16="http://schemas.microsoft.com/office/drawing/2014/main" id="{6B2CD45F-A9E2-0E11-694A-035C17EE79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lang="de-DE"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68" r:id="rId2"/>
    <p:sldLayoutId id="2147483695" r:id="rId3"/>
    <p:sldLayoutId id="2147483697" r:id="rId4"/>
    <p:sldLayoutId id="2147483699" r:id="rId5"/>
    <p:sldLayoutId id="2147483710" r:id="rId6"/>
    <p:sldLayoutId id="2147483712" r:id="rId7"/>
    <p:sldLayoutId id="2147483701" r:id="rId8"/>
    <p:sldLayoutId id="2147483673" r:id="rId9"/>
    <p:sldLayoutId id="2147483685" r:id="rId10"/>
    <p:sldLayoutId id="2147483674" r:id="rId11"/>
    <p:sldLayoutId id="2147483696" r:id="rId12"/>
    <p:sldLayoutId id="2147483698" r:id="rId13"/>
    <p:sldLayoutId id="2147483700" r:id="rId14"/>
    <p:sldLayoutId id="2147483711" r:id="rId15"/>
    <p:sldLayoutId id="2147483702" r:id="rId16"/>
    <p:sldLayoutId id="2147483688" r:id="rId17"/>
    <p:sldLayoutId id="2147483703" r:id="rId18"/>
    <p:sldLayoutId id="2147483684" r:id="rId19"/>
    <p:sldLayoutId id="2147483679" r:id="rId20"/>
    <p:sldLayoutId id="2147483682" r:id="rId21"/>
    <p:sldLayoutId id="2147483680" r:id="rId22"/>
    <p:sldLayoutId id="2147483681" r:id="rId23"/>
    <p:sldLayoutId id="2147483689" r:id="rId24"/>
    <p:sldLayoutId id="2147483690" r:id="rId25"/>
    <p:sldLayoutId id="2147483691" r:id="rId26"/>
    <p:sldLayoutId id="2147483692" r:id="rId27"/>
    <p:sldLayoutId id="2147483693" r:id="rId28"/>
    <p:sldLayoutId id="2147483694" r:id="rId29"/>
    <p:sldLayoutId id="2147483704" r:id="rId30"/>
    <p:sldLayoutId id="2147483705" r:id="rId31"/>
    <p:sldLayoutId id="2147483706" r:id="rId32"/>
    <p:sldLayoutId id="2147483707" r:id="rId33"/>
    <p:sldLayoutId id="2147483708" r:id="rId34"/>
    <p:sldLayoutId id="2147483653" r:id="rId35"/>
    <p:sldLayoutId id="2147483654" r:id="rId36"/>
    <p:sldLayoutId id="2147483709" r:id="rId37"/>
    <p:sldLayoutId id="2147483652" r:id="rId38"/>
    <p:sldLayoutId id="2147483686" r:id="rId39"/>
    <p:sldLayoutId id="2147483655" r:id="rId40"/>
    <p:sldLayoutId id="2147483656" r:id="rId41"/>
    <p:sldLayoutId id="2147483657" r:id="rId42"/>
    <p:sldLayoutId id="2147483658" r:id="rId43"/>
    <p:sldLayoutId id="2147483660" r:id="rId44"/>
    <p:sldLayoutId id="2147483661" r:id="rId45"/>
    <p:sldLayoutId id="2147483662" r:id="rId46"/>
    <p:sldLayoutId id="2147483663" r:id="rId47"/>
    <p:sldLayoutId id="2147483664" r:id="rId48"/>
    <p:sldLayoutId id="2147483665" r:id="rId49"/>
    <p:sldLayoutId id="2147483666" r:id="rId5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3200" b="1" i="0" u="none" strike="noStrike" cap="all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Errate die Zahl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3444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Wie viele Aussagen stecken in jedem Text?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73736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Die Anforderungen müssen dokumentiert werden, damit sie identifiziert und bei Planung, Betrieb und Beschaffung berücksichtigt werden können.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0784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07848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7848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Ohne verbindliche Passwortregeln besteht die Gefahr schwacher oder mehrfach genutzter Passwörter, die leicht kompromittiert werden können.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41960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41960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41960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Ausgabe und Entzug von Zutritts-, Zugangs- und Zugriffsmitteln sind zu dokumentieren und bei Kompromittierung sofort zu ersetzen.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5897880"/>
            <a:ext cx="365760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Mentimeter-Code: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Was ist eine Aussage?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25880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Alltag, ganz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47288" y="1325880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Eine Aussage ist ein Satz, der etwas feststellt.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37743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37743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Alltag, feiner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8" y="237743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Jeder Teilsatz, der etwas feststellt, ist eine Aussage: Hauptsatz und Nebensatz zählen getrennt.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42899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42899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Logik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342899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Eine Aussage ist etwas, das für sich allein wahr oder falsch sein kann. Jedes Element einer Aufzählung zählt für jede Handlung, zu der es gehört.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48055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48055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Arbeitsdefinition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48055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Eine Aussage ist der kleinste Teil der Referenzantwort, der sich an einer Stelle im Kompendium prüfen lässt.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Arbeitsdefinition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71600"/>
            <a:ext cx="10789920" cy="10972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212427"/>
                </a:solidFill>
                <a:latin typeface="Verdana"/>
              </a:rPr>
              <a:t>Eine Aussage ist der kleinste Teil der Referenzantwort, der sich an einer Stelle im Kompendium prüfen lässt.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6060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78892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8892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Jede Handlung (dokumentieren, ersetzen) ist eine eigene Aussage.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0439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3520439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Jede Begründung (weil, da) und jeder Zweck (damit, um zu) ist eine eigene Aussage.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25196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25196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Eine Aufzählung, die das Kompendium als eine Liste nennt, bleibt eine Aussage.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8348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98348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Wiederholungen und Füllwörter zählen nicht.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Beispiel A: Wie viele Aussagen?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Die Anforderungen müssen dokumentiert werden, damit sie identifiziert und bei Planung, Betrieb und Beschaffung berücksichtigt werden können.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ganz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der ganze 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feiner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Die Anforderungen müssen dokumentiert werden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damit sie identifiziert und bei Planung, Betrieb und Beschaffung berücksichtigt werden können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Die Anforderungen müssen dokumentiert werden.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Dokumentierte Anforderungen können identifiziert werden.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Dokumentierte Anforderungen können bei der Planung berücksichtigt werden.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... beim Betrieb ...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5) ... bei der Beschaffung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Arbeitsdefinition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Anforderungen müssen dokumentiert werden.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Zweck: Anforderungen identifizieren.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Zweck: bei der Planung berücksichtigen.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Zweck: beim Betrieb berücksichtigen.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5) Zweck: bei der Beschaffung berücksichtigen.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Beispiel B: Wie viele Aussagen?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Ohne verbindliche Passwortregeln besteht die Gefahr schwacher oder mehrfach genutzter Passwörter, die leicht kompromittiert werden können.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ganz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der ganze 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feiner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Ohne verbindliche Passwortregeln besteht die Gefahr schwacher oder mehrfach genutzter Passwörter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die leicht kompromittiert werden können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Ohne verbindliche Passwortregeln besteht die Gefahr schwacher Passwörter.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Ohne verbindliche Passwortregeln besteht die Gefahr mehrfach genutzter Passwörter.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Schwache Passwörter können leicht kompromittiert werden.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Mehrfach genutzte Passwörter können leicht kompromittiert werden.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Arbeitsdefinition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Ohne Passwortregeln: Gefahr schwacher Passwörter.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Ohne Passwortregeln: Gefahr mehrfach genutzter Passwörter.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3) Schwache oder mehrfach genutzte Passwörter sind leicht zu kompromittieren.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Beispiel C: Wie viele Aussagen?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Ausgabe und Entzug von Zutritts-, Zugangs- und Zugriffsmitteln sind zu dokumentieren und bei Kompromittierung sofort zu ersetzen.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ganz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der ganze 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Alltag, feiner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Ausgabe und Entzug von Zutritts-, Zugangs- und Zugriffsmitteln sind zu dokumentieren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und bei Kompromittierung sofort zu ersetzen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1) Die Ausgabe von Zutrittsmitteln ist zu dokumentieren.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2) ... Zugangsmitteln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3) ... Zugriffsmitteln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4) Der Entzug von Zutrittsmitteln ist zu dokumentieren.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5) ... Zugangsmitteln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6) ... Zugriffsmitteln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7) Zutrittsmittel sind bei Kompromittierung sofort zu ersetzen.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8) Zugangsmittel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9) Zugriffsmittel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Arbeitsdefinition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Die Ausgabe von Zutritts-, Zugangs- und Zugriffsmitteln ist zu dokumentieren.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Der Entzug von Zutritts-, Zugangs- und Zugriffsmitteln ist zu dokumentieren.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3) Zutritts-, Zugangs- und Zugriffsmittel sind bei Kompromittierung sofort zu ersetzen.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Errate die Zahl, Runde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34440"/>
            <a:ext cx="10789920" cy="45720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Eine Aussage ist der kleinste Teil der Referenzantwort, der sich an einer Stelle im Kompendium prüfen lässt.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10789920" cy="114300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1. Jede Handlung (dokumentieren, ersetzen) ist eine eigene Aussage.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2. Jede Begründung (weil, da) und jeder Zweck (damit, um zu) ist eine eigene Aussage.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3. Eine Aufzählung, die das Kompendium als eine Liste nennt, bleibt eine Aussage.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4. Wiederholungen und Füllwörter zählen nicht.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9260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063240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3063240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Die Anforderungen müssen dokumentiert werden, damit sie identifiziert und bei Planung, Betrieb und Beschaffung berücksichtigt werden können.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96239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962399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962399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Ohne verbindliche Passwortregeln besteht die Gefahr schwacher oder mehrfach genutzter Passwörter, die leicht kompromittiert werden können.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8615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61560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4861560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Ausgabe und Entzug von Zutritts-, Zugangs- und Zugriffsmitteln sind zu dokumentieren und bei Kompromittierung sofort zu ersetzen.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5897880"/>
            <a:ext cx="365760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Mentimeter-Code: 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Was RAGAS dem Richter sagt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8016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Die Anweisung an den Richter, wörtlich: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45920"/>
            <a:ext cx="107899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Given a context, and an answer, analyze each statement in the answer and classify if the statement can be attributed to the given context or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4688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560320"/>
            <a:ext cx="107899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Keine Definition. Der Richter entscheidet selbst, was eine Aussage 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17520"/>
            <a:ext cx="1078992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Unternehmen können sich für Pilotprojekte bewerben und erhalten 2-3 Tage pro Woche aktive Projektbegleitung, um gemeinsam einen Prototypen zu entwickeln. Dabei können sie auch die Recheninfrastruktur nutzen.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74903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840480"/>
            <a:ext cx="53035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gpt-oss-120b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251960"/>
            <a:ext cx="5303520" cy="54864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5A6065"/>
                </a:solidFill>
                <a:latin typeface="Verdana"/>
              </a:rPr>
              <a:t>2 Aussagen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800600"/>
            <a:ext cx="53035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zerlegt meist je Satz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3840480"/>
            <a:ext cx="53035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llama-3-3-70b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4251960"/>
            <a:ext cx="5303520" cy="54864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5A6065"/>
                </a:solidFill>
                <a:latin typeface="Verdana"/>
              </a:rPr>
              <a:t>4 Aussagen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800600"/>
            <a:ext cx="53035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zerlegt feiner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25780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Dieselbe Referenzantwort aus Notebook 2, Abschnitt E b. Der Nenner von Context Recall hängt davon ab, wer zerlegt.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PI">
  <a:themeElements>
    <a:clrScheme name="Benutzerdefiniert 3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007A9E"/>
      </a:accent4>
      <a:accent5>
        <a:srgbClr val="18E979"/>
      </a:accent5>
      <a:accent6>
        <a:srgbClr val="8B9094"/>
      </a:accent6>
      <a:hlink>
        <a:srgbClr val="F6A800"/>
      </a:hlink>
      <a:folHlink>
        <a:srgbClr val="DD6108"/>
      </a:folHlink>
    </a:clrScheme>
    <a:fontScheme name="AISC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Breitbild</PresentationFormat>
  <Paragraphs>5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Verdana</vt:lpstr>
      <vt:lpstr>HPI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Kohlmeyer, Lasse</dc:creator>
  <cp:lastModifiedBy>Kohlmeyer, Lasse</cp:lastModifiedBy>
  <cp:revision>21</cp:revision>
  <dcterms:modified xsi:type="dcterms:W3CDTF">2026-08-20T14:19:48Z</dcterms:modified>
</cp:coreProperties>
</file>