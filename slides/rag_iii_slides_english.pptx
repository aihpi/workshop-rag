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handoutMasters/handoutMaster1.xml" ContentType="application/vnd.openxmlformats-officedocument.presentationml.handoutMaster+xml"/>
  <Override PartName="/ppt/media/image15.svg" ContentType="image/svg+xml"/>
  <Override PartName="/ppt/media/image23.svg" ContentType="image/svg+xml"/>
  <Override PartName="/ppt/media/image50.svg" ContentType="image/svg+xml"/>
  <Override PartName="/ppt/media/image55.svg" ContentType="image/svg+xml"/>
  <Override PartName="/ppt/media/image71.svg" ContentType="image/svg+xml"/>
  <Override PartName="/ppt/media/image7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webextensions/webextension4.xml" ContentType="application/vnd.ms-office.webextension+xml"/>
  <Override PartName="/ppt/webextensions/webextension5.xml" ContentType="application/vnd.ms-office.webextension+xml"/>
  <Override PartName="/ppt/webextensions/webextension6.xml" ContentType="application/vnd.ms-office.webextension+xml"/>
  <Override PartName="/ppt/webextensions/webextension7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7" r:id="rId1"/>
  </p:sldMasterIdLst>
  <p:notesMasterIdLst>
    <p:notesMasterId r:id="rId55"/>
  </p:notesMasterIdLst>
  <p:handoutMasterIdLst>
    <p:handoutMasterId r:id="rId56"/>
  </p:handoutMasterIdLst>
  <p:sldIdLst>
    <p:sldId id="384" r:id="rId2"/>
    <p:sldId id="385" r:id="rId3"/>
    <p:sldId id="386" r:id="rId4"/>
    <p:sldId id="387" r:id="rId5"/>
    <p:sldId id="388" r:id="rId6"/>
    <p:sldId id="389" r:id="rId7"/>
    <p:sldId id="390" r:id="rId8"/>
    <p:sldId id="391" r:id="rId9"/>
    <p:sldId id="392" r:id="rId10"/>
    <p:sldId id="280" r:id="rId11"/>
    <p:sldId id="393" r:id="rId12"/>
    <p:sldId id="394" r:id="rId13"/>
    <p:sldId id="395" r:id="rId14"/>
    <p:sldId id="303" r:id="rId15"/>
    <p:sldId id="396" r:id="rId16"/>
    <p:sldId id="397" r:id="rId17"/>
    <p:sldId id="403" r:id="rId18"/>
    <p:sldId id="404" r:id="rId19"/>
    <p:sldId id="405" r:id="rId20"/>
    <p:sldId id="307" r:id="rId21"/>
    <p:sldId id="372" r:id="rId22"/>
    <p:sldId id="367" r:id="rId23"/>
    <p:sldId id="409" r:id="rId24"/>
    <p:sldId id="406" r:id="rId25"/>
    <p:sldId id="410" r:id="rId26"/>
    <p:sldId id="413" r:id="rId27"/>
    <p:sldId id="414" r:id="rId28"/>
    <p:sldId id="362" r:id="rId29"/>
    <p:sldId id="421" r:id="rId30"/>
    <p:sldId id="422" r:id="rId31"/>
    <p:sldId id="423" r:id="rId32"/>
    <p:sldId id="427" r:id="rId33"/>
    <p:sldId id="424" r:id="rId34"/>
    <p:sldId id="425" r:id="rId35"/>
    <p:sldId id="426" r:id="rId36"/>
    <p:sldId id="364" r:id="rId37"/>
    <p:sldId id="366" r:id="rId38"/>
    <p:sldId id="369" r:id="rId39"/>
    <p:sldId id="370" r:id="rId40"/>
    <p:sldId id="415" r:id="rId41"/>
    <p:sldId id="365" r:id="rId42"/>
    <p:sldId id="420" r:id="rId43"/>
    <p:sldId id="419" r:id="rId44"/>
    <p:sldId id="412" r:id="rId45"/>
    <p:sldId id="417" r:id="rId46"/>
    <p:sldId id="363" r:id="rId47"/>
    <p:sldId id="398" r:id="rId48"/>
    <p:sldId id="400" r:id="rId49"/>
    <p:sldId id="402" r:id="rId50"/>
    <p:sldId id="401" r:id="rId51"/>
    <p:sldId id="371" r:id="rId52"/>
    <p:sldId id="309" r:id="rId53"/>
    <p:sldId id="418" r:id="rId54"/>
  </p:sldIdLst>
  <p:sldSz cx="12192000" cy="6858000"/>
  <p:notesSz cx="6858000" cy="9144000"/>
  <p:custDataLst>
    <p:tags r:id="rId57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General Introduction" id="{CB93C8FF-9B23-46DC-B797-A6CF85122A76}">
          <p14:sldIdLst>
            <p14:sldId id="384"/>
            <p14:sldId id="385"/>
            <p14:sldId id="386"/>
            <p14:sldId id="387"/>
            <p14:sldId id="388"/>
            <p14:sldId id="389"/>
            <p14:sldId id="390"/>
            <p14:sldId id="391"/>
            <p14:sldId id="392"/>
          </p14:sldIdLst>
        </p14:section>
        <p14:section name="Learning Goals" id="{6F8CD9D3-DFA7-4453-922D-84A7DC5A8A8A}">
          <p14:sldIdLst>
            <p14:sldId id="280"/>
            <p14:sldId id="393"/>
            <p14:sldId id="394"/>
            <p14:sldId id="395"/>
          </p14:sldIdLst>
        </p14:section>
        <p14:section name="Fundamentals" id="{A06B4B9F-F838-430D-8C5B-2AC40661FBDE}">
          <p14:sldIdLst>
            <p14:sldId id="303"/>
            <p14:sldId id="396"/>
            <p14:sldId id="397"/>
            <p14:sldId id="403"/>
            <p14:sldId id="404"/>
            <p14:sldId id="405"/>
            <p14:sldId id="307"/>
            <p14:sldId id="372"/>
            <p14:sldId id="367"/>
            <p14:sldId id="409"/>
            <p14:sldId id="406"/>
            <p14:sldId id="410"/>
            <p14:sldId id="413"/>
            <p14:sldId id="414"/>
            <p14:sldId id="362"/>
            <p14:sldId id="421"/>
            <p14:sldId id="422"/>
            <p14:sldId id="423"/>
            <p14:sldId id="427"/>
            <p14:sldId id="424"/>
            <p14:sldId id="425"/>
            <p14:sldId id="426"/>
            <p14:sldId id="364"/>
            <p14:sldId id="366"/>
            <p14:sldId id="369"/>
            <p14:sldId id="370"/>
            <p14:sldId id="415"/>
            <p14:sldId id="365"/>
            <p14:sldId id="420"/>
            <p14:sldId id="419"/>
            <p14:sldId id="412"/>
            <p14:sldId id="417"/>
            <p14:sldId id="363"/>
            <p14:sldId id="398"/>
            <p14:sldId id="400"/>
            <p14:sldId id="402"/>
            <p14:sldId id="401"/>
            <p14:sldId id="371"/>
          </p14:sldIdLst>
        </p14:section>
        <p14:section name="Conclusion" id="{845372C9-83C0-4794-AB15-24A119C1D837}">
          <p14:sldIdLst>
            <p14:sldId id="309"/>
            <p14:sldId id="41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B300"/>
    <a:srgbClr val="AF0333"/>
    <a:srgbClr val="F7A600"/>
    <a:srgbClr val="DC640D"/>
    <a:srgbClr val="FFFFFF"/>
    <a:srgbClr val="DE6103"/>
    <a:srgbClr val="F3F4F3"/>
    <a:srgbClr val="007A9E"/>
    <a:srgbClr val="18E797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70"/>
    <p:restoredTop sz="82893" autoAdjust="0"/>
  </p:normalViewPr>
  <p:slideViewPr>
    <p:cSldViewPr snapToGrid="0">
      <p:cViewPr varScale="1">
        <p:scale>
          <a:sx n="80" d="100"/>
          <a:sy n="80" d="100"/>
        </p:scale>
        <p:origin x="1672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21" d="100"/>
          <a:sy n="121" d="100"/>
        </p:scale>
        <p:origin x="4164" y="11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notesMaster" Target="notesMasters/notesMaster1.xml"/><Relationship Id="rId56" Type="http://schemas.openxmlformats.org/officeDocument/2006/relationships/handoutMaster" Target="handoutMasters/handoutMaster1.xml"/><Relationship Id="rId57" Type="http://schemas.openxmlformats.org/officeDocument/2006/relationships/tags" Target="tags/tag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CABBD1-C770-4D43-9239-B50C1744FB97}" type="doc">
      <dgm:prSet loTypeId="urn:microsoft.com/office/officeart/2005/8/layout/matrix1" loCatId="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GB"/>
        </a:p>
      </dgm:t>
    </dgm:pt>
    <dgm:pt modelId="{B78C19B1-46A1-2C40-9C04-81C1DBD50A6A}">
      <dgm:prSet phldrT="[Text]"/>
      <dgm:spPr>
        <a:solidFill>
          <a:srgbClr val="F2F3F3"/>
        </a:solidFill>
      </dgm:spPr>
      <dgm:t>
        <a:bodyPr/>
        <a:lstStyle/>
        <a:p>
          <a:r>
            <a:rPr lang="en-GB" dirty="0"/>
            <a:t>AISC</a:t>
          </a:r>
        </a:p>
      </dgm:t>
    </dgm:pt>
    <dgm:pt modelId="{D102BE2E-013E-D84E-BD81-9C6D9AB8581F}" type="parTrans" cxnId="{192AB0AB-DD8F-884D-ABA9-B2EA87053A77}">
      <dgm:prSet/>
      <dgm:spPr/>
      <dgm:t>
        <a:bodyPr/>
        <a:lstStyle/>
        <a:p>
          <a:endParaRPr lang="en-GB"/>
        </a:p>
      </dgm:t>
    </dgm:pt>
    <dgm:pt modelId="{E92B87B3-56D4-584E-995C-C7DEC86EC2CB}" type="sibTrans" cxnId="{192AB0AB-DD8F-884D-ABA9-B2EA87053A77}">
      <dgm:prSet/>
      <dgm:spPr/>
      <dgm:t>
        <a:bodyPr/>
        <a:lstStyle/>
        <a:p>
          <a:endParaRPr lang="en-GB"/>
        </a:p>
      </dgm:t>
    </dgm:pt>
    <dgm:pt modelId="{7C0573B7-16EB-A64E-A332-F023E20465A2}">
      <dgm:prSet phldrT="[Text]"/>
      <dgm:spPr>
        <a:solidFill>
          <a:schemeClr val="accent1"/>
        </a:solidFill>
      </dgm:spPr>
      <dgm:t>
        <a:bodyPr/>
        <a:lstStyle/>
        <a:p>
          <a:r>
            <a:rPr lang="en-GB" dirty="0" err="1"/>
            <a:t>Forschung</a:t>
          </a:r>
          <a:endParaRPr lang="en-GB" dirty="0"/>
        </a:p>
      </dgm:t>
    </dgm:pt>
    <dgm:pt modelId="{4B895BA5-D70D-9C48-9DD3-9F61991182BA}" type="parTrans" cxnId="{56531746-CAF2-A148-A14E-09066BAAE0C2}">
      <dgm:prSet/>
      <dgm:spPr/>
      <dgm:t>
        <a:bodyPr/>
        <a:lstStyle/>
        <a:p>
          <a:endParaRPr lang="en-GB"/>
        </a:p>
      </dgm:t>
    </dgm:pt>
    <dgm:pt modelId="{267A520E-6875-8F41-B5E4-217E04D5B937}" type="sibTrans" cxnId="{56531746-CAF2-A148-A14E-09066BAAE0C2}">
      <dgm:prSet/>
      <dgm:spPr/>
      <dgm:t>
        <a:bodyPr/>
        <a:lstStyle/>
        <a:p>
          <a:endParaRPr lang="en-GB"/>
        </a:p>
      </dgm:t>
    </dgm:pt>
    <dgm:pt modelId="{4EC7F824-E765-1C47-B96B-FE50E7B09039}">
      <dgm:prSet phldrT="[Text]"/>
      <dgm:spPr>
        <a:solidFill>
          <a:schemeClr val="accent3"/>
        </a:solidFill>
      </dgm:spPr>
      <dgm:t>
        <a:bodyPr/>
        <a:lstStyle/>
        <a:p>
          <a:r>
            <a:rPr lang="en-GB" dirty="0" err="1"/>
            <a:t>Bildung</a:t>
          </a:r>
          <a:endParaRPr lang="en-GB" dirty="0"/>
        </a:p>
      </dgm:t>
    </dgm:pt>
    <dgm:pt modelId="{1589F2B0-0044-3F49-A320-CFE701CD9292}" type="parTrans" cxnId="{0774ADB1-DA58-2047-8596-60669209CD1E}">
      <dgm:prSet/>
      <dgm:spPr/>
      <dgm:t>
        <a:bodyPr/>
        <a:lstStyle/>
        <a:p>
          <a:endParaRPr lang="en-GB"/>
        </a:p>
      </dgm:t>
    </dgm:pt>
    <dgm:pt modelId="{B9D0D770-CC17-8647-87B7-83D8771807F4}" type="sibTrans" cxnId="{0774ADB1-DA58-2047-8596-60669209CD1E}">
      <dgm:prSet/>
      <dgm:spPr/>
      <dgm:t>
        <a:bodyPr/>
        <a:lstStyle/>
        <a:p>
          <a:endParaRPr lang="en-GB"/>
        </a:p>
      </dgm:t>
    </dgm:pt>
    <dgm:pt modelId="{10156BBB-0A5B-1145-8BA3-F006E51A97A0}">
      <dgm:prSet phldrT="[Text]"/>
      <dgm:spPr>
        <a:solidFill>
          <a:srgbClr val="5A6065"/>
        </a:solidFill>
      </dgm:spPr>
      <dgm:t>
        <a:bodyPr/>
        <a:lstStyle/>
        <a:p>
          <a:r>
            <a:rPr lang="en-GB" dirty="0" err="1"/>
            <a:t>Infrastruktur</a:t>
          </a:r>
          <a:endParaRPr lang="en-GB" dirty="0"/>
        </a:p>
      </dgm:t>
    </dgm:pt>
    <dgm:pt modelId="{0FED8C52-D65E-E940-8464-D10ED0C07CF1}" type="parTrans" cxnId="{B5D34DAB-6F1C-1946-8DE5-2C69D42CBC85}">
      <dgm:prSet/>
      <dgm:spPr/>
      <dgm:t>
        <a:bodyPr/>
        <a:lstStyle/>
        <a:p>
          <a:endParaRPr lang="en-GB"/>
        </a:p>
      </dgm:t>
    </dgm:pt>
    <dgm:pt modelId="{71BBF8E5-68AF-7B42-BE64-6E2115FF1CAC}" type="sibTrans" cxnId="{B5D34DAB-6F1C-1946-8DE5-2C69D42CBC85}">
      <dgm:prSet/>
      <dgm:spPr/>
      <dgm:t>
        <a:bodyPr/>
        <a:lstStyle/>
        <a:p>
          <a:endParaRPr lang="en-GB"/>
        </a:p>
      </dgm:t>
    </dgm:pt>
    <dgm:pt modelId="{3F6A9B8C-292A-EC48-A8E2-42BB0F4C7CA0}">
      <dgm:prSet phldrT="[Text]"/>
      <dgm:spPr>
        <a:solidFill>
          <a:schemeClr val="accent2"/>
        </a:solidFill>
      </dgm:spPr>
      <dgm:t>
        <a:bodyPr/>
        <a:lstStyle/>
        <a:p>
          <a:r>
            <a:rPr lang="en-GB" dirty="0" err="1"/>
            <a:t>Beratung</a:t>
          </a:r>
          <a:endParaRPr lang="en-GB" dirty="0"/>
        </a:p>
      </dgm:t>
    </dgm:pt>
    <dgm:pt modelId="{A41B5CB8-FC48-234A-ADA7-40F0FB83A80F}" type="parTrans" cxnId="{B6DA444C-5DCD-FB46-BB14-75DD5DD33F0A}">
      <dgm:prSet/>
      <dgm:spPr/>
      <dgm:t>
        <a:bodyPr/>
        <a:lstStyle/>
        <a:p>
          <a:endParaRPr lang="en-GB"/>
        </a:p>
      </dgm:t>
    </dgm:pt>
    <dgm:pt modelId="{1E35D6E4-6244-2C43-806D-3B55854551A4}" type="sibTrans" cxnId="{B6DA444C-5DCD-FB46-BB14-75DD5DD33F0A}">
      <dgm:prSet/>
      <dgm:spPr/>
      <dgm:t>
        <a:bodyPr/>
        <a:lstStyle/>
        <a:p>
          <a:endParaRPr lang="en-GB"/>
        </a:p>
      </dgm:t>
    </dgm:pt>
    <dgm:pt modelId="{B40F17A7-61B3-2242-A8B5-EFBF68213F36}" type="pres">
      <dgm:prSet presAssocID="{95CABBD1-C770-4D43-9239-B50C1744FB97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D72DD2D3-A452-ED48-815C-B537D7615553}" type="pres">
      <dgm:prSet presAssocID="{95CABBD1-C770-4D43-9239-B50C1744FB97}" presName="matrix" presStyleCnt="0"/>
      <dgm:spPr/>
    </dgm:pt>
    <dgm:pt modelId="{3DAC99DA-FC28-1D4D-8C3C-94AD1F050E32}" type="pres">
      <dgm:prSet presAssocID="{95CABBD1-C770-4D43-9239-B50C1744FB97}" presName="tile1" presStyleLbl="node1" presStyleIdx="0" presStyleCnt="4"/>
      <dgm:spPr/>
    </dgm:pt>
    <dgm:pt modelId="{D0F3BAA7-A772-0C43-B16A-780B99CC2B1B}" type="pres">
      <dgm:prSet presAssocID="{95CABBD1-C770-4D43-9239-B50C1744FB97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1172DBB-41B2-2842-847E-0AFDFB9E69DA}" type="pres">
      <dgm:prSet presAssocID="{95CABBD1-C770-4D43-9239-B50C1744FB97}" presName="tile2" presStyleLbl="node1" presStyleIdx="1" presStyleCnt="4"/>
      <dgm:spPr/>
    </dgm:pt>
    <dgm:pt modelId="{ABB79DFC-F4CD-1642-8B01-CB79760250C7}" type="pres">
      <dgm:prSet presAssocID="{95CABBD1-C770-4D43-9239-B50C1744FB97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AEAB8E4-966C-984E-8157-9C665B98A635}" type="pres">
      <dgm:prSet presAssocID="{95CABBD1-C770-4D43-9239-B50C1744FB97}" presName="tile3" presStyleLbl="node1" presStyleIdx="2" presStyleCnt="4"/>
      <dgm:spPr/>
    </dgm:pt>
    <dgm:pt modelId="{C840AD4D-F2F7-0B4F-B8D2-EF24C95571CC}" type="pres">
      <dgm:prSet presAssocID="{95CABBD1-C770-4D43-9239-B50C1744FB97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F49AF441-9253-C442-96A7-1293C33CEA54}" type="pres">
      <dgm:prSet presAssocID="{95CABBD1-C770-4D43-9239-B50C1744FB97}" presName="tile4" presStyleLbl="node1" presStyleIdx="3" presStyleCnt="4"/>
      <dgm:spPr/>
    </dgm:pt>
    <dgm:pt modelId="{4549DABC-9F51-CB40-AE14-2B4401D55891}" type="pres">
      <dgm:prSet presAssocID="{95CABBD1-C770-4D43-9239-B50C1744FB97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07912588-9A62-D344-B16E-CB71AB3672C1}" type="pres">
      <dgm:prSet presAssocID="{95CABBD1-C770-4D43-9239-B50C1744FB97}" presName="centerTile" presStyleLbl="fgShp" presStyleIdx="0" presStyleCnt="1">
        <dgm:presLayoutVars>
          <dgm:chMax val="0"/>
          <dgm:chPref val="0"/>
        </dgm:presLayoutVars>
      </dgm:prSet>
      <dgm:spPr/>
    </dgm:pt>
  </dgm:ptLst>
  <dgm:cxnLst>
    <dgm:cxn modelId="{56057309-0804-8F44-B382-F6B1A77C182C}" type="presOf" srcId="{B78C19B1-46A1-2C40-9C04-81C1DBD50A6A}" destId="{07912588-9A62-D344-B16E-CB71AB3672C1}" srcOrd="0" destOrd="0" presId="urn:microsoft.com/office/officeart/2005/8/layout/matrix1"/>
    <dgm:cxn modelId="{25224D0A-0A5E-DB44-B126-6CA58D545EC5}" type="presOf" srcId="{7C0573B7-16EB-A64E-A332-F023E20465A2}" destId="{3DAC99DA-FC28-1D4D-8C3C-94AD1F050E32}" srcOrd="0" destOrd="0" presId="urn:microsoft.com/office/officeart/2005/8/layout/matrix1"/>
    <dgm:cxn modelId="{DF0E1F1E-B385-7C4E-B8CD-A0E146DB8DFF}" type="presOf" srcId="{4EC7F824-E765-1C47-B96B-FE50E7B09039}" destId="{B1172DBB-41B2-2842-847E-0AFDFB9E69DA}" srcOrd="0" destOrd="0" presId="urn:microsoft.com/office/officeart/2005/8/layout/matrix1"/>
    <dgm:cxn modelId="{56531746-CAF2-A148-A14E-09066BAAE0C2}" srcId="{B78C19B1-46A1-2C40-9C04-81C1DBD50A6A}" destId="{7C0573B7-16EB-A64E-A332-F023E20465A2}" srcOrd="0" destOrd="0" parTransId="{4B895BA5-D70D-9C48-9DD3-9F61991182BA}" sibTransId="{267A520E-6875-8F41-B5E4-217E04D5B937}"/>
    <dgm:cxn modelId="{E6CC164B-0F28-D946-8FB1-F44DBBF38CE9}" type="presOf" srcId="{95CABBD1-C770-4D43-9239-B50C1744FB97}" destId="{B40F17A7-61B3-2242-A8B5-EFBF68213F36}" srcOrd="0" destOrd="0" presId="urn:microsoft.com/office/officeart/2005/8/layout/matrix1"/>
    <dgm:cxn modelId="{B6DA444C-5DCD-FB46-BB14-75DD5DD33F0A}" srcId="{B78C19B1-46A1-2C40-9C04-81C1DBD50A6A}" destId="{3F6A9B8C-292A-EC48-A8E2-42BB0F4C7CA0}" srcOrd="3" destOrd="0" parTransId="{A41B5CB8-FC48-234A-ADA7-40F0FB83A80F}" sibTransId="{1E35D6E4-6244-2C43-806D-3B55854551A4}"/>
    <dgm:cxn modelId="{13796482-45F2-2A42-BC86-AA19DF8F1EF7}" type="presOf" srcId="{3F6A9B8C-292A-EC48-A8E2-42BB0F4C7CA0}" destId="{4549DABC-9F51-CB40-AE14-2B4401D55891}" srcOrd="1" destOrd="0" presId="urn:microsoft.com/office/officeart/2005/8/layout/matrix1"/>
    <dgm:cxn modelId="{B5D34DAB-6F1C-1946-8DE5-2C69D42CBC85}" srcId="{B78C19B1-46A1-2C40-9C04-81C1DBD50A6A}" destId="{10156BBB-0A5B-1145-8BA3-F006E51A97A0}" srcOrd="2" destOrd="0" parTransId="{0FED8C52-D65E-E940-8464-D10ED0C07CF1}" sibTransId="{71BBF8E5-68AF-7B42-BE64-6E2115FF1CAC}"/>
    <dgm:cxn modelId="{192AB0AB-DD8F-884D-ABA9-B2EA87053A77}" srcId="{95CABBD1-C770-4D43-9239-B50C1744FB97}" destId="{B78C19B1-46A1-2C40-9C04-81C1DBD50A6A}" srcOrd="0" destOrd="0" parTransId="{D102BE2E-013E-D84E-BD81-9C6D9AB8581F}" sibTransId="{E92B87B3-56D4-584E-995C-C7DEC86EC2CB}"/>
    <dgm:cxn modelId="{0774ADB1-DA58-2047-8596-60669209CD1E}" srcId="{B78C19B1-46A1-2C40-9C04-81C1DBD50A6A}" destId="{4EC7F824-E765-1C47-B96B-FE50E7B09039}" srcOrd="1" destOrd="0" parTransId="{1589F2B0-0044-3F49-A320-CFE701CD9292}" sibTransId="{B9D0D770-CC17-8647-87B7-83D8771807F4}"/>
    <dgm:cxn modelId="{B69DA7C2-82B8-5149-97DC-AFFA8216601F}" type="presOf" srcId="{10156BBB-0A5B-1145-8BA3-F006E51A97A0}" destId="{5AEAB8E4-966C-984E-8157-9C665B98A635}" srcOrd="0" destOrd="0" presId="urn:microsoft.com/office/officeart/2005/8/layout/matrix1"/>
    <dgm:cxn modelId="{E2C9C5CA-CEA1-4D40-9782-A12EA006416F}" type="presOf" srcId="{7C0573B7-16EB-A64E-A332-F023E20465A2}" destId="{D0F3BAA7-A772-0C43-B16A-780B99CC2B1B}" srcOrd="1" destOrd="0" presId="urn:microsoft.com/office/officeart/2005/8/layout/matrix1"/>
    <dgm:cxn modelId="{07BD62E0-1ABC-9D4D-83D1-2DA3326D95D6}" type="presOf" srcId="{10156BBB-0A5B-1145-8BA3-F006E51A97A0}" destId="{C840AD4D-F2F7-0B4F-B8D2-EF24C95571CC}" srcOrd="1" destOrd="0" presId="urn:microsoft.com/office/officeart/2005/8/layout/matrix1"/>
    <dgm:cxn modelId="{166266E2-9681-3B43-B668-61FE0E3D8A96}" type="presOf" srcId="{4EC7F824-E765-1C47-B96B-FE50E7B09039}" destId="{ABB79DFC-F4CD-1642-8B01-CB79760250C7}" srcOrd="1" destOrd="0" presId="urn:microsoft.com/office/officeart/2005/8/layout/matrix1"/>
    <dgm:cxn modelId="{C7D4B1F8-D76B-4540-B6B0-D15114B4D178}" type="presOf" srcId="{3F6A9B8C-292A-EC48-A8E2-42BB0F4C7CA0}" destId="{F49AF441-9253-C442-96A7-1293C33CEA54}" srcOrd="0" destOrd="0" presId="urn:microsoft.com/office/officeart/2005/8/layout/matrix1"/>
    <dgm:cxn modelId="{F38E5CD3-58FD-6C48-A675-3EF9F95483E6}" type="presParOf" srcId="{B40F17A7-61B3-2242-A8B5-EFBF68213F36}" destId="{D72DD2D3-A452-ED48-815C-B537D7615553}" srcOrd="0" destOrd="0" presId="urn:microsoft.com/office/officeart/2005/8/layout/matrix1"/>
    <dgm:cxn modelId="{3DFDFA89-20E3-6142-9B92-F03DB13B3580}" type="presParOf" srcId="{D72DD2D3-A452-ED48-815C-B537D7615553}" destId="{3DAC99DA-FC28-1D4D-8C3C-94AD1F050E32}" srcOrd="0" destOrd="0" presId="urn:microsoft.com/office/officeart/2005/8/layout/matrix1"/>
    <dgm:cxn modelId="{FDF265C3-520B-2647-8D2F-E308A0920EDC}" type="presParOf" srcId="{D72DD2D3-A452-ED48-815C-B537D7615553}" destId="{D0F3BAA7-A772-0C43-B16A-780B99CC2B1B}" srcOrd="1" destOrd="0" presId="urn:microsoft.com/office/officeart/2005/8/layout/matrix1"/>
    <dgm:cxn modelId="{E91DC03E-4F7B-CA4E-930B-A63351FB2411}" type="presParOf" srcId="{D72DD2D3-A452-ED48-815C-B537D7615553}" destId="{B1172DBB-41B2-2842-847E-0AFDFB9E69DA}" srcOrd="2" destOrd="0" presId="urn:microsoft.com/office/officeart/2005/8/layout/matrix1"/>
    <dgm:cxn modelId="{9AA9AD9A-7F84-0543-92FB-0EDB102603BE}" type="presParOf" srcId="{D72DD2D3-A452-ED48-815C-B537D7615553}" destId="{ABB79DFC-F4CD-1642-8B01-CB79760250C7}" srcOrd="3" destOrd="0" presId="urn:microsoft.com/office/officeart/2005/8/layout/matrix1"/>
    <dgm:cxn modelId="{329F0440-20D7-0D4F-BFF5-2AAD1B6A5263}" type="presParOf" srcId="{D72DD2D3-A452-ED48-815C-B537D7615553}" destId="{5AEAB8E4-966C-984E-8157-9C665B98A635}" srcOrd="4" destOrd="0" presId="urn:microsoft.com/office/officeart/2005/8/layout/matrix1"/>
    <dgm:cxn modelId="{E529E076-452A-8A44-B378-22EA06C484C2}" type="presParOf" srcId="{D72DD2D3-A452-ED48-815C-B537D7615553}" destId="{C840AD4D-F2F7-0B4F-B8D2-EF24C95571CC}" srcOrd="5" destOrd="0" presId="urn:microsoft.com/office/officeart/2005/8/layout/matrix1"/>
    <dgm:cxn modelId="{A0E77B02-F7A0-F648-B66E-8B5A569BB2F0}" type="presParOf" srcId="{D72DD2D3-A452-ED48-815C-B537D7615553}" destId="{F49AF441-9253-C442-96A7-1293C33CEA54}" srcOrd="6" destOrd="0" presId="urn:microsoft.com/office/officeart/2005/8/layout/matrix1"/>
    <dgm:cxn modelId="{B2908818-8321-3A4C-9DAE-B80C2E3D113B}" type="presParOf" srcId="{D72DD2D3-A452-ED48-815C-B537D7615553}" destId="{4549DABC-9F51-CB40-AE14-2B4401D55891}" srcOrd="7" destOrd="0" presId="urn:microsoft.com/office/officeart/2005/8/layout/matrix1"/>
    <dgm:cxn modelId="{608D80D7-8640-5D4F-AE01-52C4BBA3DFBF}" type="presParOf" srcId="{B40F17A7-61B3-2242-A8B5-EFBF68213F36}" destId="{07912588-9A62-D344-B16E-CB71AB3672C1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AC99DA-FC28-1D4D-8C3C-94AD1F050E32}">
      <dsp:nvSpPr>
        <dsp:cNvPr id="0" name=""/>
        <dsp:cNvSpPr/>
      </dsp:nvSpPr>
      <dsp:spPr>
        <a:xfrm rot="16200000">
          <a:off x="862197" y="-862197"/>
          <a:ext cx="2061123" cy="3785518"/>
        </a:xfrm>
        <a:prstGeom prst="round1Rect">
          <a:avLst/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2928" tIns="312928" rIns="312928" bIns="312928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kern="1200" dirty="0" err="1"/>
            <a:t>Forschung</a:t>
          </a:r>
          <a:endParaRPr lang="en-GB" sz="4400" kern="1200" dirty="0"/>
        </a:p>
      </dsp:txBody>
      <dsp:txXfrm rot="5400000">
        <a:off x="-1" y="1"/>
        <a:ext cx="3785518" cy="1545842"/>
      </dsp:txXfrm>
    </dsp:sp>
    <dsp:sp modelId="{B1172DBB-41B2-2842-847E-0AFDFB9E69DA}">
      <dsp:nvSpPr>
        <dsp:cNvPr id="0" name=""/>
        <dsp:cNvSpPr/>
      </dsp:nvSpPr>
      <dsp:spPr>
        <a:xfrm>
          <a:off x="3785518" y="0"/>
          <a:ext cx="3785518" cy="2061123"/>
        </a:xfrm>
        <a:prstGeom prst="round1Rect">
          <a:avLst/>
        </a:prstGeom>
        <a:solidFill>
          <a:schemeClr val="accent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2928" tIns="312928" rIns="312928" bIns="312928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kern="1200" dirty="0" err="1"/>
            <a:t>Bildung</a:t>
          </a:r>
          <a:endParaRPr lang="en-GB" sz="4400" kern="1200" dirty="0"/>
        </a:p>
      </dsp:txBody>
      <dsp:txXfrm>
        <a:off x="3785518" y="0"/>
        <a:ext cx="3785518" cy="1545842"/>
      </dsp:txXfrm>
    </dsp:sp>
    <dsp:sp modelId="{5AEAB8E4-966C-984E-8157-9C665B98A635}">
      <dsp:nvSpPr>
        <dsp:cNvPr id="0" name=""/>
        <dsp:cNvSpPr/>
      </dsp:nvSpPr>
      <dsp:spPr>
        <a:xfrm rot="10800000">
          <a:off x="0" y="2061123"/>
          <a:ext cx="3785518" cy="2061123"/>
        </a:xfrm>
        <a:prstGeom prst="round1Rect">
          <a:avLst/>
        </a:prstGeom>
        <a:solidFill>
          <a:srgbClr val="5A606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2928" tIns="312928" rIns="312928" bIns="312928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kern="1200" dirty="0" err="1"/>
            <a:t>Infrastruktur</a:t>
          </a:r>
          <a:endParaRPr lang="en-GB" sz="4400" kern="1200" dirty="0"/>
        </a:p>
      </dsp:txBody>
      <dsp:txXfrm rot="10800000">
        <a:off x="0" y="2576403"/>
        <a:ext cx="3785518" cy="1545842"/>
      </dsp:txXfrm>
    </dsp:sp>
    <dsp:sp modelId="{F49AF441-9253-C442-96A7-1293C33CEA54}">
      <dsp:nvSpPr>
        <dsp:cNvPr id="0" name=""/>
        <dsp:cNvSpPr/>
      </dsp:nvSpPr>
      <dsp:spPr>
        <a:xfrm rot="5400000">
          <a:off x="4647715" y="1198925"/>
          <a:ext cx="2061123" cy="3785518"/>
        </a:xfrm>
        <a:prstGeom prst="round1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2928" tIns="312928" rIns="312928" bIns="312928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kern="1200" dirty="0" err="1"/>
            <a:t>Beratung</a:t>
          </a:r>
          <a:endParaRPr lang="en-GB" sz="4400" kern="1200" dirty="0"/>
        </a:p>
      </dsp:txBody>
      <dsp:txXfrm rot="-5400000">
        <a:off x="3785517" y="2576403"/>
        <a:ext cx="3785518" cy="1545842"/>
      </dsp:txXfrm>
    </dsp:sp>
    <dsp:sp modelId="{07912588-9A62-D344-B16E-CB71AB3672C1}">
      <dsp:nvSpPr>
        <dsp:cNvPr id="0" name=""/>
        <dsp:cNvSpPr/>
      </dsp:nvSpPr>
      <dsp:spPr>
        <a:xfrm>
          <a:off x="2649862" y="1545842"/>
          <a:ext cx="2271310" cy="1030561"/>
        </a:xfrm>
        <a:prstGeom prst="roundRect">
          <a:avLst/>
        </a:prstGeom>
        <a:solidFill>
          <a:srgbClr val="F2F3F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kern="1200" dirty="0"/>
            <a:t>AISC</a:t>
          </a:r>
        </a:p>
      </dsp:txBody>
      <dsp:txXfrm>
        <a:off x="2700170" y="1596150"/>
        <a:ext cx="2170694" cy="9299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EC12233-42E3-BCF6-904D-3837B15E21B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BBC0507-4319-6E48-86C4-FB29BF2958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A22D8D-A38A-4E73-8A50-D9155A9F6B37}" type="datetimeFigureOut">
              <a:rPr lang="de-DE" smtClean="0"/>
              <a:t>21.10.2026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C421255-D7CA-62E5-D227-9FADC5710D3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7726FB-131F-52B1-56D6-4DB1DF2D31F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CFDBFB-1AF6-40BB-B54E-A579A4352E2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99894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51876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44D49-482C-3982-EF3A-60956CCF2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4A3A640-9B0A-1A8D-4FD2-2A58AA0E1B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22886E8-586A-2013-CD99-0A5B8A9E45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25E0EAB-5B00-0696-F996-6E9EC5DE63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de-DE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1230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de-DE" dirty="0" err="1"/>
              <a:t>Sensing</a:t>
            </a:r>
            <a:r>
              <a:rPr lang="de-DE" dirty="0"/>
              <a:t> bezieht sich auf das Messen/Erfassen/Wahrnehmen von Daten</a:t>
            </a:r>
          </a:p>
          <a:p>
            <a:pPr>
              <a:buFontTx/>
              <a:buChar char="-"/>
            </a:pPr>
            <a:r>
              <a:rPr lang="de-DE" dirty="0"/>
              <a:t>Instrumente der Wahrnehmung sind menschliche Sinnesorgane u. technische Hilfsgeräte</a:t>
            </a:r>
          </a:p>
          <a:p>
            <a:pPr>
              <a:buFontTx/>
              <a:buChar char="-"/>
            </a:pPr>
            <a:r>
              <a:rPr lang="de-DE" dirty="0"/>
              <a:t>Technische Hilfsgeräte lassen sich unterteilen in autonome </a:t>
            </a:r>
            <a:r>
              <a:rPr lang="de-DE" dirty="0" err="1"/>
              <a:t>Geärte</a:t>
            </a:r>
            <a:r>
              <a:rPr lang="de-DE" dirty="0"/>
              <a:t> (z.B. Internet </a:t>
            </a:r>
            <a:r>
              <a:rPr lang="de-DE" dirty="0" err="1"/>
              <a:t>of</a:t>
            </a:r>
            <a:r>
              <a:rPr lang="de-DE" dirty="0"/>
              <a:t> Things) u. nicht-autonome Geräte (z.B. Smartphone)</a:t>
            </a:r>
          </a:p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de-DE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303527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de-DE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99482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de-DE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58241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de-DE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494901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lang="de-DE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63376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de-DE" dirty="0" err="1"/>
              <a:t>Sensing</a:t>
            </a:r>
            <a:r>
              <a:rPr lang="de-DE" dirty="0"/>
              <a:t> bezieht sich auf das Messen/Erfassen/Wahrnehmen von Daten</a:t>
            </a:r>
          </a:p>
          <a:p>
            <a:pPr>
              <a:buFontTx/>
              <a:buChar char="-"/>
            </a:pPr>
            <a:r>
              <a:rPr lang="de-DE" dirty="0"/>
              <a:t>Instrumente der Wahrnehmung sind menschliche Sinnesorgane u. technische Hilfsgeräte</a:t>
            </a:r>
          </a:p>
          <a:p>
            <a:pPr>
              <a:buFontTx/>
              <a:buChar char="-"/>
            </a:pPr>
            <a:r>
              <a:rPr lang="de-DE" dirty="0"/>
              <a:t>Technische Hilfsgeräte lassen sich unterteilen in autonome </a:t>
            </a:r>
            <a:r>
              <a:rPr lang="de-DE" dirty="0" err="1"/>
              <a:t>Geärte</a:t>
            </a:r>
            <a:r>
              <a:rPr lang="de-DE" dirty="0"/>
              <a:t> (z.B. Internet </a:t>
            </a:r>
            <a:r>
              <a:rPr lang="de-DE" dirty="0" err="1"/>
              <a:t>of</a:t>
            </a:r>
            <a:r>
              <a:rPr lang="de-DE" dirty="0"/>
              <a:t> Things) u. nicht-autonome Geräte (z.B. Smartphone)</a:t>
            </a:r>
          </a:p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lang="de-DE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868799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C1118-37DB-3562-202A-FBF686163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B080B1-E4D3-76D8-4716-CEEF3C36BB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386940-AFC3-D148-0BF1-D9062EAF34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de-DE" dirty="0" err="1"/>
              <a:t>Sensing</a:t>
            </a:r>
            <a:r>
              <a:rPr lang="de-DE" dirty="0"/>
              <a:t> bezieht sich auf das Messen/Erfassen/Wahrnehmen von Daten</a:t>
            </a:r>
          </a:p>
          <a:p>
            <a:pPr>
              <a:buFontTx/>
              <a:buChar char="-"/>
            </a:pPr>
            <a:r>
              <a:rPr lang="de-DE" dirty="0"/>
              <a:t>Instrumente der Wahrnehmung sind menschliche Sinnesorgane u. technische Hilfsgeräte</a:t>
            </a:r>
          </a:p>
          <a:p>
            <a:pPr>
              <a:buFontTx/>
              <a:buChar char="-"/>
            </a:pPr>
            <a:r>
              <a:rPr lang="de-DE" dirty="0"/>
              <a:t>Technische Hilfsgeräte lassen sich unterteilen in autonome </a:t>
            </a:r>
            <a:r>
              <a:rPr lang="de-DE" dirty="0" err="1"/>
              <a:t>Geärte</a:t>
            </a:r>
            <a:r>
              <a:rPr lang="de-DE" dirty="0"/>
              <a:t> (z.B. Internet </a:t>
            </a:r>
            <a:r>
              <a:rPr lang="de-DE" dirty="0" err="1"/>
              <a:t>of</a:t>
            </a:r>
            <a:r>
              <a:rPr lang="de-DE" dirty="0"/>
              <a:t> Things) u. nicht-autonome Geräte (z.B. Smartphone)</a:t>
            </a:r>
          </a:p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4D61E-9A00-6C6A-6367-F32B59AAD8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lang="de-DE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41092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86223-8461-162A-31AA-31DC426F1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C0C6B5-8822-3324-9869-EE0DAEA975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253ED5-4E83-824E-14CB-BDC03009FC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de-DE" dirty="0" err="1"/>
              <a:t>Sensing</a:t>
            </a:r>
            <a:r>
              <a:rPr lang="de-DE" dirty="0"/>
              <a:t> bezieht sich auf das Messen/Erfassen/Wahrnehmen von Daten</a:t>
            </a:r>
          </a:p>
          <a:p>
            <a:pPr>
              <a:buFontTx/>
              <a:buChar char="-"/>
            </a:pPr>
            <a:r>
              <a:rPr lang="de-DE" dirty="0"/>
              <a:t>Instrumente der Wahrnehmung sind menschliche Sinnesorgane u. technische Hilfsgeräte</a:t>
            </a:r>
          </a:p>
          <a:p>
            <a:pPr>
              <a:buFontTx/>
              <a:buChar char="-"/>
            </a:pPr>
            <a:r>
              <a:rPr lang="de-DE" dirty="0"/>
              <a:t>Technische Hilfsgeräte lassen sich unterteilen in autonome </a:t>
            </a:r>
            <a:r>
              <a:rPr lang="de-DE" dirty="0" err="1"/>
              <a:t>Geärte</a:t>
            </a:r>
            <a:r>
              <a:rPr lang="de-DE" dirty="0"/>
              <a:t> (z.B. Internet </a:t>
            </a:r>
            <a:r>
              <a:rPr lang="de-DE" dirty="0" err="1"/>
              <a:t>of</a:t>
            </a:r>
            <a:r>
              <a:rPr lang="de-DE" dirty="0"/>
              <a:t> Things) u. nicht-autonome Geräte (z.B. Smartphone)</a:t>
            </a:r>
          </a:p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BB923C-7D38-FD0B-0EDA-7C6D4B6E2E2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</a:t>
            </a:fld>
            <a:endParaRPr lang="de-DE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709768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63B49-73B9-55EB-EFB2-5E2AF004A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9ED3D7-C9F5-C350-4741-FCCEFB8EE4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0E58CF-5C70-0AD4-E7A1-9B4D9E9322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de-DE" dirty="0" err="1"/>
              <a:t>Sensing</a:t>
            </a:r>
            <a:r>
              <a:rPr lang="de-DE" dirty="0"/>
              <a:t> bezieht sich auf das Messen/Erfassen/Wahrnehmen von Daten</a:t>
            </a:r>
          </a:p>
          <a:p>
            <a:pPr>
              <a:buFontTx/>
              <a:buChar char="-"/>
            </a:pPr>
            <a:r>
              <a:rPr lang="de-DE" dirty="0"/>
              <a:t>Instrumente der Wahrnehmung sind menschliche Sinnesorgane u. technische Hilfsgeräte</a:t>
            </a:r>
          </a:p>
          <a:p>
            <a:pPr>
              <a:buFontTx/>
              <a:buChar char="-"/>
            </a:pPr>
            <a:r>
              <a:rPr lang="de-DE" dirty="0"/>
              <a:t>Technische Hilfsgeräte lassen sich unterteilen in autonome </a:t>
            </a:r>
            <a:r>
              <a:rPr lang="de-DE" dirty="0" err="1"/>
              <a:t>Geärte</a:t>
            </a:r>
            <a:r>
              <a:rPr lang="de-DE" dirty="0"/>
              <a:t> (z.B. Internet </a:t>
            </a:r>
            <a:r>
              <a:rPr lang="de-DE" dirty="0" err="1"/>
              <a:t>of</a:t>
            </a:r>
            <a:r>
              <a:rPr lang="de-DE" dirty="0"/>
              <a:t> Things) u. nicht-autonome Geräte (z.B. Smartphone)</a:t>
            </a:r>
          </a:p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9B7E6-4212-6539-6A5F-D36BAE0266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41</a:t>
            </a:fld>
            <a:endParaRPr lang="de-DE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839219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B77D0-EBA5-BF1D-EE75-E30715062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15BC8D-45E3-442B-D86E-B778DA1714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CDAB14-A8F2-2395-0528-AAF05B4041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de-DE" dirty="0" err="1"/>
              <a:t>Sensing</a:t>
            </a:r>
            <a:r>
              <a:rPr lang="de-DE" dirty="0"/>
              <a:t> bezieht sich auf das Messen/Erfassen/Wahrnehmen von Daten</a:t>
            </a:r>
          </a:p>
          <a:p>
            <a:pPr>
              <a:buFontTx/>
              <a:buChar char="-"/>
            </a:pPr>
            <a:r>
              <a:rPr lang="de-DE" dirty="0"/>
              <a:t>Instrumente der Wahrnehmung sind menschliche Sinnesorgane u. technische Hilfsgeräte</a:t>
            </a:r>
          </a:p>
          <a:p>
            <a:pPr>
              <a:buFontTx/>
              <a:buChar char="-"/>
            </a:pPr>
            <a:r>
              <a:rPr lang="de-DE" dirty="0"/>
              <a:t>Technische Hilfsgeräte lassen sich unterteilen in autonome </a:t>
            </a:r>
            <a:r>
              <a:rPr lang="de-DE" dirty="0" err="1"/>
              <a:t>Geärte</a:t>
            </a:r>
            <a:r>
              <a:rPr lang="de-DE" dirty="0"/>
              <a:t> (z.B. Internet </a:t>
            </a:r>
            <a:r>
              <a:rPr lang="de-DE" dirty="0" err="1"/>
              <a:t>of</a:t>
            </a:r>
            <a:r>
              <a:rPr lang="de-DE" dirty="0"/>
              <a:t> Things) u. nicht-autonome Geräte (z.B. Smartphone)</a:t>
            </a:r>
          </a:p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9C5AA8-99AB-C9F8-D361-67F5A3EA69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46</a:t>
            </a:fld>
            <a:endParaRPr lang="de-DE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720944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2DE20-EAE8-C118-58A7-417EDE7C0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0FAB00-E570-2896-6C10-A8A6CB1738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C6168C-606C-97A3-26B2-9BD68FB430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de-DE" dirty="0" err="1"/>
              <a:t>Sensing</a:t>
            </a:r>
            <a:r>
              <a:rPr lang="de-DE" dirty="0"/>
              <a:t> bezieht sich auf das Messen/Erfassen/Wahrnehmen von Daten</a:t>
            </a:r>
          </a:p>
          <a:p>
            <a:pPr>
              <a:buFontTx/>
              <a:buChar char="-"/>
            </a:pPr>
            <a:r>
              <a:rPr lang="de-DE" dirty="0"/>
              <a:t>Instrumente der Wahrnehmung sind menschliche Sinnesorgane u. technische Hilfsgeräte</a:t>
            </a:r>
          </a:p>
          <a:p>
            <a:pPr>
              <a:buFontTx/>
              <a:buChar char="-"/>
            </a:pPr>
            <a:r>
              <a:rPr lang="de-DE" dirty="0"/>
              <a:t>Technische Hilfsgeräte lassen sich unterteilen in autonome </a:t>
            </a:r>
            <a:r>
              <a:rPr lang="de-DE" dirty="0" err="1"/>
              <a:t>Geärte</a:t>
            </a:r>
            <a:r>
              <a:rPr lang="de-DE" dirty="0"/>
              <a:t> (z.B. Internet </a:t>
            </a:r>
            <a:r>
              <a:rPr lang="de-DE" dirty="0" err="1"/>
              <a:t>of</a:t>
            </a:r>
            <a:r>
              <a:rPr lang="de-DE" dirty="0"/>
              <a:t> Things) u. nicht-autonome Geräte (z.B. Smartphone)</a:t>
            </a:r>
          </a:p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DC8AA-5ACE-E0CD-217F-E802B4705C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51</a:t>
            </a:fld>
            <a:endParaRPr lang="de-DE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8548941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microsoft.com/office/2007/relationships/hdphoto" Target="../media/hdphoto2.wdp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">
  <p:cSld name="Titelfolie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017457" y="1152000"/>
            <a:ext cx="6878767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5589" y="5734050"/>
            <a:ext cx="2229230" cy="8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1017456" y="2388247"/>
            <a:ext cx="6878767" cy="755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1pPr>
            <a:lvl2pPr lvl="1" algn="ctr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000"/>
            </a:lvl2pPr>
            <a:lvl3pPr lvl="2" algn="ctr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8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 dirty="0"/>
          </a:p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5589" y="5734050"/>
            <a:ext cx="222923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93831" y="3624398"/>
            <a:ext cx="7516383" cy="3483871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"/>
          <p:cNvSpPr txBox="1">
            <a:spLocks noGrp="1"/>
          </p:cNvSpPr>
          <p:nvPr>
            <p:ph type="dt" idx="10"/>
          </p:nvPr>
        </p:nvSpPr>
        <p:spPr>
          <a:xfrm>
            <a:off x="4186443" y="6416504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3" name="Google Shape;23;p2"/>
          <p:cNvSpPr txBox="1">
            <a:spLocks noGrp="1"/>
          </p:cNvSpPr>
          <p:nvPr>
            <p:ph type="ftr" idx="11"/>
          </p:nvPr>
        </p:nvSpPr>
        <p:spPr>
          <a:xfrm>
            <a:off x="5340107" y="6416504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pic>
        <p:nvPicPr>
          <p:cNvPr id="3" name="Grafik 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E81DAFF2-0889-E0F9-8F38-135A72BA98B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26263" y="453524"/>
            <a:ext cx="1705178" cy="603083"/>
          </a:xfrm>
          <a:prstGeom prst="rect">
            <a:avLst/>
          </a:prstGeom>
        </p:spPr>
      </p:pic>
      <p:pic>
        <p:nvPicPr>
          <p:cNvPr id="8" name="Grafik 7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9ACFAC27-EC97-9C9F-2A5C-709764FCE5C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272186" y="1205010"/>
            <a:ext cx="1459255" cy="9739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" preserve="1">
  <p:cSld name="Titelfolie dunkel">
    <p:bg>
      <p:bgPr>
        <a:solidFill>
          <a:schemeClr val="bg2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017457" y="1152000"/>
            <a:ext cx="6878767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1017456" y="2388247"/>
            <a:ext cx="6878767" cy="755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bg1"/>
                </a:solidFill>
              </a:defRPr>
            </a:lvl1pPr>
            <a:lvl2pPr lvl="1" algn="ctr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000"/>
            </a:lvl2pPr>
            <a:lvl3pPr lvl="2" algn="ctr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8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 dirty="0"/>
          </a:p>
        </p:txBody>
      </p:sp>
      <p:pic>
        <p:nvPicPr>
          <p:cNvPr id="21" name="Google Shape;21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593831" y="3624398"/>
            <a:ext cx="7516383" cy="3483871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"/>
          <p:cNvSpPr txBox="1">
            <a:spLocks noGrp="1"/>
          </p:cNvSpPr>
          <p:nvPr>
            <p:ph type="dt" idx="10"/>
          </p:nvPr>
        </p:nvSpPr>
        <p:spPr>
          <a:xfrm>
            <a:off x="4186443" y="6416504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23" name="Google Shape;23;p2"/>
          <p:cNvSpPr txBox="1">
            <a:spLocks noGrp="1"/>
          </p:cNvSpPr>
          <p:nvPr>
            <p:ph type="ftr" idx="11"/>
          </p:nvPr>
        </p:nvSpPr>
        <p:spPr>
          <a:xfrm>
            <a:off x="5340107" y="6416504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0E3660A-1D0C-8A16-64A4-473D6A33D5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82786" y="438764"/>
            <a:ext cx="1748655" cy="617843"/>
          </a:xfrm>
          <a:prstGeom prst="rect">
            <a:avLst/>
          </a:prstGeom>
        </p:spPr>
      </p:pic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6FFF441C-6427-1CB6-21D5-853F7AF6265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72186" y="1205010"/>
            <a:ext cx="1459255" cy="973980"/>
          </a:xfrm>
          <a:prstGeom prst="rect">
            <a:avLst/>
          </a:prstGeom>
        </p:spPr>
      </p:pic>
      <p:pic>
        <p:nvPicPr>
          <p:cNvPr id="6" name="Google Shape;20;p2"/>
          <p:cNvPicPr preferRelativeResize="0"/>
          <p:nvPr userDrawn="1"/>
        </p:nvPicPr>
        <p:blipFill rotWithShape="1">
          <a:blip r:embed="rId5">
            <a:alphaModFix/>
            <a:biLevel thresh="2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465589" y="5734050"/>
            <a:ext cx="2229230" cy="82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85887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Inhalt 1 - gelb">
    <p:bg>
      <p:bgPr>
        <a:solidFill>
          <a:schemeClr val="accent3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>
            <a:off x="3006250" y="0"/>
            <a:ext cx="91857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3" name="Grafik 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0D51BF53-641B-1A42-11E3-E1F67454E1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6" name="Google Shape;40;p4">
            <a:extLst>
              <a:ext uri="{FF2B5EF4-FFF2-40B4-BE49-F238E27FC236}">
                <a16:creationId xmlns:a16="http://schemas.microsoft.com/office/drawing/2014/main" id="{FC6DA92D-7911-DC9B-2294-661E3C37E9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758794"/>
            <a:ext cx="8658226" cy="420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" name="Google Shape;26;p3">
            <a:extLst>
              <a:ext uri="{FF2B5EF4-FFF2-40B4-BE49-F238E27FC236}">
                <a16:creationId xmlns:a16="http://schemas.microsoft.com/office/drawing/2014/main" id="{0C2D24FF-6DA4-A2E6-B1BA-05AFD8A305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507304"/>
            <a:ext cx="6851715" cy="1009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" name="Google Shape;24;p2">
            <a:extLst>
              <a:ext uri="{FF2B5EF4-FFF2-40B4-BE49-F238E27FC236}">
                <a16:creationId xmlns:a16="http://schemas.microsoft.com/office/drawing/2014/main" id="{9D099F0C-E26D-002A-1705-74ACEAC45C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75135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Inhalt 1 - gelb - dunkel">
    <p:bg>
      <p:bgPr>
        <a:solidFill>
          <a:schemeClr val="tx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 flipH="1">
            <a:off x="0" y="0"/>
            <a:ext cx="300625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6" name="Google Shape;40;p4">
            <a:extLst>
              <a:ext uri="{FF2B5EF4-FFF2-40B4-BE49-F238E27FC236}">
                <a16:creationId xmlns:a16="http://schemas.microsoft.com/office/drawing/2014/main" id="{FC6DA92D-7911-DC9B-2294-661E3C37E9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758794"/>
            <a:ext cx="8658226" cy="420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" name="Google Shape;26;p3">
            <a:extLst>
              <a:ext uri="{FF2B5EF4-FFF2-40B4-BE49-F238E27FC236}">
                <a16:creationId xmlns:a16="http://schemas.microsoft.com/office/drawing/2014/main" id="{0C2D24FF-6DA4-A2E6-B1BA-05AFD8A305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507304"/>
            <a:ext cx="6851715" cy="1009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2879055-9A2F-BCD3-456C-CEF593B5F6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4903" y="260100"/>
            <a:ext cx="1706881" cy="603083"/>
          </a:xfrm>
          <a:prstGeom prst="rect">
            <a:avLst/>
          </a:prstGeom>
        </p:spPr>
      </p:pic>
      <p:sp>
        <p:nvSpPr>
          <p:cNvPr id="12" name="Google Shape;24;p2">
            <a:extLst>
              <a:ext uri="{FF2B5EF4-FFF2-40B4-BE49-F238E27FC236}">
                <a16:creationId xmlns:a16="http://schemas.microsoft.com/office/drawing/2014/main" id="{62D25E61-2D57-F3CB-D94A-377D8FD00D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41595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Inhalt 1 - orange">
    <p:bg>
      <p:bgPr>
        <a:solidFill>
          <a:schemeClr val="accent2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>
            <a:off x="3006250" y="0"/>
            <a:ext cx="91857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3" name="Grafik 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0D51BF53-641B-1A42-11E3-E1F67454E1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6" name="Google Shape;40;p4">
            <a:extLst>
              <a:ext uri="{FF2B5EF4-FFF2-40B4-BE49-F238E27FC236}">
                <a16:creationId xmlns:a16="http://schemas.microsoft.com/office/drawing/2014/main" id="{FC6DA92D-7911-DC9B-2294-661E3C37E9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758794"/>
            <a:ext cx="8658226" cy="420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" name="Google Shape;26;p3">
            <a:extLst>
              <a:ext uri="{FF2B5EF4-FFF2-40B4-BE49-F238E27FC236}">
                <a16:creationId xmlns:a16="http://schemas.microsoft.com/office/drawing/2014/main" id="{0C2D24FF-6DA4-A2E6-B1BA-05AFD8A305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507304"/>
            <a:ext cx="6851715" cy="1009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" name="Google Shape;24;p2">
            <a:extLst>
              <a:ext uri="{FF2B5EF4-FFF2-40B4-BE49-F238E27FC236}">
                <a16:creationId xmlns:a16="http://schemas.microsoft.com/office/drawing/2014/main" id="{9FAFF30B-54F1-8E0C-5984-0B9104490FD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84458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Inhalt 1 - orange - dunkel">
    <p:bg>
      <p:bgPr>
        <a:solidFill>
          <a:schemeClr val="tx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 flipH="1">
            <a:off x="0" y="0"/>
            <a:ext cx="30062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6" name="Google Shape;40;p4">
            <a:extLst>
              <a:ext uri="{FF2B5EF4-FFF2-40B4-BE49-F238E27FC236}">
                <a16:creationId xmlns:a16="http://schemas.microsoft.com/office/drawing/2014/main" id="{FC6DA92D-7911-DC9B-2294-661E3C37E9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758794"/>
            <a:ext cx="8658226" cy="420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" name="Google Shape;26;p3">
            <a:extLst>
              <a:ext uri="{FF2B5EF4-FFF2-40B4-BE49-F238E27FC236}">
                <a16:creationId xmlns:a16="http://schemas.microsoft.com/office/drawing/2014/main" id="{0C2D24FF-6DA4-A2E6-B1BA-05AFD8A305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507304"/>
            <a:ext cx="6851715" cy="1009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2879055-9A2F-BCD3-456C-CEF593B5F6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4903" y="260100"/>
            <a:ext cx="1706881" cy="603083"/>
          </a:xfrm>
          <a:prstGeom prst="rect">
            <a:avLst/>
          </a:prstGeom>
        </p:spPr>
      </p:pic>
      <p:sp>
        <p:nvSpPr>
          <p:cNvPr id="11" name="Google Shape;24;p2">
            <a:extLst>
              <a:ext uri="{FF2B5EF4-FFF2-40B4-BE49-F238E27FC236}">
                <a16:creationId xmlns:a16="http://schemas.microsoft.com/office/drawing/2014/main" id="{775894F4-7512-9DCE-C06E-3692E9AF974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71582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Inhalt 1 - rot">
    <p:bg>
      <p:bgPr>
        <a:solidFill>
          <a:schemeClr val="accen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>
            <a:off x="3006250" y="0"/>
            <a:ext cx="91857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3" name="Grafik 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0D51BF53-641B-1A42-11E3-E1F67454E1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6" name="Google Shape;40;p4">
            <a:extLst>
              <a:ext uri="{FF2B5EF4-FFF2-40B4-BE49-F238E27FC236}">
                <a16:creationId xmlns:a16="http://schemas.microsoft.com/office/drawing/2014/main" id="{FC6DA92D-7911-DC9B-2294-661E3C37E9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758794"/>
            <a:ext cx="8658226" cy="420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" name="Google Shape;26;p3">
            <a:extLst>
              <a:ext uri="{FF2B5EF4-FFF2-40B4-BE49-F238E27FC236}">
                <a16:creationId xmlns:a16="http://schemas.microsoft.com/office/drawing/2014/main" id="{0C2D24FF-6DA4-A2E6-B1BA-05AFD8A305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507304"/>
            <a:ext cx="6851715" cy="1009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" name="Google Shape;24;p2">
            <a:extLst>
              <a:ext uri="{FF2B5EF4-FFF2-40B4-BE49-F238E27FC236}">
                <a16:creationId xmlns:a16="http://schemas.microsoft.com/office/drawing/2014/main" id="{D613D350-73C4-A254-2B82-A2D28A43D58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609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Inhalt 1 - rot - dunkel">
    <p:bg>
      <p:bgPr>
        <a:solidFill>
          <a:schemeClr val="tx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 flipH="1">
            <a:off x="0" y="0"/>
            <a:ext cx="30062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6" name="Google Shape;40;p4">
            <a:extLst>
              <a:ext uri="{FF2B5EF4-FFF2-40B4-BE49-F238E27FC236}">
                <a16:creationId xmlns:a16="http://schemas.microsoft.com/office/drawing/2014/main" id="{FC6DA92D-7911-DC9B-2294-661E3C37E9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758794"/>
            <a:ext cx="8658226" cy="420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" name="Google Shape;26;p3">
            <a:extLst>
              <a:ext uri="{FF2B5EF4-FFF2-40B4-BE49-F238E27FC236}">
                <a16:creationId xmlns:a16="http://schemas.microsoft.com/office/drawing/2014/main" id="{0C2D24FF-6DA4-A2E6-B1BA-05AFD8A305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507304"/>
            <a:ext cx="6851715" cy="1009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2879055-9A2F-BCD3-456C-CEF593B5F6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4903" y="260100"/>
            <a:ext cx="1706881" cy="603083"/>
          </a:xfrm>
          <a:prstGeom prst="rect">
            <a:avLst/>
          </a:prstGeom>
        </p:spPr>
      </p:pic>
      <p:sp>
        <p:nvSpPr>
          <p:cNvPr id="11" name="Google Shape;24;p2">
            <a:extLst>
              <a:ext uri="{FF2B5EF4-FFF2-40B4-BE49-F238E27FC236}">
                <a16:creationId xmlns:a16="http://schemas.microsoft.com/office/drawing/2014/main" id="{D5DBA9C0-1367-43D6-F92B-2BC631589F2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04825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Inhalt 1 - blau">
    <p:bg>
      <p:bgPr>
        <a:solidFill>
          <a:srgbClr val="007A9E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>
            <a:off x="3006250" y="0"/>
            <a:ext cx="91857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3" name="Grafik 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0D51BF53-641B-1A42-11E3-E1F67454E1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6" name="Google Shape;40;p4">
            <a:extLst>
              <a:ext uri="{FF2B5EF4-FFF2-40B4-BE49-F238E27FC236}">
                <a16:creationId xmlns:a16="http://schemas.microsoft.com/office/drawing/2014/main" id="{FC6DA92D-7911-DC9B-2294-661E3C37E9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758794"/>
            <a:ext cx="8658226" cy="420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" name="Google Shape;26;p3">
            <a:extLst>
              <a:ext uri="{FF2B5EF4-FFF2-40B4-BE49-F238E27FC236}">
                <a16:creationId xmlns:a16="http://schemas.microsoft.com/office/drawing/2014/main" id="{0C2D24FF-6DA4-A2E6-B1BA-05AFD8A305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507304"/>
            <a:ext cx="6851715" cy="1009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" name="Google Shape;24;p2">
            <a:extLst>
              <a:ext uri="{FF2B5EF4-FFF2-40B4-BE49-F238E27FC236}">
                <a16:creationId xmlns:a16="http://schemas.microsoft.com/office/drawing/2014/main" id="{8DDDF9D8-8B75-D2E4-A55A-F57F61F8EE1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44196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Inhalt 1 - blau - dunkel">
    <p:bg>
      <p:bgPr>
        <a:solidFill>
          <a:schemeClr val="tx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 flipH="1">
            <a:off x="0" y="0"/>
            <a:ext cx="3006250" cy="6858000"/>
          </a:xfrm>
          <a:prstGeom prst="rect">
            <a:avLst/>
          </a:prstGeom>
          <a:solidFill>
            <a:srgbClr val="007A9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6" name="Google Shape;40;p4">
            <a:extLst>
              <a:ext uri="{FF2B5EF4-FFF2-40B4-BE49-F238E27FC236}">
                <a16:creationId xmlns:a16="http://schemas.microsoft.com/office/drawing/2014/main" id="{FC6DA92D-7911-DC9B-2294-661E3C37E9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758794"/>
            <a:ext cx="8658226" cy="420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" name="Google Shape;26;p3">
            <a:extLst>
              <a:ext uri="{FF2B5EF4-FFF2-40B4-BE49-F238E27FC236}">
                <a16:creationId xmlns:a16="http://schemas.microsoft.com/office/drawing/2014/main" id="{0C2D24FF-6DA4-A2E6-B1BA-05AFD8A305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507304"/>
            <a:ext cx="6851715" cy="1009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2879055-9A2F-BCD3-456C-CEF593B5F6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4903" y="260100"/>
            <a:ext cx="1706881" cy="603083"/>
          </a:xfrm>
          <a:prstGeom prst="rect">
            <a:avLst/>
          </a:prstGeom>
        </p:spPr>
      </p:pic>
      <p:sp>
        <p:nvSpPr>
          <p:cNvPr id="11" name="Google Shape;24;p2">
            <a:extLst>
              <a:ext uri="{FF2B5EF4-FFF2-40B4-BE49-F238E27FC236}">
                <a16:creationId xmlns:a16="http://schemas.microsoft.com/office/drawing/2014/main" id="{AE2036F9-DFD9-5610-5439-957AC760DE6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34666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Inhalt 1 - grün">
    <p:bg>
      <p:bgPr>
        <a:solidFill>
          <a:srgbClr val="18E797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>
            <a:off x="3006250" y="0"/>
            <a:ext cx="91857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3" name="Grafik 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0D51BF53-641B-1A42-11E3-E1F67454E1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6" name="Google Shape;40;p4">
            <a:extLst>
              <a:ext uri="{FF2B5EF4-FFF2-40B4-BE49-F238E27FC236}">
                <a16:creationId xmlns:a16="http://schemas.microsoft.com/office/drawing/2014/main" id="{FC6DA92D-7911-DC9B-2294-661E3C37E9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758794"/>
            <a:ext cx="8658226" cy="420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" name="Google Shape;26;p3">
            <a:extLst>
              <a:ext uri="{FF2B5EF4-FFF2-40B4-BE49-F238E27FC236}">
                <a16:creationId xmlns:a16="http://schemas.microsoft.com/office/drawing/2014/main" id="{0C2D24FF-6DA4-A2E6-B1BA-05AFD8A305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507304"/>
            <a:ext cx="6851715" cy="1009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" name="Google Shape;24;p2">
            <a:extLst>
              <a:ext uri="{FF2B5EF4-FFF2-40B4-BE49-F238E27FC236}">
                <a16:creationId xmlns:a16="http://schemas.microsoft.com/office/drawing/2014/main" id="{2A3D60E5-5F1B-EC13-9002-8CE5275DF73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9398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Inhalt 1 - grün - dunkel">
    <p:bg>
      <p:bgPr>
        <a:solidFill>
          <a:schemeClr val="tx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 flipH="1">
            <a:off x="0" y="0"/>
            <a:ext cx="3006250" cy="6858000"/>
          </a:xfrm>
          <a:prstGeom prst="rect">
            <a:avLst/>
          </a:prstGeom>
          <a:solidFill>
            <a:srgbClr val="18E7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6" name="Google Shape;40;p4">
            <a:extLst>
              <a:ext uri="{FF2B5EF4-FFF2-40B4-BE49-F238E27FC236}">
                <a16:creationId xmlns:a16="http://schemas.microsoft.com/office/drawing/2014/main" id="{FC6DA92D-7911-DC9B-2294-661E3C37E9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758794"/>
            <a:ext cx="8658226" cy="420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" name="Google Shape;26;p3">
            <a:extLst>
              <a:ext uri="{FF2B5EF4-FFF2-40B4-BE49-F238E27FC236}">
                <a16:creationId xmlns:a16="http://schemas.microsoft.com/office/drawing/2014/main" id="{0C2D24FF-6DA4-A2E6-B1BA-05AFD8A305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507304"/>
            <a:ext cx="6851715" cy="1009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2879055-9A2F-BCD3-456C-CEF593B5F6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4903" y="260100"/>
            <a:ext cx="1706881" cy="603083"/>
          </a:xfrm>
          <a:prstGeom prst="rect">
            <a:avLst/>
          </a:prstGeom>
        </p:spPr>
      </p:pic>
      <p:sp>
        <p:nvSpPr>
          <p:cNvPr id="11" name="Google Shape;24;p2">
            <a:extLst>
              <a:ext uri="{FF2B5EF4-FFF2-40B4-BE49-F238E27FC236}">
                <a16:creationId xmlns:a16="http://schemas.microsoft.com/office/drawing/2014/main" id="{321B610B-64F7-D6A3-8D6F-744AF321EE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86701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r dunkel" preserve="1" userDrawn="1">
  <p:cSld name="Inhalt 2">
    <p:bg>
      <p:bgPr>
        <a:solidFill>
          <a:schemeClr val="bg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leichschenkliges Dreieck 14">
            <a:extLst>
              <a:ext uri="{FF2B5EF4-FFF2-40B4-BE49-F238E27FC236}">
                <a16:creationId xmlns:a16="http://schemas.microsoft.com/office/drawing/2014/main" id="{80A1D962-6EBE-42A3-9745-798764273018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6" name="Grafik 15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E67989E-C41B-4A5E-A549-5592B33B16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5" name="Google Shape;39;p4">
            <a:extLst>
              <a:ext uri="{FF2B5EF4-FFF2-40B4-BE49-F238E27FC236}">
                <a16:creationId xmlns:a16="http://schemas.microsoft.com/office/drawing/2014/main" id="{88044670-7AC7-6879-91A5-7B66E43BC2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19174" y="572883"/>
            <a:ext cx="8251200" cy="80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" name="Google Shape;40;p4">
            <a:extLst>
              <a:ext uri="{FF2B5EF4-FFF2-40B4-BE49-F238E27FC236}">
                <a16:creationId xmlns:a16="http://schemas.microsoft.com/office/drawing/2014/main" id="{A0DC78AC-7303-B6DA-E439-AB26CB990B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19175" y="1941616"/>
            <a:ext cx="10514013" cy="3552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2"/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7" name="Google Shape;139;p16">
            <a:extLst>
              <a:ext uri="{FF2B5EF4-FFF2-40B4-BE49-F238E27FC236}">
                <a16:creationId xmlns:a16="http://schemas.microsoft.com/office/drawing/2014/main" id="{23E18989-F6B4-6EF4-90C9-67F89F8042C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8" name="Google Shape;140;p16">
            <a:extLst>
              <a:ext uri="{FF2B5EF4-FFF2-40B4-BE49-F238E27FC236}">
                <a16:creationId xmlns:a16="http://schemas.microsoft.com/office/drawing/2014/main" id="{83E3C31D-BDFA-6851-61C1-8CC30E69A4D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pic>
        <p:nvPicPr>
          <p:cNvPr id="11" name="Grafik 10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4D57BB97-F3F1-3BBD-556F-68BD816791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4903" y="271341"/>
            <a:ext cx="1705178" cy="603083"/>
          </a:xfrm>
          <a:prstGeom prst="rect">
            <a:avLst/>
          </a:prstGeom>
        </p:spPr>
      </p:pic>
      <p:sp>
        <p:nvSpPr>
          <p:cNvPr id="12" name="Google Shape;24;p2">
            <a:extLst>
              <a:ext uri="{FF2B5EF4-FFF2-40B4-BE49-F238E27FC236}">
                <a16:creationId xmlns:a16="http://schemas.microsoft.com/office/drawing/2014/main" id="{9544BBB8-AABB-F348-E790-A025FC7097C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82283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r dunkel" preserve="1" userDrawn="1">
  <p:cSld name="Inhalt 2 - dunkel">
    <p:bg>
      <p:bgPr>
        <a:solidFill>
          <a:schemeClr val="dk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 txBox="1">
            <a:spLocks noGrp="1"/>
          </p:cNvSpPr>
          <p:nvPr>
            <p:ph type="sldNum" idx="12"/>
          </p:nvPr>
        </p:nvSpPr>
        <p:spPr>
          <a:xfrm>
            <a:off x="11531078" y="6417336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lvl="1" indent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lvl="2" indent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lvl="3" indent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lvl="4" indent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lvl="5" indent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lvl="6" indent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lvl="7" indent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lvl="8" indent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F41E5-5043-1676-634A-40E34BE614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4903" y="260100"/>
            <a:ext cx="1706881" cy="603083"/>
          </a:xfrm>
          <a:prstGeom prst="rect">
            <a:avLst/>
          </a:prstGeom>
        </p:spPr>
      </p:pic>
      <p:sp>
        <p:nvSpPr>
          <p:cNvPr id="15" name="Gleichschenkliges Dreieck 14">
            <a:extLst>
              <a:ext uri="{FF2B5EF4-FFF2-40B4-BE49-F238E27FC236}">
                <a16:creationId xmlns:a16="http://schemas.microsoft.com/office/drawing/2014/main" id="{80A1D962-6EBE-42A3-9745-798764273018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6" name="Grafik 15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E67989E-C41B-4A5E-A549-5592B33B160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5" name="Google Shape;39;p4">
            <a:extLst>
              <a:ext uri="{FF2B5EF4-FFF2-40B4-BE49-F238E27FC236}">
                <a16:creationId xmlns:a16="http://schemas.microsoft.com/office/drawing/2014/main" id="{88044670-7AC7-6879-91A5-7B66E43BC2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19174" y="572883"/>
            <a:ext cx="8251200" cy="80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" name="Google Shape;40;p4">
            <a:extLst>
              <a:ext uri="{FF2B5EF4-FFF2-40B4-BE49-F238E27FC236}">
                <a16:creationId xmlns:a16="http://schemas.microsoft.com/office/drawing/2014/main" id="{A0DC78AC-7303-B6DA-E439-AB26CB990B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19175" y="1941617"/>
            <a:ext cx="10514013" cy="3552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7" name="Google Shape;139;p16">
            <a:extLst>
              <a:ext uri="{FF2B5EF4-FFF2-40B4-BE49-F238E27FC236}">
                <a16:creationId xmlns:a16="http://schemas.microsoft.com/office/drawing/2014/main" id="{23E18989-F6B4-6EF4-90C9-67F89F8042C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8" name="Google Shape;140;p16">
            <a:extLst>
              <a:ext uri="{FF2B5EF4-FFF2-40B4-BE49-F238E27FC236}">
                <a16:creationId xmlns:a16="http://schemas.microsoft.com/office/drawing/2014/main" id="{83E3C31D-BDFA-6851-61C1-8CC30E69A4D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81600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>
  <p:cSld name="Zwischentitel - gelb">
    <p:bg>
      <p:bgPr>
        <a:solidFill>
          <a:schemeClr val="accent3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605200" y="2536825"/>
            <a:ext cx="6228000" cy="5073727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"/>
          <p:cNvSpPr/>
          <p:nvPr/>
        </p:nvSpPr>
        <p:spPr>
          <a:xfrm>
            <a:off x="269479" y="257680"/>
            <a:ext cx="11647785" cy="6331539"/>
          </a:xfrm>
          <a:custGeom>
            <a:avLst/>
            <a:gdLst/>
            <a:ahLst/>
            <a:cxnLst/>
            <a:rect l="l" t="t" r="r" b="b"/>
            <a:pathLst>
              <a:path w="11647785" h="6331539" extrusionOk="0">
                <a:moveTo>
                  <a:pt x="11647785" y="6331540"/>
                </a:moveTo>
                <a:lnTo>
                  <a:pt x="2701721" y="6331540"/>
                </a:lnTo>
                <a:cubicBezTo>
                  <a:pt x="2699098" y="6331540"/>
                  <a:pt x="2696969" y="6329411"/>
                  <a:pt x="2696969" y="6326788"/>
                </a:cubicBezTo>
                <a:cubicBezTo>
                  <a:pt x="2696969" y="6324165"/>
                  <a:pt x="2699098" y="6322036"/>
                  <a:pt x="2701721" y="6322036"/>
                </a:cubicBezTo>
                <a:lnTo>
                  <a:pt x="11638281" y="6322036"/>
                </a:lnTo>
                <a:lnTo>
                  <a:pt x="11638281" y="9504"/>
                </a:lnTo>
                <a:lnTo>
                  <a:pt x="9504" y="9504"/>
                </a:lnTo>
                <a:lnTo>
                  <a:pt x="9504" y="6322036"/>
                </a:lnTo>
                <a:lnTo>
                  <a:pt x="616696" y="6322036"/>
                </a:lnTo>
                <a:cubicBezTo>
                  <a:pt x="619319" y="6322036"/>
                  <a:pt x="621448" y="6324165"/>
                  <a:pt x="621448" y="6326788"/>
                </a:cubicBezTo>
                <a:cubicBezTo>
                  <a:pt x="621448" y="6329411"/>
                  <a:pt x="619319" y="6331540"/>
                  <a:pt x="616696" y="6331540"/>
                </a:cubicBezTo>
                <a:lnTo>
                  <a:pt x="0" y="6331540"/>
                </a:lnTo>
                <a:lnTo>
                  <a:pt x="0" y="0"/>
                </a:lnTo>
                <a:lnTo>
                  <a:pt x="11647785" y="0"/>
                </a:lnTo>
                <a:lnTo>
                  <a:pt x="11647785" y="63315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7" name="Google Shape;47;p5"/>
          <p:cNvSpPr txBox="1">
            <a:spLocks noGrp="1"/>
          </p:cNvSpPr>
          <p:nvPr>
            <p:ph type="title"/>
          </p:nvPr>
        </p:nvSpPr>
        <p:spPr>
          <a:xfrm>
            <a:off x="1019174" y="533488"/>
            <a:ext cx="8330772" cy="84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Verdana"/>
              <a:buNone/>
              <a:defRPr sz="2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2B3C7E3A-DCE4-A96C-6C79-D67DA44C41A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555" t="7416" r="3950" b="10350"/>
          <a:stretch/>
        </p:blipFill>
        <p:spPr>
          <a:xfrm>
            <a:off x="10190303" y="292593"/>
            <a:ext cx="1668083" cy="592932"/>
          </a:xfrm>
          <a:prstGeom prst="rect">
            <a:avLst/>
          </a:prstGeom>
        </p:spPr>
      </p:pic>
      <p:sp>
        <p:nvSpPr>
          <p:cNvPr id="8" name="Google Shape;60;p7">
            <a:extLst>
              <a:ext uri="{FF2B5EF4-FFF2-40B4-BE49-F238E27FC236}">
                <a16:creationId xmlns:a16="http://schemas.microsoft.com/office/drawing/2014/main" id="{FD026BEB-E418-E116-6D3D-6DB31DD85A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29584" y="6166658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76012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>
  <p:cSld name="Zwischentitel - orange">
    <p:bg>
      <p:bgPr>
        <a:solidFill>
          <a:schemeClr val="accent2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605200" y="2536825"/>
            <a:ext cx="6228000" cy="5073727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"/>
          <p:cNvSpPr/>
          <p:nvPr/>
        </p:nvSpPr>
        <p:spPr>
          <a:xfrm>
            <a:off x="269479" y="257680"/>
            <a:ext cx="11647785" cy="6331539"/>
          </a:xfrm>
          <a:custGeom>
            <a:avLst/>
            <a:gdLst/>
            <a:ahLst/>
            <a:cxnLst/>
            <a:rect l="l" t="t" r="r" b="b"/>
            <a:pathLst>
              <a:path w="11647785" h="6331539" extrusionOk="0">
                <a:moveTo>
                  <a:pt x="11647785" y="6331540"/>
                </a:moveTo>
                <a:lnTo>
                  <a:pt x="2701721" y="6331540"/>
                </a:lnTo>
                <a:cubicBezTo>
                  <a:pt x="2699098" y="6331540"/>
                  <a:pt x="2696969" y="6329411"/>
                  <a:pt x="2696969" y="6326788"/>
                </a:cubicBezTo>
                <a:cubicBezTo>
                  <a:pt x="2696969" y="6324165"/>
                  <a:pt x="2699098" y="6322036"/>
                  <a:pt x="2701721" y="6322036"/>
                </a:cubicBezTo>
                <a:lnTo>
                  <a:pt x="11638281" y="6322036"/>
                </a:lnTo>
                <a:lnTo>
                  <a:pt x="11638281" y="9504"/>
                </a:lnTo>
                <a:lnTo>
                  <a:pt x="9504" y="9504"/>
                </a:lnTo>
                <a:lnTo>
                  <a:pt x="9504" y="6322036"/>
                </a:lnTo>
                <a:lnTo>
                  <a:pt x="616696" y="6322036"/>
                </a:lnTo>
                <a:cubicBezTo>
                  <a:pt x="619319" y="6322036"/>
                  <a:pt x="621448" y="6324165"/>
                  <a:pt x="621448" y="6326788"/>
                </a:cubicBezTo>
                <a:cubicBezTo>
                  <a:pt x="621448" y="6329411"/>
                  <a:pt x="619319" y="6331540"/>
                  <a:pt x="616696" y="6331540"/>
                </a:cubicBezTo>
                <a:lnTo>
                  <a:pt x="0" y="6331540"/>
                </a:lnTo>
                <a:lnTo>
                  <a:pt x="0" y="0"/>
                </a:lnTo>
                <a:lnTo>
                  <a:pt x="11647785" y="0"/>
                </a:lnTo>
                <a:lnTo>
                  <a:pt x="11647785" y="63315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7" name="Google Shape;47;p5"/>
          <p:cNvSpPr txBox="1">
            <a:spLocks noGrp="1"/>
          </p:cNvSpPr>
          <p:nvPr>
            <p:ph type="title"/>
          </p:nvPr>
        </p:nvSpPr>
        <p:spPr>
          <a:xfrm>
            <a:off x="1019174" y="533488"/>
            <a:ext cx="8330772" cy="84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Verdana"/>
              <a:buNone/>
              <a:defRPr sz="2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A6E0C629-8494-42BD-7E2C-D046B034523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442" t="7231" r="483" b="3301"/>
          <a:stretch/>
        </p:blipFill>
        <p:spPr>
          <a:xfrm>
            <a:off x="10184368" y="292593"/>
            <a:ext cx="1674018" cy="592932"/>
          </a:xfrm>
          <a:prstGeom prst="rect">
            <a:avLst/>
          </a:prstGeom>
        </p:spPr>
      </p:pic>
      <p:sp>
        <p:nvSpPr>
          <p:cNvPr id="12" name="Google Shape;60;p7">
            <a:extLst>
              <a:ext uri="{FF2B5EF4-FFF2-40B4-BE49-F238E27FC236}">
                <a16:creationId xmlns:a16="http://schemas.microsoft.com/office/drawing/2014/main" id="{DB7BC548-6090-CA7A-F00D-062EBC87560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29584" y="6166658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06277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>
  <p:cSld name="Zwischentitel - rot">
    <p:bg>
      <p:bgPr>
        <a:solidFill>
          <a:schemeClr val="accen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605200" y="2536825"/>
            <a:ext cx="6228000" cy="5073727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"/>
          <p:cNvSpPr/>
          <p:nvPr/>
        </p:nvSpPr>
        <p:spPr>
          <a:xfrm>
            <a:off x="269479" y="257680"/>
            <a:ext cx="11647785" cy="6331539"/>
          </a:xfrm>
          <a:custGeom>
            <a:avLst/>
            <a:gdLst/>
            <a:ahLst/>
            <a:cxnLst/>
            <a:rect l="l" t="t" r="r" b="b"/>
            <a:pathLst>
              <a:path w="11647785" h="6331539" extrusionOk="0">
                <a:moveTo>
                  <a:pt x="11647785" y="6331540"/>
                </a:moveTo>
                <a:lnTo>
                  <a:pt x="2701721" y="6331540"/>
                </a:lnTo>
                <a:cubicBezTo>
                  <a:pt x="2699098" y="6331540"/>
                  <a:pt x="2696969" y="6329411"/>
                  <a:pt x="2696969" y="6326788"/>
                </a:cubicBezTo>
                <a:cubicBezTo>
                  <a:pt x="2696969" y="6324165"/>
                  <a:pt x="2699098" y="6322036"/>
                  <a:pt x="2701721" y="6322036"/>
                </a:cubicBezTo>
                <a:lnTo>
                  <a:pt x="11638281" y="6322036"/>
                </a:lnTo>
                <a:lnTo>
                  <a:pt x="11638281" y="9504"/>
                </a:lnTo>
                <a:lnTo>
                  <a:pt x="9504" y="9504"/>
                </a:lnTo>
                <a:lnTo>
                  <a:pt x="9504" y="6322036"/>
                </a:lnTo>
                <a:lnTo>
                  <a:pt x="616696" y="6322036"/>
                </a:lnTo>
                <a:cubicBezTo>
                  <a:pt x="619319" y="6322036"/>
                  <a:pt x="621448" y="6324165"/>
                  <a:pt x="621448" y="6326788"/>
                </a:cubicBezTo>
                <a:cubicBezTo>
                  <a:pt x="621448" y="6329411"/>
                  <a:pt x="619319" y="6331540"/>
                  <a:pt x="616696" y="6331540"/>
                </a:cubicBezTo>
                <a:lnTo>
                  <a:pt x="0" y="6331540"/>
                </a:lnTo>
                <a:lnTo>
                  <a:pt x="0" y="0"/>
                </a:lnTo>
                <a:lnTo>
                  <a:pt x="11647785" y="0"/>
                </a:lnTo>
                <a:lnTo>
                  <a:pt x="11647785" y="63315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7" name="Google Shape;47;p5"/>
          <p:cNvSpPr txBox="1">
            <a:spLocks noGrp="1"/>
          </p:cNvSpPr>
          <p:nvPr>
            <p:ph type="title"/>
          </p:nvPr>
        </p:nvSpPr>
        <p:spPr>
          <a:xfrm>
            <a:off x="1019174" y="533488"/>
            <a:ext cx="8330772" cy="84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Verdana"/>
              <a:buNone/>
              <a:defRPr sz="2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839AA95-56E8-1B3E-FAE9-53726129AA8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1168" b="1693"/>
          <a:stretch/>
        </p:blipFill>
        <p:spPr>
          <a:xfrm>
            <a:off x="10196070" y="287536"/>
            <a:ext cx="1666842" cy="592574"/>
          </a:xfrm>
          <a:prstGeom prst="rect">
            <a:avLst/>
          </a:prstGeom>
        </p:spPr>
      </p:pic>
      <p:sp>
        <p:nvSpPr>
          <p:cNvPr id="7" name="Google Shape;60;p7">
            <a:extLst>
              <a:ext uri="{FF2B5EF4-FFF2-40B4-BE49-F238E27FC236}">
                <a16:creationId xmlns:a16="http://schemas.microsoft.com/office/drawing/2014/main" id="{B03A098F-B367-4F6D-98FD-37C79E0C8A9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29584" y="6166658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5556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>
  <p:cSld name="Zwischentitel - grün">
    <p:bg>
      <p:bgPr>
        <a:solidFill>
          <a:srgbClr val="18E797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605200" y="2536825"/>
            <a:ext cx="6228000" cy="5073727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"/>
          <p:cNvSpPr/>
          <p:nvPr/>
        </p:nvSpPr>
        <p:spPr>
          <a:xfrm>
            <a:off x="269479" y="257680"/>
            <a:ext cx="11647785" cy="6331539"/>
          </a:xfrm>
          <a:custGeom>
            <a:avLst/>
            <a:gdLst/>
            <a:ahLst/>
            <a:cxnLst/>
            <a:rect l="l" t="t" r="r" b="b"/>
            <a:pathLst>
              <a:path w="11647785" h="6331539" extrusionOk="0">
                <a:moveTo>
                  <a:pt x="11647785" y="6331540"/>
                </a:moveTo>
                <a:lnTo>
                  <a:pt x="2701721" y="6331540"/>
                </a:lnTo>
                <a:cubicBezTo>
                  <a:pt x="2699098" y="6331540"/>
                  <a:pt x="2696969" y="6329411"/>
                  <a:pt x="2696969" y="6326788"/>
                </a:cubicBezTo>
                <a:cubicBezTo>
                  <a:pt x="2696969" y="6324165"/>
                  <a:pt x="2699098" y="6322036"/>
                  <a:pt x="2701721" y="6322036"/>
                </a:cubicBezTo>
                <a:lnTo>
                  <a:pt x="11638281" y="6322036"/>
                </a:lnTo>
                <a:lnTo>
                  <a:pt x="11638281" y="9504"/>
                </a:lnTo>
                <a:lnTo>
                  <a:pt x="9504" y="9504"/>
                </a:lnTo>
                <a:lnTo>
                  <a:pt x="9504" y="6322036"/>
                </a:lnTo>
                <a:lnTo>
                  <a:pt x="616696" y="6322036"/>
                </a:lnTo>
                <a:cubicBezTo>
                  <a:pt x="619319" y="6322036"/>
                  <a:pt x="621448" y="6324165"/>
                  <a:pt x="621448" y="6326788"/>
                </a:cubicBezTo>
                <a:cubicBezTo>
                  <a:pt x="621448" y="6329411"/>
                  <a:pt x="619319" y="6331540"/>
                  <a:pt x="616696" y="6331540"/>
                </a:cubicBezTo>
                <a:lnTo>
                  <a:pt x="0" y="6331540"/>
                </a:lnTo>
                <a:lnTo>
                  <a:pt x="0" y="0"/>
                </a:lnTo>
                <a:lnTo>
                  <a:pt x="11647785" y="0"/>
                </a:lnTo>
                <a:lnTo>
                  <a:pt x="11647785" y="63315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7" name="Google Shape;47;p5"/>
          <p:cNvSpPr txBox="1">
            <a:spLocks noGrp="1"/>
          </p:cNvSpPr>
          <p:nvPr>
            <p:ph type="title"/>
          </p:nvPr>
        </p:nvSpPr>
        <p:spPr>
          <a:xfrm>
            <a:off x="1019174" y="533488"/>
            <a:ext cx="8330772" cy="84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Verdana"/>
              <a:buNone/>
              <a:defRPr sz="2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2F78FD4C-17F2-9AB6-C93F-20A144842E4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934" t="6899" r="623"/>
          <a:stretch/>
        </p:blipFill>
        <p:spPr>
          <a:xfrm>
            <a:off x="10203690" y="302761"/>
            <a:ext cx="1654696" cy="583224"/>
          </a:xfrm>
          <a:prstGeom prst="rect">
            <a:avLst/>
          </a:prstGeom>
        </p:spPr>
      </p:pic>
      <p:sp>
        <p:nvSpPr>
          <p:cNvPr id="7" name="Google Shape;60;p7">
            <a:extLst>
              <a:ext uri="{FF2B5EF4-FFF2-40B4-BE49-F238E27FC236}">
                <a16:creationId xmlns:a16="http://schemas.microsoft.com/office/drawing/2014/main" id="{59173232-E0CF-C3DF-2C57-6CD02D20AB0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29584" y="6166658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0085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>
  <p:cSld name="Zwischentitel - blau">
    <p:bg>
      <p:bgPr>
        <a:solidFill>
          <a:srgbClr val="007A9E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605200" y="2536825"/>
            <a:ext cx="6228000" cy="5073727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"/>
          <p:cNvSpPr/>
          <p:nvPr/>
        </p:nvSpPr>
        <p:spPr>
          <a:xfrm>
            <a:off x="269479" y="257680"/>
            <a:ext cx="11647785" cy="6331539"/>
          </a:xfrm>
          <a:custGeom>
            <a:avLst/>
            <a:gdLst/>
            <a:ahLst/>
            <a:cxnLst/>
            <a:rect l="l" t="t" r="r" b="b"/>
            <a:pathLst>
              <a:path w="11647785" h="6331539" extrusionOk="0">
                <a:moveTo>
                  <a:pt x="11647785" y="6331540"/>
                </a:moveTo>
                <a:lnTo>
                  <a:pt x="2701721" y="6331540"/>
                </a:lnTo>
                <a:cubicBezTo>
                  <a:pt x="2699098" y="6331540"/>
                  <a:pt x="2696969" y="6329411"/>
                  <a:pt x="2696969" y="6326788"/>
                </a:cubicBezTo>
                <a:cubicBezTo>
                  <a:pt x="2696969" y="6324165"/>
                  <a:pt x="2699098" y="6322036"/>
                  <a:pt x="2701721" y="6322036"/>
                </a:cubicBezTo>
                <a:lnTo>
                  <a:pt x="11638281" y="6322036"/>
                </a:lnTo>
                <a:lnTo>
                  <a:pt x="11638281" y="9504"/>
                </a:lnTo>
                <a:lnTo>
                  <a:pt x="9504" y="9504"/>
                </a:lnTo>
                <a:lnTo>
                  <a:pt x="9504" y="6322036"/>
                </a:lnTo>
                <a:lnTo>
                  <a:pt x="616696" y="6322036"/>
                </a:lnTo>
                <a:cubicBezTo>
                  <a:pt x="619319" y="6322036"/>
                  <a:pt x="621448" y="6324165"/>
                  <a:pt x="621448" y="6326788"/>
                </a:cubicBezTo>
                <a:cubicBezTo>
                  <a:pt x="621448" y="6329411"/>
                  <a:pt x="619319" y="6331540"/>
                  <a:pt x="616696" y="6331540"/>
                </a:cubicBezTo>
                <a:lnTo>
                  <a:pt x="0" y="6331540"/>
                </a:lnTo>
                <a:lnTo>
                  <a:pt x="0" y="0"/>
                </a:lnTo>
                <a:lnTo>
                  <a:pt x="11647785" y="0"/>
                </a:lnTo>
                <a:lnTo>
                  <a:pt x="11647785" y="63315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7" name="Google Shape;47;p5"/>
          <p:cNvSpPr txBox="1">
            <a:spLocks noGrp="1"/>
          </p:cNvSpPr>
          <p:nvPr>
            <p:ph type="title"/>
          </p:nvPr>
        </p:nvSpPr>
        <p:spPr>
          <a:xfrm>
            <a:off x="1019174" y="533488"/>
            <a:ext cx="8330772" cy="84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Verdana"/>
              <a:buNone/>
              <a:defRPr sz="2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9950FE25-7202-9838-476E-FCBBB7AA4DF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t="3736" r="623" b="3087"/>
          <a:stretch/>
        </p:blipFill>
        <p:spPr>
          <a:xfrm>
            <a:off x="10194866" y="311568"/>
            <a:ext cx="1660938" cy="572841"/>
          </a:xfrm>
          <a:prstGeom prst="rect">
            <a:avLst/>
          </a:prstGeom>
        </p:spPr>
      </p:pic>
      <p:sp>
        <p:nvSpPr>
          <p:cNvPr id="8" name="Google Shape;60;p7">
            <a:extLst>
              <a:ext uri="{FF2B5EF4-FFF2-40B4-BE49-F238E27FC236}">
                <a16:creationId xmlns:a16="http://schemas.microsoft.com/office/drawing/2014/main" id="{BFF8EA9B-1C85-4656-0FA5-E04DA75A49D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29584" y="6166658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07595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r dunkel" preserve="1">
  <p:cSld name="Leer hell_2">
    <p:bg>
      <p:bgPr>
        <a:solidFill>
          <a:schemeClr val="bg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42;p5">
            <a:extLst>
              <a:ext uri="{FF2B5EF4-FFF2-40B4-BE49-F238E27FC236}">
                <a16:creationId xmlns:a16="http://schemas.microsoft.com/office/drawing/2014/main" id="{F47AA3BD-061C-FFF1-2597-0E003D1A2DD3}"/>
              </a:ext>
            </a:extLst>
          </p:cNvPr>
          <p:cNvPicPr preferRelativeResize="0"/>
          <p:nvPr userDrawn="1"/>
        </p:nvPicPr>
        <p:blipFill rotWithShape="1"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l="31937" b="16168"/>
          <a:stretch/>
        </p:blipFill>
        <p:spPr>
          <a:xfrm>
            <a:off x="-1" y="260101"/>
            <a:ext cx="6575577" cy="65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leichschenkliges Dreieck 14">
            <a:extLst>
              <a:ext uri="{FF2B5EF4-FFF2-40B4-BE49-F238E27FC236}">
                <a16:creationId xmlns:a16="http://schemas.microsoft.com/office/drawing/2014/main" id="{80A1D962-6EBE-42A3-9745-798764273018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6" name="Grafik 15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E67989E-C41B-4A5E-A549-5592B33B160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4" name="Grafik 3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DAA60E84-C429-8733-F2F3-E5D8F355959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CAA8D421-94AF-533F-7C41-B87481D66CF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472529" y="958576"/>
            <a:ext cx="1459255" cy="973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661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r hell" userDrawn="1">
  <p:cSld name="Leer hell">
    <p:bg>
      <p:bgPr>
        <a:solidFill>
          <a:schemeClr val="bg2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42;p5">
            <a:extLst>
              <a:ext uri="{FF2B5EF4-FFF2-40B4-BE49-F238E27FC236}">
                <a16:creationId xmlns:a16="http://schemas.microsoft.com/office/drawing/2014/main" id="{826AB866-D8C1-E796-E460-12E4F2141A6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 rot="10800000" flipV="1">
            <a:off x="6513446" y="2441422"/>
            <a:ext cx="7789690" cy="5946121"/>
          </a:xfrm>
          <a:prstGeom prst="rect">
            <a:avLst/>
          </a:prstGeom>
          <a:noFill/>
          <a:ln>
            <a:noFill/>
          </a:ln>
          <a:effectLst>
            <a:reflection blurRad="6350" stA="52000" endA="300" endPos="35000" dir="5400000" sy="-100000" algn="bl" rotWithShape="0"/>
          </a:effectLst>
        </p:spPr>
      </p:pic>
      <p:sp>
        <p:nvSpPr>
          <p:cNvPr id="60" name="Google Shape;60;p7"/>
          <p:cNvSpPr txBox="1">
            <a:spLocks noGrp="1"/>
          </p:cNvSpPr>
          <p:nvPr>
            <p:ph type="sldNum" idx="12"/>
          </p:nvPr>
        </p:nvSpPr>
        <p:spPr>
          <a:xfrm>
            <a:off x="11531078" y="6417445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Gleichschenkliges Dreieck 4">
            <a:extLst>
              <a:ext uri="{FF2B5EF4-FFF2-40B4-BE49-F238E27FC236}">
                <a16:creationId xmlns:a16="http://schemas.microsoft.com/office/drawing/2014/main" id="{992FB5AC-7938-700F-A2DE-6E72FFE0D756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Grafik 5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56E674C0-461E-EB3E-51A7-188B569B21F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144B6387-8C7C-8BA8-DAD4-9E24A34F4E0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C9AA6CDF-C2D8-66CE-164D-43EDC659F4E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4" name="Google Shape;50;p6">
            <a:extLst>
              <a:ext uri="{FF2B5EF4-FFF2-40B4-BE49-F238E27FC236}">
                <a16:creationId xmlns:a16="http://schemas.microsoft.com/office/drawing/2014/main" id="{DFA379ED-BBB8-344D-3762-3D5D7DE0253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017457" y="1152000"/>
            <a:ext cx="6878767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" name="Google Shape;52;p6">
            <a:extLst>
              <a:ext uri="{FF2B5EF4-FFF2-40B4-BE49-F238E27FC236}">
                <a16:creationId xmlns:a16="http://schemas.microsoft.com/office/drawing/2014/main" id="{82E9E9B7-158B-6C97-993D-E5724D5D56C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17456" y="2388247"/>
            <a:ext cx="6878767" cy="755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bg1"/>
                </a:solidFill>
              </a:defRPr>
            </a:lvl1pPr>
            <a:lvl2pPr lvl="1" algn="ctr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000"/>
            </a:lvl2pPr>
            <a:lvl3pPr lvl="2" algn="ctr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8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 dirty="0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039243C2-AB81-0464-CB69-B49220FC4D7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982786" y="438764"/>
            <a:ext cx="1748655" cy="617843"/>
          </a:xfrm>
          <a:prstGeom prst="rect">
            <a:avLst/>
          </a:prstGeom>
        </p:spPr>
      </p:pic>
      <p:pic>
        <p:nvPicPr>
          <p:cNvPr id="17" name="Grafik 16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7A9F2A55-6B19-6F3F-F9AB-CF3EC57545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72186" y="1205010"/>
            <a:ext cx="1459255" cy="9739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r dunkel">
  <p:cSld name="Abschlussfolie dunkel">
    <p:bg>
      <p:bgPr>
        <a:solidFill>
          <a:schemeClr val="dk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B0BF41E5-5043-1676-634A-40E34BE614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4903" y="260100"/>
            <a:ext cx="1706881" cy="603083"/>
          </a:xfrm>
          <a:prstGeom prst="rect">
            <a:avLst/>
          </a:prstGeom>
        </p:spPr>
      </p:pic>
      <p:sp>
        <p:nvSpPr>
          <p:cNvPr id="15" name="Gleichschenkliges Dreieck 14">
            <a:extLst>
              <a:ext uri="{FF2B5EF4-FFF2-40B4-BE49-F238E27FC236}">
                <a16:creationId xmlns:a16="http://schemas.microsoft.com/office/drawing/2014/main" id="{80A1D962-6EBE-42A3-9745-798764273018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6" name="Grafik 15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E67989E-C41B-4A5E-A549-5592B33B160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22" name="Google Shape;42;p5">
            <a:extLst>
              <a:ext uri="{FF2B5EF4-FFF2-40B4-BE49-F238E27FC236}">
                <a16:creationId xmlns:a16="http://schemas.microsoft.com/office/drawing/2014/main" id="{C66AEA29-77E0-21E3-CA86-7D515B5A085C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-3085333" y="260100"/>
            <a:ext cx="9660910" cy="78703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itat mit Bild" userDrawn="1">
  <p:cSld name="Zitat mit Bild">
    <p:bg>
      <p:bgPr>
        <a:solidFill>
          <a:schemeClr val="accent3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"/>
          <p:cNvSpPr>
            <a:spLocks noGrp="1"/>
          </p:cNvSpPr>
          <p:nvPr>
            <p:ph type="pic" idx="2"/>
          </p:nvPr>
        </p:nvSpPr>
        <p:spPr>
          <a:xfrm>
            <a:off x="5976938" y="-1"/>
            <a:ext cx="6215062" cy="68580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76" name="Google Shape;76;p9"/>
          <p:cNvSpPr txBox="1">
            <a:spLocks noGrp="1"/>
          </p:cNvSpPr>
          <p:nvPr>
            <p:ph type="sldNum" idx="12"/>
          </p:nvPr>
        </p:nvSpPr>
        <p:spPr>
          <a:xfrm>
            <a:off x="11524104" y="6459251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 dirty="0"/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5640E307-2BF9-CACF-4C05-D4C13B05D7C1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80C61190-CD21-681A-3A04-E027813C89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5" name="Google Shape;139;p16">
            <a:extLst>
              <a:ext uri="{FF2B5EF4-FFF2-40B4-BE49-F238E27FC236}">
                <a16:creationId xmlns:a16="http://schemas.microsoft.com/office/drawing/2014/main" id="{AE162294-E63D-B8E4-23E2-BCED6DD32EE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" name="Google Shape;140;p16">
            <a:extLst>
              <a:ext uri="{FF2B5EF4-FFF2-40B4-BE49-F238E27FC236}">
                <a16:creationId xmlns:a16="http://schemas.microsoft.com/office/drawing/2014/main" id="{6D2527C2-7F56-98F6-7066-F05A590E2D9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" name="Google Shape;104;p12">
            <a:extLst>
              <a:ext uri="{FF2B5EF4-FFF2-40B4-BE49-F238E27FC236}">
                <a16:creationId xmlns:a16="http://schemas.microsoft.com/office/drawing/2014/main" id="{D6D000BF-D840-4DF0-8271-2A24894291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22350" y="1602999"/>
            <a:ext cx="4793779" cy="3891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" name="Google Shape;84;p10">
            <a:extLst>
              <a:ext uri="{FF2B5EF4-FFF2-40B4-BE49-F238E27FC236}">
                <a16:creationId xmlns:a16="http://schemas.microsoft.com/office/drawing/2014/main" id="{849727FC-1850-35D7-0EE4-5F8881416F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19174" y="595102"/>
            <a:ext cx="4796955" cy="779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Verdana"/>
              <a:buNone/>
              <a:defRPr sz="220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links, 3 Fotos rechts" userDrawn="1">
  <p:cSld name="Text links, 3 Fotos rechts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>
            <a:spLocks noGrp="1"/>
          </p:cNvSpPr>
          <p:nvPr>
            <p:ph type="pic" idx="2"/>
          </p:nvPr>
        </p:nvSpPr>
        <p:spPr>
          <a:xfrm>
            <a:off x="6094800" y="1132645"/>
            <a:ext cx="5616575" cy="501256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83" name="Google Shape;83;p10"/>
          <p:cNvSpPr txBox="1">
            <a:spLocks noGrp="1"/>
          </p:cNvSpPr>
          <p:nvPr>
            <p:ph type="sldNum" idx="12"/>
          </p:nvPr>
        </p:nvSpPr>
        <p:spPr>
          <a:xfrm>
            <a:off x="11531078" y="6417445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title"/>
          </p:nvPr>
        </p:nvSpPr>
        <p:spPr>
          <a:xfrm>
            <a:off x="1019174" y="595102"/>
            <a:ext cx="4796955" cy="779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Verdana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936C69AB-71BA-35D0-5DC2-020FD72727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5" name="Gleichschenkliges Dreieck 4">
            <a:extLst>
              <a:ext uri="{FF2B5EF4-FFF2-40B4-BE49-F238E27FC236}">
                <a16:creationId xmlns:a16="http://schemas.microsoft.com/office/drawing/2014/main" id="{51AF5458-1F33-7EAE-8751-F24D3E564DA2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Grafik 5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AF73E771-922B-A0AC-6CEB-0A89C788A8D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7" name="Google Shape;139;p16">
            <a:extLst>
              <a:ext uri="{FF2B5EF4-FFF2-40B4-BE49-F238E27FC236}">
                <a16:creationId xmlns:a16="http://schemas.microsoft.com/office/drawing/2014/main" id="{4EA795FC-9247-8B6F-D503-8DB8D86A459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" name="Google Shape;140;p16">
            <a:extLst>
              <a:ext uri="{FF2B5EF4-FFF2-40B4-BE49-F238E27FC236}">
                <a16:creationId xmlns:a16="http://schemas.microsoft.com/office/drawing/2014/main" id="{74E7EFAB-5783-4320-7B8C-436DCBD5F8C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" name="Google Shape;104;p12">
            <a:extLst>
              <a:ext uri="{FF2B5EF4-FFF2-40B4-BE49-F238E27FC236}">
                <a16:creationId xmlns:a16="http://schemas.microsoft.com/office/drawing/2014/main" id="{EB61180E-BCC0-FC25-978B-E063025564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22350" y="1602999"/>
            <a:ext cx="4793779" cy="3891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ext links, 3 Fotos rechts" userDrawn="1">
  <p:cSld name="1_Text links, 3 Fotos rechts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>
            <a:spLocks noGrp="1"/>
          </p:cNvSpPr>
          <p:nvPr>
            <p:ph type="pic" idx="2"/>
          </p:nvPr>
        </p:nvSpPr>
        <p:spPr>
          <a:xfrm>
            <a:off x="6094800" y="1132645"/>
            <a:ext cx="5616575" cy="234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92" name="Google Shape;92;p11"/>
          <p:cNvSpPr txBox="1">
            <a:spLocks noGrp="1"/>
          </p:cNvSpPr>
          <p:nvPr>
            <p:ph type="sldNum" idx="12"/>
          </p:nvPr>
        </p:nvSpPr>
        <p:spPr>
          <a:xfrm>
            <a:off x="11531078" y="6417445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title"/>
          </p:nvPr>
        </p:nvSpPr>
        <p:spPr>
          <a:xfrm>
            <a:off x="1019174" y="595102"/>
            <a:ext cx="4796955" cy="779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Verdana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1"/>
          <p:cNvSpPr>
            <a:spLocks noGrp="1"/>
          </p:cNvSpPr>
          <p:nvPr>
            <p:ph type="pic" idx="3"/>
          </p:nvPr>
        </p:nvSpPr>
        <p:spPr>
          <a:xfrm>
            <a:off x="6095999" y="3805207"/>
            <a:ext cx="5615375" cy="234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EC10F341-74D3-D39A-82DD-6DEDDE1DB2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24CE71F0-15EB-9D75-ABB8-6AB53DF35864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FF2E2A29-DC49-1C86-6108-BA6A188D341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5" name="Google Shape;139;p16">
            <a:extLst>
              <a:ext uri="{FF2B5EF4-FFF2-40B4-BE49-F238E27FC236}">
                <a16:creationId xmlns:a16="http://schemas.microsoft.com/office/drawing/2014/main" id="{97DEC054-E745-A070-24FC-86C5322CF82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" name="Google Shape;140;p16">
            <a:extLst>
              <a:ext uri="{FF2B5EF4-FFF2-40B4-BE49-F238E27FC236}">
                <a16:creationId xmlns:a16="http://schemas.microsoft.com/office/drawing/2014/main" id="{DF52E6A9-ECE3-383C-5B55-3BEEFA354C2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104;p12">
            <a:extLst>
              <a:ext uri="{FF2B5EF4-FFF2-40B4-BE49-F238E27FC236}">
                <a16:creationId xmlns:a16="http://schemas.microsoft.com/office/drawing/2014/main" id="{1D8C8578-FBEB-83BF-088F-0FF036B337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22350" y="1602999"/>
            <a:ext cx="4793779" cy="3891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ext links, 3 Fotos rechts" userDrawn="1">
  <p:cSld name="2_Text links, 3 Fotos recht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2"/>
          <p:cNvSpPr>
            <a:spLocks noGrp="1"/>
          </p:cNvSpPr>
          <p:nvPr>
            <p:ph type="pic" idx="2"/>
          </p:nvPr>
        </p:nvSpPr>
        <p:spPr>
          <a:xfrm>
            <a:off x="6094800" y="1132645"/>
            <a:ext cx="5616575" cy="234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02" name="Google Shape;102;p12"/>
          <p:cNvSpPr txBox="1">
            <a:spLocks noGrp="1"/>
          </p:cNvSpPr>
          <p:nvPr>
            <p:ph type="sldNum" idx="12"/>
          </p:nvPr>
        </p:nvSpPr>
        <p:spPr>
          <a:xfrm>
            <a:off x="11531078" y="6417445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03" name="Google Shape;103;p12"/>
          <p:cNvSpPr txBox="1">
            <a:spLocks noGrp="1"/>
          </p:cNvSpPr>
          <p:nvPr>
            <p:ph type="title"/>
          </p:nvPr>
        </p:nvSpPr>
        <p:spPr>
          <a:xfrm>
            <a:off x="1019174" y="595102"/>
            <a:ext cx="4796955" cy="779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Verdana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2"/>
          <p:cNvSpPr>
            <a:spLocks noGrp="1"/>
          </p:cNvSpPr>
          <p:nvPr>
            <p:ph type="pic" idx="3"/>
          </p:nvPr>
        </p:nvSpPr>
        <p:spPr>
          <a:xfrm>
            <a:off x="6096000" y="3805207"/>
            <a:ext cx="2628000" cy="234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06" name="Google Shape;106;p12"/>
          <p:cNvSpPr>
            <a:spLocks noGrp="1"/>
          </p:cNvSpPr>
          <p:nvPr>
            <p:ph type="pic" idx="4"/>
          </p:nvPr>
        </p:nvSpPr>
        <p:spPr>
          <a:xfrm>
            <a:off x="9084575" y="3805207"/>
            <a:ext cx="2628000" cy="234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5E81F2A6-5D28-F8CC-6798-1C5AC63C55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788D9641-BD84-AF99-56EA-32FAB7819B5E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E5A686B0-5E21-A25A-FCD9-784EF64484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5" name="Google Shape;139;p16">
            <a:extLst>
              <a:ext uri="{FF2B5EF4-FFF2-40B4-BE49-F238E27FC236}">
                <a16:creationId xmlns:a16="http://schemas.microsoft.com/office/drawing/2014/main" id="{8F0B0378-24FB-537A-F362-B215B2C87B5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" name="Google Shape;140;p16">
            <a:extLst>
              <a:ext uri="{FF2B5EF4-FFF2-40B4-BE49-F238E27FC236}">
                <a16:creationId xmlns:a16="http://schemas.microsoft.com/office/drawing/2014/main" id="{340496D2-C60D-B8EB-90F8-98409EF5700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104;p12">
            <a:extLst>
              <a:ext uri="{FF2B5EF4-FFF2-40B4-BE49-F238E27FC236}">
                <a16:creationId xmlns:a16="http://schemas.microsoft.com/office/drawing/2014/main" id="{B2B8A8F7-A707-64C7-2AE6-81416C6C55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22350" y="1602999"/>
            <a:ext cx="4793779" cy="3891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rechts, 1 Foto schmal links">
  <p:cSld name="Text rechts, 1 Foto schmal links">
    <p:bg>
      <p:bgPr>
        <a:solidFill>
          <a:schemeClr val="dk2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-2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12191999" h="6858000" extrusionOk="0">
                <a:moveTo>
                  <a:pt x="3945774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8246225" y="6858000"/>
                </a:lnTo>
                <a:lnTo>
                  <a:pt x="3945774" y="6858000"/>
                </a:lnTo>
                <a:lnTo>
                  <a:pt x="0" y="6858000"/>
                </a:lnTo>
                <a:lnTo>
                  <a:pt x="0" y="6367464"/>
                </a:lnTo>
                <a:lnTo>
                  <a:pt x="3945774" y="636746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-1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12191999" h="6858000" extrusionOk="0">
                <a:moveTo>
                  <a:pt x="0" y="0"/>
                </a:moveTo>
                <a:lnTo>
                  <a:pt x="1" y="0"/>
                </a:lnTo>
                <a:lnTo>
                  <a:pt x="1" y="6368304"/>
                </a:lnTo>
                <a:lnTo>
                  <a:pt x="5847965" y="6368304"/>
                </a:lnTo>
                <a:lnTo>
                  <a:pt x="5847965" y="0"/>
                </a:ln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/>
          </a:p>
        </p:txBody>
      </p:sp>
      <p:sp>
        <p:nvSpPr>
          <p:cNvPr id="121" name="Google Shape;121;p14"/>
          <p:cNvSpPr>
            <a:spLocks noGrp="1"/>
          </p:cNvSpPr>
          <p:nvPr>
            <p:ph type="pic" idx="2"/>
          </p:nvPr>
        </p:nvSpPr>
        <p:spPr>
          <a:xfrm>
            <a:off x="0" y="592976"/>
            <a:ext cx="3924300" cy="3498578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14"/>
          <p:cNvSpPr txBox="1">
            <a:spLocks noGrp="1"/>
          </p:cNvSpPr>
          <p:nvPr>
            <p:ph type="sldNum" idx="12"/>
          </p:nvPr>
        </p:nvSpPr>
        <p:spPr>
          <a:xfrm>
            <a:off x="11531078" y="6419049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lvl="1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lvl="2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lvl="3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lvl="4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lvl="5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lvl="6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lvl="7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lvl="8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26" name="Google Shape;126;p14"/>
          <p:cNvSpPr txBox="1">
            <a:spLocks noGrp="1"/>
          </p:cNvSpPr>
          <p:nvPr>
            <p:ph type="title"/>
          </p:nvPr>
        </p:nvSpPr>
        <p:spPr>
          <a:xfrm>
            <a:off x="4390768" y="592976"/>
            <a:ext cx="5721071" cy="77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Verdana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7" name="Google Shape;127;p14"/>
          <p:cNvSpPr txBox="1">
            <a:spLocks noGrp="1"/>
          </p:cNvSpPr>
          <p:nvPr>
            <p:ph type="body" idx="1"/>
          </p:nvPr>
        </p:nvSpPr>
        <p:spPr>
          <a:xfrm>
            <a:off x="4390768" y="1613290"/>
            <a:ext cx="7140832" cy="4531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70840" algn="l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24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SzPts val="1600"/>
              <a:buAutoNum type="arabicPeriod"/>
              <a:defRPr>
                <a:solidFill>
                  <a:schemeClr val="dk1"/>
                </a:solidFill>
              </a:defRPr>
            </a:lvl3pPr>
            <a:lvl4pPr marL="1828800" lvl="3" indent="-228600" algn="l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marL="2286000" lvl="4" indent="-360679" algn="l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8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96EFFF25-385B-B573-04C3-4753EA149D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6" name="Gleichschenkliges Dreieck 5">
            <a:extLst>
              <a:ext uri="{FF2B5EF4-FFF2-40B4-BE49-F238E27FC236}">
                <a16:creationId xmlns:a16="http://schemas.microsoft.com/office/drawing/2014/main" id="{83CF15C8-1379-F561-58A2-DFB58095814D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AEB8A20E-582C-E039-6FFC-7380C391284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8" name="Google Shape;139;p16">
            <a:extLst>
              <a:ext uri="{FF2B5EF4-FFF2-40B4-BE49-F238E27FC236}">
                <a16:creationId xmlns:a16="http://schemas.microsoft.com/office/drawing/2014/main" id="{3E552C7A-FFE6-586F-5603-9B608A414867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" name="Google Shape;140;p16">
            <a:extLst>
              <a:ext uri="{FF2B5EF4-FFF2-40B4-BE49-F238E27FC236}">
                <a16:creationId xmlns:a16="http://schemas.microsoft.com/office/drawing/2014/main" id="{FC3758D3-62C4-4057-E3D4-43C2E1551CB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zweispaltig">
  <p:cSld name="Text zweispaltig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5"/>
          <p:cNvSpPr txBox="1">
            <a:spLocks noGrp="1"/>
          </p:cNvSpPr>
          <p:nvPr>
            <p:ph type="sldNum" idx="12"/>
          </p:nvPr>
        </p:nvSpPr>
        <p:spPr>
          <a:xfrm>
            <a:off x="11531078" y="6417445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34" name="Google Shape;134;p15"/>
          <p:cNvSpPr txBox="1">
            <a:spLocks noGrp="1"/>
          </p:cNvSpPr>
          <p:nvPr>
            <p:ph type="title"/>
          </p:nvPr>
        </p:nvSpPr>
        <p:spPr>
          <a:xfrm>
            <a:off x="1019172" y="595109"/>
            <a:ext cx="8265600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5"/>
          <p:cNvSpPr txBox="1">
            <a:spLocks noGrp="1"/>
          </p:cNvSpPr>
          <p:nvPr>
            <p:ph type="body" idx="1"/>
          </p:nvPr>
        </p:nvSpPr>
        <p:spPr>
          <a:xfrm>
            <a:off x="1019175" y="1602995"/>
            <a:ext cx="10514013" cy="3875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F4340363-2822-D629-90FC-1EE2DE58AE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768B47B0-5C45-757E-2168-FC690B2658C1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D093CCAC-1F8A-7844-9CD6-F93EE61E589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5" name="Google Shape;139;p16">
            <a:extLst>
              <a:ext uri="{FF2B5EF4-FFF2-40B4-BE49-F238E27FC236}">
                <a16:creationId xmlns:a16="http://schemas.microsoft.com/office/drawing/2014/main" id="{9232B03C-5EE7-C1C1-AB07-63C80AECB1E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" name="Google Shape;140;p16">
            <a:extLst>
              <a:ext uri="{FF2B5EF4-FFF2-40B4-BE49-F238E27FC236}">
                <a16:creationId xmlns:a16="http://schemas.microsoft.com/office/drawing/2014/main" id="{B2E387E9-A790-4A41-8D34-2FF789C21CD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dreispaltig" userDrawn="1">
  <p:cSld name="Text dreispaltig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 txBox="1">
            <a:spLocks noGrp="1"/>
          </p:cNvSpPr>
          <p:nvPr>
            <p:ph type="sldNum" idx="12"/>
          </p:nvPr>
        </p:nvSpPr>
        <p:spPr>
          <a:xfrm>
            <a:off x="11531078" y="6417445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42" name="Google Shape;142;p16"/>
          <p:cNvSpPr txBox="1">
            <a:spLocks noGrp="1"/>
          </p:cNvSpPr>
          <p:nvPr>
            <p:ph type="title"/>
          </p:nvPr>
        </p:nvSpPr>
        <p:spPr>
          <a:xfrm>
            <a:off x="1018800" y="595109"/>
            <a:ext cx="8801100" cy="779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Verdana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A3AAD636-CB52-56E2-93AA-F9B53FE3F2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EA56A580-B1FD-BD2F-7BA8-750C92EA73F5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F86551C4-E7C2-F45F-3239-3286572BD7D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5" name="Google Shape;139;p16"/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" name="Google Shape;140;p16"/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135;p15">
            <a:extLst>
              <a:ext uri="{FF2B5EF4-FFF2-40B4-BE49-F238E27FC236}">
                <a16:creationId xmlns:a16="http://schemas.microsoft.com/office/drawing/2014/main" id="{C252C7A8-9512-D729-3B1C-C6D65FEC7B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19175" y="1602995"/>
            <a:ext cx="10514013" cy="3875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pics mit Bildern">
  <p:cSld name="Topics mit Bildern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"/>
          <p:cNvSpPr txBox="1">
            <a:spLocks noGrp="1"/>
          </p:cNvSpPr>
          <p:nvPr>
            <p:ph type="body" idx="1"/>
          </p:nvPr>
        </p:nvSpPr>
        <p:spPr>
          <a:xfrm>
            <a:off x="476704" y="3752850"/>
            <a:ext cx="3600000" cy="2620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000" rIns="0" bIns="0" anchor="t" anchorCtr="0">
            <a:noAutofit/>
          </a:bodyPr>
          <a:lstStyle>
            <a:lvl1pPr marL="457200" lvl="0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1pPr>
            <a:lvl2pPr marL="914400" lvl="1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  <a:defRPr sz="1600"/>
            </a:lvl2pPr>
            <a:lvl3pPr marL="1371600" lvl="2" indent="-228600" algn="l">
              <a:lnSpc>
                <a:spcPct val="137500"/>
              </a:lnSpc>
              <a:spcBef>
                <a:spcPts val="22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18"/>
          <p:cNvSpPr>
            <a:spLocks noGrp="1"/>
          </p:cNvSpPr>
          <p:nvPr>
            <p:ph type="pic" idx="2"/>
          </p:nvPr>
        </p:nvSpPr>
        <p:spPr>
          <a:xfrm>
            <a:off x="8112125" y="2024063"/>
            <a:ext cx="3600000" cy="17287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59" name="Google Shape;159;p18"/>
          <p:cNvSpPr>
            <a:spLocks noGrp="1"/>
          </p:cNvSpPr>
          <p:nvPr>
            <p:ph type="pic" idx="3"/>
          </p:nvPr>
        </p:nvSpPr>
        <p:spPr>
          <a:xfrm>
            <a:off x="4293394" y="2024063"/>
            <a:ext cx="3600000" cy="17287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60" name="Google Shape;160;p18"/>
          <p:cNvSpPr>
            <a:spLocks noGrp="1"/>
          </p:cNvSpPr>
          <p:nvPr>
            <p:ph type="pic" idx="4"/>
          </p:nvPr>
        </p:nvSpPr>
        <p:spPr>
          <a:xfrm>
            <a:off x="476704" y="2024063"/>
            <a:ext cx="3600000" cy="17287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61" name="Google Shape;161;p18"/>
          <p:cNvSpPr txBox="1">
            <a:spLocks noGrp="1"/>
          </p:cNvSpPr>
          <p:nvPr>
            <p:ph type="dt" idx="10"/>
          </p:nvPr>
        </p:nvSpPr>
        <p:spPr>
          <a:xfrm>
            <a:off x="818403" y="643425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8"/>
          <p:cNvSpPr txBox="1">
            <a:spLocks noGrp="1"/>
          </p:cNvSpPr>
          <p:nvPr>
            <p:ph type="ftr" idx="11"/>
          </p:nvPr>
        </p:nvSpPr>
        <p:spPr>
          <a:xfrm>
            <a:off x="1972067" y="643425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8"/>
          <p:cNvSpPr txBox="1">
            <a:spLocks noGrp="1"/>
          </p:cNvSpPr>
          <p:nvPr>
            <p:ph type="sldNum" idx="12"/>
          </p:nvPr>
        </p:nvSpPr>
        <p:spPr>
          <a:xfrm>
            <a:off x="11531078" y="6417445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65" name="Google Shape;165;p18"/>
          <p:cNvSpPr txBox="1">
            <a:spLocks noGrp="1"/>
          </p:cNvSpPr>
          <p:nvPr>
            <p:ph type="title"/>
          </p:nvPr>
        </p:nvSpPr>
        <p:spPr>
          <a:xfrm>
            <a:off x="1019174" y="592976"/>
            <a:ext cx="8677029" cy="781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66" name="Google Shape;166;p18"/>
          <p:cNvSpPr txBox="1">
            <a:spLocks noGrp="1"/>
          </p:cNvSpPr>
          <p:nvPr>
            <p:ph type="body" idx="5"/>
          </p:nvPr>
        </p:nvSpPr>
        <p:spPr>
          <a:xfrm>
            <a:off x="4293394" y="3752850"/>
            <a:ext cx="3600000" cy="2620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000" rIns="0" bIns="0" anchor="t" anchorCtr="0">
            <a:noAutofit/>
          </a:bodyPr>
          <a:lstStyle>
            <a:lvl1pPr marL="457200" lvl="0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1pPr>
            <a:lvl2pPr marL="914400" lvl="1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  <a:defRPr sz="1600"/>
            </a:lvl2pPr>
            <a:lvl3pPr marL="1371600" lvl="2" indent="-228600" algn="l">
              <a:lnSpc>
                <a:spcPct val="137500"/>
              </a:lnSpc>
              <a:spcBef>
                <a:spcPts val="22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18"/>
          <p:cNvSpPr txBox="1">
            <a:spLocks noGrp="1"/>
          </p:cNvSpPr>
          <p:nvPr>
            <p:ph type="body" idx="6"/>
          </p:nvPr>
        </p:nvSpPr>
        <p:spPr>
          <a:xfrm>
            <a:off x="8112125" y="3752850"/>
            <a:ext cx="3600000" cy="2620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000" rIns="0" bIns="0" anchor="t" anchorCtr="0">
            <a:noAutofit/>
          </a:bodyPr>
          <a:lstStyle>
            <a:lvl1pPr marL="457200" lvl="0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1pPr>
            <a:lvl2pPr marL="914400" lvl="1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  <a:defRPr sz="1600"/>
            </a:lvl2pPr>
            <a:lvl3pPr marL="1371600" lvl="2" indent="-228600" algn="l">
              <a:lnSpc>
                <a:spcPct val="137500"/>
              </a:lnSpc>
              <a:spcBef>
                <a:spcPts val="22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1A161B3C-4DEA-8CC2-40A4-5A0CA16951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pic>
        <p:nvPicPr>
          <p:cNvPr id="4" name="Grafik 3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65559268-D605-04E4-68C9-06F1C92DA7D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72529" y="1006451"/>
            <a:ext cx="1459255" cy="9739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pics ohne Bildern">
  <p:cSld name="Topics ohne Bildern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>
            <a:spLocks noGrp="1"/>
          </p:cNvSpPr>
          <p:nvPr>
            <p:ph type="title"/>
          </p:nvPr>
        </p:nvSpPr>
        <p:spPr>
          <a:xfrm>
            <a:off x="1019176" y="592976"/>
            <a:ext cx="8724528" cy="781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Verdana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71" name="Google Shape;171;p19"/>
          <p:cNvSpPr txBox="1">
            <a:spLocks noGrp="1"/>
          </p:cNvSpPr>
          <p:nvPr>
            <p:ph type="body" idx="1"/>
          </p:nvPr>
        </p:nvSpPr>
        <p:spPr>
          <a:xfrm>
            <a:off x="659724" y="2049779"/>
            <a:ext cx="3420000" cy="3979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1pPr>
            <a:lvl2pPr marL="914400" lvl="1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  <a:defRPr sz="1600"/>
            </a:lvl2pPr>
            <a:lvl3pPr marL="1371600" lvl="2" indent="-228600" algn="l">
              <a:lnSpc>
                <a:spcPct val="137500"/>
              </a:lnSpc>
              <a:spcBef>
                <a:spcPts val="22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72" name="Google Shape;172;p19"/>
          <p:cNvSpPr txBox="1">
            <a:spLocks noGrp="1"/>
          </p:cNvSpPr>
          <p:nvPr>
            <p:ph type="body" idx="2"/>
          </p:nvPr>
        </p:nvSpPr>
        <p:spPr>
          <a:xfrm>
            <a:off x="4470969" y="2049779"/>
            <a:ext cx="3420000" cy="3979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1pPr>
            <a:lvl2pPr marL="914400" lvl="1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  <a:defRPr sz="1600"/>
            </a:lvl2pPr>
            <a:lvl3pPr marL="1371600" lvl="2" indent="-228600" algn="l">
              <a:lnSpc>
                <a:spcPct val="137500"/>
              </a:lnSpc>
              <a:spcBef>
                <a:spcPts val="22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73" name="Google Shape;173;p19"/>
          <p:cNvSpPr txBox="1">
            <a:spLocks noGrp="1"/>
          </p:cNvSpPr>
          <p:nvPr>
            <p:ph type="body" idx="3"/>
          </p:nvPr>
        </p:nvSpPr>
        <p:spPr>
          <a:xfrm>
            <a:off x="8282214" y="2049779"/>
            <a:ext cx="3420000" cy="3979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1pPr>
            <a:lvl2pPr marL="914400" lvl="1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  <a:defRPr sz="1600"/>
            </a:lvl2pPr>
            <a:lvl3pPr marL="1371600" lvl="2" indent="-228600" algn="l">
              <a:lnSpc>
                <a:spcPct val="137500"/>
              </a:lnSpc>
              <a:spcBef>
                <a:spcPts val="22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cxnSp>
        <p:nvCxnSpPr>
          <p:cNvPr id="174" name="Google Shape;174;p19"/>
          <p:cNvCxnSpPr/>
          <p:nvPr/>
        </p:nvCxnSpPr>
        <p:spPr>
          <a:xfrm>
            <a:off x="482148" y="1963972"/>
            <a:ext cx="0" cy="406501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5" name="Google Shape;175;p19"/>
          <p:cNvCxnSpPr/>
          <p:nvPr/>
        </p:nvCxnSpPr>
        <p:spPr>
          <a:xfrm>
            <a:off x="4293394" y="1963972"/>
            <a:ext cx="0" cy="406501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6" name="Google Shape;176;p19"/>
          <p:cNvCxnSpPr/>
          <p:nvPr/>
        </p:nvCxnSpPr>
        <p:spPr>
          <a:xfrm>
            <a:off x="8112125" y="1963972"/>
            <a:ext cx="0" cy="406501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7" name="Google Shape;177;p19"/>
          <p:cNvSpPr txBox="1">
            <a:spLocks noGrp="1"/>
          </p:cNvSpPr>
          <p:nvPr>
            <p:ph type="dt" idx="10"/>
          </p:nvPr>
        </p:nvSpPr>
        <p:spPr>
          <a:xfrm>
            <a:off x="818403" y="643425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19"/>
          <p:cNvSpPr txBox="1">
            <a:spLocks noGrp="1"/>
          </p:cNvSpPr>
          <p:nvPr>
            <p:ph type="ftr" idx="11"/>
          </p:nvPr>
        </p:nvSpPr>
        <p:spPr>
          <a:xfrm>
            <a:off x="1972067" y="643425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9"/>
          <p:cNvSpPr txBox="1">
            <a:spLocks noGrp="1"/>
          </p:cNvSpPr>
          <p:nvPr>
            <p:ph type="sldNum" idx="12"/>
          </p:nvPr>
        </p:nvSpPr>
        <p:spPr>
          <a:xfrm>
            <a:off x="11531078" y="6417445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440CD5CE-2559-B4BA-9CC9-5D0C2ACD86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pic>
        <p:nvPicPr>
          <p:cNvPr id="4" name="Grafik 3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07E29C0B-DCD5-7541-0976-477AB55E9F8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72529" y="1006451"/>
            <a:ext cx="1459255" cy="9739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arbiger Hintergrund">
  <p:cSld name="Farbiger Hintergrund">
    <p:bg>
      <p:bgPr>
        <a:solidFill>
          <a:schemeClr val="lt1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>
            <a:spLocks noGrp="1"/>
          </p:cNvSpPr>
          <p:nvPr>
            <p:ph type="title"/>
          </p:nvPr>
        </p:nvSpPr>
        <p:spPr>
          <a:xfrm>
            <a:off x="1019174" y="484413"/>
            <a:ext cx="8785225" cy="889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Verdana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20"/>
          <p:cNvSpPr>
            <a:spLocks noGrp="1"/>
          </p:cNvSpPr>
          <p:nvPr>
            <p:ph type="pic" idx="2"/>
          </p:nvPr>
        </p:nvSpPr>
        <p:spPr>
          <a:xfrm>
            <a:off x="442913" y="1598686"/>
            <a:ext cx="11269662" cy="474655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84" name="Google Shape;184;p20"/>
          <p:cNvSpPr txBox="1">
            <a:spLocks noGrp="1"/>
          </p:cNvSpPr>
          <p:nvPr>
            <p:ph type="body" idx="1"/>
          </p:nvPr>
        </p:nvSpPr>
        <p:spPr>
          <a:xfrm>
            <a:off x="7908925" y="1781246"/>
            <a:ext cx="4283075" cy="400367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252000" tIns="180000" rIns="468000" bIns="180000" anchor="t" anchorCtr="0">
            <a:noAutofit/>
          </a:bodyPr>
          <a:lstStyle>
            <a:lvl1pPr marL="457200" lvl="0" indent="-22860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>
                <a:solidFill>
                  <a:schemeClr val="lt1"/>
                </a:solidFill>
              </a:defRPr>
            </a:lvl1pPr>
            <a:lvl2pPr marL="914400" lvl="1" indent="-35306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6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8571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  <a:defRPr sz="14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34417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2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5" name="Google Shape;185;p20"/>
          <p:cNvSpPr txBox="1">
            <a:spLocks noGrp="1"/>
          </p:cNvSpPr>
          <p:nvPr>
            <p:ph type="dt" idx="10"/>
          </p:nvPr>
        </p:nvSpPr>
        <p:spPr>
          <a:xfrm>
            <a:off x="4216923" y="6419198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86" name="Google Shape;186;p20"/>
          <p:cNvSpPr txBox="1">
            <a:spLocks noGrp="1"/>
          </p:cNvSpPr>
          <p:nvPr>
            <p:ph type="ftr" idx="11"/>
          </p:nvPr>
        </p:nvSpPr>
        <p:spPr>
          <a:xfrm>
            <a:off x="5370587" y="6419198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20"/>
          <p:cNvSpPr txBox="1">
            <a:spLocks noGrp="1"/>
          </p:cNvSpPr>
          <p:nvPr>
            <p:ph type="sldNum" idx="12"/>
          </p:nvPr>
        </p:nvSpPr>
        <p:spPr>
          <a:xfrm>
            <a:off x="11531078" y="6419198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2D6E7480-AEB2-8D62-6FCF-C7068FEE74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19F5DB62-195F-FD6E-5619-1A35B4AE8B1D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3FDAC246-403F-9041-17EC-DB4B9AFCBA7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5004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1019174" y="484414"/>
            <a:ext cx="10514014" cy="120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Verdana"/>
              <a:buNone/>
              <a:defRPr sz="2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1019174" y="1690688"/>
            <a:ext cx="10514014" cy="465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70840" algn="l" rtl="0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30200" algn="l" rtl="0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AutoNum type="arabicPeriod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228600" algn="l" rtl="0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60679" algn="l" rtl="0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" name="Google Shape;139;p16">
            <a:extLst>
              <a:ext uri="{FF2B5EF4-FFF2-40B4-BE49-F238E27FC236}">
                <a16:creationId xmlns:a16="http://schemas.microsoft.com/office/drawing/2014/main" id="{A789452D-3A50-1B2E-F5D6-219636FC1D52}"/>
              </a:ext>
            </a:extLst>
          </p:cNvPr>
          <p:cNvSpPr txBox="1">
            <a:spLocks noGrp="1"/>
          </p:cNvSpPr>
          <p:nvPr>
            <p:ph type="dt" idx="2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3" name="Google Shape;140;p16">
            <a:extLst>
              <a:ext uri="{FF2B5EF4-FFF2-40B4-BE49-F238E27FC236}">
                <a16:creationId xmlns:a16="http://schemas.microsoft.com/office/drawing/2014/main" id="{81F1450C-FC39-BA3C-9C56-02766FBE43E4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85" r:id="rId2"/>
    <p:sldLayoutId id="2147483668" r:id="rId3"/>
    <p:sldLayoutId id="2147483674" r:id="rId4"/>
    <p:sldLayoutId id="2147483669" r:id="rId5"/>
    <p:sldLayoutId id="2147483675" r:id="rId6"/>
    <p:sldLayoutId id="2147483670" r:id="rId7"/>
    <p:sldLayoutId id="2147483676" r:id="rId8"/>
    <p:sldLayoutId id="2147483671" r:id="rId9"/>
    <p:sldLayoutId id="2147483678" r:id="rId10"/>
    <p:sldLayoutId id="2147483672" r:id="rId11"/>
    <p:sldLayoutId id="2147483677" r:id="rId12"/>
    <p:sldLayoutId id="2147483673" r:id="rId13"/>
    <p:sldLayoutId id="2147483683" r:id="rId14"/>
    <p:sldLayoutId id="2147483684" r:id="rId15"/>
    <p:sldLayoutId id="2147483679" r:id="rId16"/>
    <p:sldLayoutId id="2147483682" r:id="rId17"/>
    <p:sldLayoutId id="2147483680" r:id="rId18"/>
    <p:sldLayoutId id="2147483681" r:id="rId19"/>
    <p:sldLayoutId id="2147483686" r:id="rId20"/>
    <p:sldLayoutId id="2147483653" r:id="rId21"/>
    <p:sldLayoutId id="2147483654" r:id="rId22"/>
    <p:sldLayoutId id="2147483655" r:id="rId23"/>
    <p:sldLayoutId id="2147483656" r:id="rId24"/>
    <p:sldLayoutId id="2147483657" r:id="rId25"/>
    <p:sldLayoutId id="2147483658" r:id="rId26"/>
    <p:sldLayoutId id="2147483660" r:id="rId27"/>
    <p:sldLayoutId id="2147483661" r:id="rId28"/>
    <p:sldLayoutId id="2147483662" r:id="rId29"/>
    <p:sldLayoutId id="2147483664" r:id="rId30"/>
    <p:sldLayoutId id="2147483665" r:id="rId31"/>
    <p:sldLayoutId id="2147483666" r:id="rId32"/>
    <p:sldLayoutId id="2147483687" r:id="rId3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642">
          <p15:clr>
            <a:srgbClr val="F26B43"/>
          </p15:clr>
        </p15:guide>
        <p15:guide id="2" orient="horz" pos="4201">
          <p15:clr>
            <a:srgbClr val="F26B43"/>
          </p15:clr>
        </p15:guide>
        <p15:guide id="3" pos="7265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5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2.png"/><Relationship Id="rId3" Type="http://schemas.openxmlformats.org/officeDocument/2006/relationships/image" Target="../media/image23.svg"/><Relationship Id="rId4" Type="http://schemas.openxmlformats.org/officeDocument/2006/relationships/image" Target="../media/image24.jpeg"/><Relationship Id="rId5" Type="http://schemas.openxmlformats.org/officeDocument/2006/relationships/image" Target="../media/image25.jpe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22.png"/><Relationship Id="rId6" Type="http://schemas.openxmlformats.org/officeDocument/2006/relationships/image" Target="../media/image23.svg"/><Relationship Id="rId7" Type="http://schemas.openxmlformats.org/officeDocument/2006/relationships/image" Target="../media/image32.jpeg"/><Relationship Id="rId8" Type="http://schemas.openxmlformats.org/officeDocument/2006/relationships/image" Target="../media/image33.jpeg"/><Relationship Id="rId9" Type="http://schemas.openxmlformats.org/officeDocument/2006/relationships/image" Target="../media/image34.jpeg"/><Relationship Id="rId10" Type="http://schemas.openxmlformats.org/officeDocument/2006/relationships/image" Target="../media/image35.png"/><Relationship Id="rId11" Type="http://schemas.openxmlformats.org/officeDocument/2006/relationships/image" Target="../media/image36.png"/><Relationship Id="rId12" Type="http://schemas.openxmlformats.org/officeDocument/2006/relationships/image" Target="../media/image37.jpeg"/><Relationship Id="rId13" Type="http://schemas.openxmlformats.org/officeDocument/2006/relationships/image" Target="../media/image38.jpeg"/><Relationship Id="rId14" Type="http://schemas.openxmlformats.org/officeDocument/2006/relationships/image" Target="../media/image39.png"/><Relationship Id="rId15" Type="http://schemas.openxmlformats.org/officeDocument/2006/relationships/image" Target="../media/image40.jpeg"/><Relationship Id="rId16" Type="http://schemas.openxmlformats.org/officeDocument/2006/relationships/image" Target="../media/image41.png"/><Relationship Id="rId17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2.png"/><Relationship Id="rId3" Type="http://schemas.openxmlformats.org/officeDocument/2006/relationships/image" Target="../media/image23.sv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jpe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4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9.png"/><Relationship Id="rId4" Type="http://schemas.microsoft.com/office/2007/relationships/hdphoto" Target="../media/hdphoto3.wdp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2.png"/><Relationship Id="rId3" Type="http://schemas.openxmlformats.org/officeDocument/2006/relationships/image" Target="../media/image50.svg"/><Relationship Id="rId4" Type="http://schemas.openxmlformats.org/officeDocument/2006/relationships/image" Target="../media/image5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2.png"/><Relationship Id="rId3" Type="http://schemas.openxmlformats.org/officeDocument/2006/relationships/image" Target="../media/image50.svg"/><Relationship Id="rId4" Type="http://schemas.openxmlformats.org/officeDocument/2006/relationships/image" Target="../media/image5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2.png"/><Relationship Id="rId3" Type="http://schemas.openxmlformats.org/officeDocument/2006/relationships/image" Target="../media/image50.svg"/><Relationship Id="rId4" Type="http://schemas.openxmlformats.org/officeDocument/2006/relationships/image" Target="../media/image5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2.png"/><Relationship Id="rId3" Type="http://schemas.openxmlformats.org/officeDocument/2006/relationships/image" Target="../media/image50.svg"/><Relationship Id="rId4" Type="http://schemas.openxmlformats.org/officeDocument/2006/relationships/image" Target="../media/image5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50.sv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2.png"/><Relationship Id="rId3" Type="http://schemas.openxmlformats.org/officeDocument/2006/relationships/image" Target="../media/image50.svg"/><Relationship Id="rId4" Type="http://schemas.openxmlformats.org/officeDocument/2006/relationships/image" Target="../media/image51.png"/><Relationship Id="rId5" Type="http://schemas.openxmlformats.org/officeDocument/2006/relationships/image" Target="../media/image54.png"/><Relationship Id="rId6" Type="http://schemas.openxmlformats.org/officeDocument/2006/relationships/image" Target="../media/image55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9.png"/><Relationship Id="rId4" Type="http://schemas.microsoft.com/office/2007/relationships/hdphoto" Target="../media/hdphoto3.wdp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2.png"/><Relationship Id="rId3" Type="http://schemas.openxmlformats.org/officeDocument/2006/relationships/image" Target="../media/image50.svg"/><Relationship Id="rId4" Type="http://schemas.openxmlformats.org/officeDocument/2006/relationships/image" Target="../media/image51.png"/><Relationship Id="rId5" Type="http://schemas.openxmlformats.org/officeDocument/2006/relationships/image" Target="../media/image530.png"/><Relationship Id="rId6" Type="http://schemas.openxmlformats.org/officeDocument/2006/relationships/image" Target="../media/image540.png"/><Relationship Id="rId7" Type="http://schemas.openxmlformats.org/officeDocument/2006/relationships/image" Target="../media/image5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2.png"/><Relationship Id="rId3" Type="http://schemas.openxmlformats.org/officeDocument/2006/relationships/image" Target="../media/image50.svg"/><Relationship Id="rId4" Type="http://schemas.openxmlformats.org/officeDocument/2006/relationships/image" Target="../media/image5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2.png"/><Relationship Id="rId3" Type="http://schemas.openxmlformats.org/officeDocument/2006/relationships/image" Target="../media/image50.svg"/><Relationship Id="rId4" Type="http://schemas.openxmlformats.org/officeDocument/2006/relationships/image" Target="../media/image51.png"/><Relationship Id="rId5" Type="http://schemas.openxmlformats.org/officeDocument/2006/relationships/image" Target="../media/image5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2.png"/><Relationship Id="rId3" Type="http://schemas.openxmlformats.org/officeDocument/2006/relationships/image" Target="../media/image50.svg"/><Relationship Id="rId4" Type="http://schemas.openxmlformats.org/officeDocument/2006/relationships/image" Target="../media/image5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2.png"/><Relationship Id="rId3" Type="http://schemas.openxmlformats.org/officeDocument/2006/relationships/image" Target="../media/image50.sv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3.xml"/><Relationship Id="rId3" Type="http://schemas.microsoft.com/office/2011/relationships/webextension" Target="../webextensions/webextension2.xml"/><Relationship Id="rId4" Type="http://schemas.openxmlformats.org/officeDocument/2006/relationships/image" Target="../media/image6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13.xml"/><Relationship Id="rId3" Type="http://schemas.microsoft.com/office/2011/relationships/webextension" Target="../webextensions/webextension3.xml"/><Relationship Id="rId4" Type="http://schemas.openxmlformats.org/officeDocument/2006/relationships/image" Target="../media/image6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Layout" Target="../slideLayouts/slideLayout13.xml"/><Relationship Id="rId3" Type="http://schemas.microsoft.com/office/2011/relationships/webextension" Target="../webextensions/webextension4.xml"/><Relationship Id="rId4" Type="http://schemas.openxmlformats.org/officeDocument/2006/relationships/image" Target="../media/image6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Layout" Target="../slideLayouts/slideLayout13.xml"/><Relationship Id="rId3" Type="http://schemas.microsoft.com/office/2011/relationships/webextension" Target="../webextensions/webextension5.xml"/><Relationship Id="rId4" Type="http://schemas.openxmlformats.org/officeDocument/2006/relationships/image" Target="../media/image6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Layout" Target="../slideLayouts/slideLayout13.xml"/><Relationship Id="rId3" Type="http://schemas.microsoft.com/office/2011/relationships/webextension" Target="../webextensions/webextension6.xml"/><Relationship Id="rId4" Type="http://schemas.openxmlformats.org/officeDocument/2006/relationships/image" Target="../media/image6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Layout" Target="../slideLayouts/slideLayout13.xml"/><Relationship Id="rId3" Type="http://schemas.microsoft.com/office/2011/relationships/webextension" Target="../webextensions/webextension7.xml"/><Relationship Id="rId4" Type="http://schemas.openxmlformats.org/officeDocument/2006/relationships/image" Target="../media/image6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2.png"/><Relationship Id="rId3" Type="http://schemas.openxmlformats.org/officeDocument/2006/relationships/image" Target="../media/image50.svg"/><Relationship Id="rId4" Type="http://schemas.openxmlformats.org/officeDocument/2006/relationships/image" Target="../media/image6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2.png"/><Relationship Id="rId3" Type="http://schemas.openxmlformats.org/officeDocument/2006/relationships/image" Target="../media/image50.svg"/><Relationship Id="rId4" Type="http://schemas.openxmlformats.org/officeDocument/2006/relationships/image" Target="../media/image6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2.png"/><Relationship Id="rId3" Type="http://schemas.openxmlformats.org/officeDocument/2006/relationships/image" Target="../media/image50.svg"/><Relationship Id="rId4" Type="http://schemas.openxmlformats.org/officeDocument/2006/relationships/image" Target="../media/image6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2.png"/><Relationship Id="rId3" Type="http://schemas.openxmlformats.org/officeDocument/2006/relationships/image" Target="../media/image50.svg"/><Relationship Id="rId4" Type="http://schemas.openxmlformats.org/officeDocument/2006/relationships/image" Target="../media/image6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2.png"/><Relationship Id="rId3" Type="http://schemas.openxmlformats.org/officeDocument/2006/relationships/image" Target="../media/image50.svg"/><Relationship Id="rId4" Type="http://schemas.openxmlformats.org/officeDocument/2006/relationships/image" Target="../media/image5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9.png"/><Relationship Id="rId4" Type="http://schemas.microsoft.com/office/2007/relationships/hdphoto" Target="../media/hdphoto3.wdp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2.png"/><Relationship Id="rId3" Type="http://schemas.openxmlformats.org/officeDocument/2006/relationships/image" Target="../media/image50.svg"/><Relationship Id="rId4" Type="http://schemas.openxmlformats.org/officeDocument/2006/relationships/image" Target="../media/image51.png"/><Relationship Id="rId5" Type="http://schemas.openxmlformats.org/officeDocument/2006/relationships/image" Target="../media/image640.png"/><Relationship Id="rId6" Type="http://schemas.openxmlformats.org/officeDocument/2006/relationships/image" Target="../media/image650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2.png"/><Relationship Id="rId3" Type="http://schemas.openxmlformats.org/officeDocument/2006/relationships/image" Target="../media/image50.svg"/><Relationship Id="rId4" Type="http://schemas.openxmlformats.org/officeDocument/2006/relationships/image" Target="../media/image51.png"/><Relationship Id="rId5" Type="http://schemas.openxmlformats.org/officeDocument/2006/relationships/image" Target="../media/image660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2.png"/><Relationship Id="rId3" Type="http://schemas.openxmlformats.org/officeDocument/2006/relationships/image" Target="../media/image50.svg"/><Relationship Id="rId4" Type="http://schemas.openxmlformats.org/officeDocument/2006/relationships/image" Target="../media/image51.png"/><Relationship Id="rId5" Type="http://schemas.openxmlformats.org/officeDocument/2006/relationships/image" Target="../media/image670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2.png"/><Relationship Id="rId3" Type="http://schemas.openxmlformats.org/officeDocument/2006/relationships/image" Target="../media/image50.svg"/><Relationship Id="rId4" Type="http://schemas.openxmlformats.org/officeDocument/2006/relationships/image" Target="../media/image5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2.png"/><Relationship Id="rId3" Type="http://schemas.openxmlformats.org/officeDocument/2006/relationships/image" Target="../media/image50.svg"/><Relationship Id="rId4" Type="http://schemas.openxmlformats.org/officeDocument/2006/relationships/image" Target="../media/image5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2.png"/><Relationship Id="rId3" Type="http://schemas.openxmlformats.org/officeDocument/2006/relationships/image" Target="../media/image50.svg"/><Relationship Id="rId4" Type="http://schemas.openxmlformats.org/officeDocument/2006/relationships/image" Target="../media/image5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2.png"/><Relationship Id="rId3" Type="http://schemas.openxmlformats.org/officeDocument/2006/relationships/image" Target="../media/image50.svg"/><Relationship Id="rId4" Type="http://schemas.openxmlformats.org/officeDocument/2006/relationships/image" Target="../media/image51.png"/><Relationship Id="rId5" Type="http://schemas.openxmlformats.org/officeDocument/2006/relationships/image" Target="../media/image69.jpe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2.png"/><Relationship Id="rId3" Type="http://schemas.openxmlformats.org/officeDocument/2006/relationships/image" Target="../media/image50.svg"/><Relationship Id="rId4" Type="http://schemas.openxmlformats.org/officeDocument/2006/relationships/image" Target="../media/image5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0.png"/><Relationship Id="rId4" Type="http://schemas.openxmlformats.org/officeDocument/2006/relationships/image" Target="../media/image71.sv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7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"/>
          <p:cNvSpPr txBox="1">
            <a:spLocks noGrp="1"/>
          </p:cNvSpPr>
          <p:nvPr>
            <p:ph type="ctrTitle"/>
          </p:nvPr>
        </p:nvSpPr>
        <p:spPr>
          <a:xfrm>
            <a:off x="1017455" y="1973074"/>
            <a:ext cx="6878767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</a:pPr>
            <a:r>
              <a:rPr lang="de-DE" dirty="0">
                <a:solidFill>
                  <a:srgbClr val="AF0333"/>
                </a:solidFill>
              </a:rPr>
              <a:t>Efficient</a:t>
            </a:r>
            <a:r>
              <a:rPr lang="de-DE" dirty="0"/>
              <a:t> Information Retrieval /</a:t>
            </a:r>
            <a:br>
              <a:rPr lang="de-DE" dirty="0"/>
            </a:br>
            <a:r>
              <a:rPr lang="de-DE" dirty="0">
                <a:solidFill>
                  <a:srgbClr val="AF0333"/>
                </a:solidFill>
              </a:rPr>
              <a:t>Reinforcement Learning </a:t>
            </a:r>
            <a:r>
              <a:rPr lang="de-DE" dirty="0"/>
              <a:t>from Human Feedback</a:t>
            </a:r>
            <a:endParaRPr dirty="0">
              <a:solidFill>
                <a:srgbClr val="AF0333"/>
              </a:solidFill>
            </a:endParaRPr>
          </a:p>
        </p:txBody>
      </p:sp>
      <p:sp>
        <p:nvSpPr>
          <p:cNvPr id="193" name="Google Shape;193;p21"/>
          <p:cNvSpPr txBox="1">
            <a:spLocks noGrp="1"/>
          </p:cNvSpPr>
          <p:nvPr>
            <p:ph type="subTitle" idx="1"/>
          </p:nvPr>
        </p:nvSpPr>
        <p:spPr>
          <a:xfrm>
            <a:off x="1017456" y="3328047"/>
            <a:ext cx="7362973" cy="755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de-DE" dirty="0"/>
              <a:t>Local </a:t>
            </a:r>
            <a:r>
              <a:rPr lang="de-DE" dirty="0">
                <a:solidFill>
                  <a:srgbClr val="DE6103"/>
                </a:solidFill>
              </a:rPr>
              <a:t>R</a:t>
            </a:r>
            <a:r>
              <a:rPr lang="de-DE" dirty="0"/>
              <a:t>etrieval </a:t>
            </a:r>
            <a:r>
              <a:rPr lang="de-DE" dirty="0" err="1">
                <a:solidFill>
                  <a:srgbClr val="DE6103"/>
                </a:solidFill>
              </a:rPr>
              <a:t>A</a:t>
            </a:r>
            <a:r>
              <a:rPr lang="de-DE" dirty="0" err="1"/>
              <a:t>ugmented</a:t>
            </a:r>
            <a:r>
              <a:rPr lang="de-DE" dirty="0"/>
              <a:t>-</a:t>
            </a:r>
            <a:r>
              <a:rPr lang="de-DE" dirty="0">
                <a:solidFill>
                  <a:srgbClr val="DE6103"/>
                </a:solidFill>
              </a:rPr>
              <a:t>G</a:t>
            </a:r>
            <a:r>
              <a:rPr lang="de-DE" dirty="0"/>
              <a:t>eneration System</a:t>
            </a:r>
          </a:p>
        </p:txBody>
      </p:sp>
    </p:spTree>
    <p:extLst>
      <p:ext uri="{BB962C8B-B14F-4D97-AF65-F5344CB8AC3E}">
        <p14:creationId xmlns:p14="http://schemas.microsoft.com/office/powerpoint/2010/main" val="802685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</a:pPr>
            <a:r>
              <a:rPr lang="en-GB" dirty="0" err="1"/>
              <a:t>Attendance list</a:t>
            </a:r>
            <a:endParaRPr lang="en-GB" dirty="0"/>
          </a:p>
        </p:txBody>
      </p:sp>
      <p:sp>
        <p:nvSpPr>
          <p:cNvPr id="231" name="Google Shape;231;p2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+mj-lt"/>
              <a:buAutoNum type="arabicPeriod"/>
            </a:pPr>
            <a:endParaRPr lang="de-DE" dirty="0"/>
          </a:p>
          <a:p>
            <a:pPr lvl="0" indent="-457200" algn="l" rtl="0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+mj-lt"/>
              <a:buAutoNum type="arabicPeriod"/>
            </a:pPr>
            <a:endParaRPr lang="de-DE" dirty="0"/>
          </a:p>
          <a:p>
            <a:pPr lvl="0" indent="-457200" algn="l" rtl="0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+mj-lt"/>
              <a:buAutoNum type="arabicPeriod"/>
            </a:pPr>
            <a:endParaRPr dirty="0"/>
          </a:p>
        </p:txBody>
      </p:sp>
      <p:pic>
        <p:nvPicPr>
          <p:cNvPr id="4" name="Graphic 3" descr="Checklist with solid fill">
            <a:extLst>
              <a:ext uri="{FF2B5EF4-FFF2-40B4-BE49-F238E27FC236}">
                <a16:creationId xmlns:a16="http://schemas.microsoft.com/office/drawing/2014/main" id="{57AE41D8-44D5-41F3-8951-D4DAF954DE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76700" y="1409700"/>
            <a:ext cx="403860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325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A0781-A429-84C7-E52F-04B7E99A1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44CB7C-816B-2337-1C0B-5CE3AA6B38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E83B5A7A-C032-031C-6493-D782295A17BF}"/>
              </a:ext>
            </a:extLst>
          </p:cNvPr>
          <p:cNvSpPr txBox="1"/>
          <p:nvPr/>
        </p:nvSpPr>
        <p:spPr>
          <a:xfrm>
            <a:off x="154405" y="2193922"/>
            <a:ext cx="2353002" cy="158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00"/>
              </a:lnSpc>
            </a:pPr>
            <a:r>
              <a:rPr lang="en-US" sz="700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https://hpi.de/ki-servicezentrum/</a:t>
            </a:r>
          </a:p>
        </p:txBody>
      </p:sp>
      <p:pic>
        <p:nvPicPr>
          <p:cNvPr id="6" name="Grafik 14" descr="Ein Bild, das Muster, Quadrat, Symmetrie, Kunst enthält.&#10;&#10;KI-generierte Inhalte können fehlerhaft sein.">
            <a:extLst>
              <a:ext uri="{FF2B5EF4-FFF2-40B4-BE49-F238E27FC236}">
                <a16:creationId xmlns:a16="http://schemas.microsoft.com/office/drawing/2014/main" id="{97330878-F183-C9C7-40F1-178B94F890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213" y="215811"/>
            <a:ext cx="1968183" cy="1968183"/>
          </a:xfrm>
          <a:prstGeom prst="rect">
            <a:avLst/>
          </a:prstGeom>
        </p:spPr>
      </p:pic>
      <p:sp>
        <p:nvSpPr>
          <p:cNvPr id="7" name="Freeform 7">
            <a:extLst>
              <a:ext uri="{FF2B5EF4-FFF2-40B4-BE49-F238E27FC236}">
                <a16:creationId xmlns:a16="http://schemas.microsoft.com/office/drawing/2014/main" id="{11220657-1B3B-22CB-C7BE-8EE2068E40EA}"/>
              </a:ext>
            </a:extLst>
          </p:cNvPr>
          <p:cNvSpPr/>
          <p:nvPr/>
        </p:nvSpPr>
        <p:spPr>
          <a:xfrm>
            <a:off x="3140829" y="1234068"/>
            <a:ext cx="8941583" cy="3947532"/>
          </a:xfrm>
          <a:custGeom>
            <a:avLst/>
            <a:gdLst/>
            <a:ahLst/>
            <a:cxnLst/>
            <a:rect l="l" t="t" r="r" b="b"/>
            <a:pathLst>
              <a:path w="18953681" h="8481772">
                <a:moveTo>
                  <a:pt x="0" y="0"/>
                </a:moveTo>
                <a:lnTo>
                  <a:pt x="18953681" y="0"/>
                </a:lnTo>
                <a:lnTo>
                  <a:pt x="18953681" y="8481772"/>
                </a:lnTo>
                <a:lnTo>
                  <a:pt x="0" y="84817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DE" sz="700"/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DFB0DAD9-67EF-5050-EC48-8014D6007579}"/>
              </a:ext>
            </a:extLst>
          </p:cNvPr>
          <p:cNvSpPr txBox="1"/>
          <p:nvPr/>
        </p:nvSpPr>
        <p:spPr>
          <a:xfrm>
            <a:off x="3140830" y="244980"/>
            <a:ext cx="7796395" cy="5411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b="1" dirty="0" err="1">
                <a:latin typeface="Code Pro Bold"/>
                <a:ea typeface="Code Pro Bold"/>
                <a:cs typeface="Code Pro Bold"/>
                <a:sym typeface="Code Pro Bold"/>
              </a:rPr>
              <a:t>Four</a:t>
            </a:r>
            <a:r>
              <a:rPr lang="en-US" sz="3200" b="1" dirty="0">
                <a:latin typeface="Code Pro Bold"/>
                <a:ea typeface="Code Pro Bold"/>
                <a:cs typeface="Code Pro Bold"/>
                <a:sym typeface="Code Pro Bold"/>
              </a:rPr>
              <a:t> AI service </a:t>
            </a:r>
            <a:r>
              <a:rPr lang="en-US" sz="3200" b="1" dirty="0" err="1">
                <a:latin typeface="Code Pro Bold"/>
                <a:ea typeface="Code Pro Bold"/>
                <a:cs typeface="Code Pro Bold"/>
                <a:sym typeface="Code Pro Bold"/>
              </a:rPr>
              <a:t>centers</a:t>
            </a:r>
            <a:r>
              <a:rPr lang="en-US" sz="3200" b="1" dirty="0">
                <a:latin typeface="Code Pro Bold"/>
                <a:ea typeface="Code Pro Bold"/>
                <a:cs typeface="Code Pro Bold"/>
                <a:sym typeface="Code Pro Bold"/>
              </a:rPr>
              <a:t> in Germany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56276569-B57C-8093-EB4D-F7F8B296EC50}"/>
              </a:ext>
            </a:extLst>
          </p:cNvPr>
          <p:cNvSpPr/>
          <p:nvPr/>
        </p:nvSpPr>
        <p:spPr>
          <a:xfrm>
            <a:off x="3140830" y="5449908"/>
            <a:ext cx="3185381" cy="1149304"/>
          </a:xfrm>
          <a:custGeom>
            <a:avLst/>
            <a:gdLst/>
            <a:ahLst/>
            <a:cxnLst/>
            <a:rect l="l" t="t" r="r" b="b"/>
            <a:pathLst>
              <a:path w="6370762" h="2298608">
                <a:moveTo>
                  <a:pt x="0" y="0"/>
                </a:moveTo>
                <a:lnTo>
                  <a:pt x="6370762" y="0"/>
                </a:lnTo>
                <a:lnTo>
                  <a:pt x="6370762" y="2298608"/>
                </a:lnTo>
                <a:lnTo>
                  <a:pt x="0" y="2298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DE" sz="700"/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9AE4B95F-D71D-60AE-70BB-0DEBCE09D6BE}"/>
              </a:ext>
            </a:extLst>
          </p:cNvPr>
          <p:cNvSpPr txBox="1"/>
          <p:nvPr/>
        </p:nvSpPr>
        <p:spPr>
          <a:xfrm>
            <a:off x="9151436" y="5449908"/>
            <a:ext cx="2623482" cy="858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</a:pPr>
            <a:r>
              <a:rPr lang="en-US" sz="1200" b="1" dirty="0" err="1">
                <a:latin typeface="Codec Pro Bold"/>
                <a:ea typeface="Codec Pro Bold"/>
                <a:cs typeface="Codec Pro Bold"/>
                <a:sym typeface="Codec Pro Bold"/>
              </a:rPr>
              <a:t>Goal</a:t>
            </a:r>
            <a:r>
              <a:rPr lang="en-US" sz="1200" b="1" dirty="0">
                <a:latin typeface="Codec Pro Bold"/>
                <a:ea typeface="Codec Pro Bold"/>
                <a:cs typeface="Codec Pro Bold"/>
                <a:sym typeface="Codec Pro Bold"/>
              </a:rPr>
              <a:t>: </a:t>
            </a:r>
            <a:br>
              <a:rPr lang="en-US" sz="1200" b="1" dirty="0">
                <a:latin typeface="Codec Pro Bold"/>
                <a:ea typeface="Codec Pro Bold"/>
                <a:cs typeface="Codec Pro Bold"/>
                <a:sym typeface="Codec Pro Bold"/>
              </a:rPr>
            </a:br>
            <a:r>
              <a:rPr lang="en-US" sz="1200" b="1" dirty="0" err="1">
                <a:latin typeface="Codec Pro Bold"/>
                <a:ea typeface="Codec Pro Bold"/>
                <a:cs typeface="Codec Pro Bold"/>
                <a:sym typeface="Codec Pro Bold"/>
              </a:rPr>
              <a:t>Reducing</a:t>
            </a:r>
            <a:r>
              <a:rPr lang="en-US" sz="1200" b="1" dirty="0">
                <a:latin typeface="Codec Pro Bold"/>
                <a:ea typeface="Codec Pro Bold"/>
                <a:cs typeface="Codec Pro Bold"/>
                <a:sym typeface="Codec Pro Bold"/>
              </a:rPr>
              <a:t> barriers to </a:t>
            </a:r>
            <a:r>
              <a:rPr lang="en-US" sz="1200" b="1" dirty="0" err="1">
                <a:latin typeface="Codec Pro Bold"/>
                <a:ea typeface="Codec Pro Bold"/>
                <a:cs typeface="Codec Pro Bold"/>
                <a:sym typeface="Codec Pro Bold"/>
              </a:rPr>
              <a:t>implementing</a:t>
            </a:r>
            <a:r>
              <a:rPr lang="en-US" sz="1200" b="1" dirty="0"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sz="1200" b="1" dirty="0" err="1">
                <a:latin typeface="Codec Pro Bold"/>
                <a:ea typeface="Codec Pro Bold"/>
                <a:cs typeface="Codec Pro Bold"/>
                <a:sym typeface="Codec Pro Bold"/>
              </a:rPr>
              <a:t>AI</a:t>
            </a:r>
            <a:r>
              <a:rPr lang="en-US" sz="1200" b="1" dirty="0"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sz="1200" b="1" dirty="0" err="1">
                <a:latin typeface="Codec Pro Bold"/>
                <a:ea typeface="Codec Pro Bold"/>
                <a:cs typeface="Codec Pro Bold"/>
                <a:sym typeface="Codec Pro Bold"/>
              </a:rPr>
              <a:t>applications</a:t>
            </a:r>
            <a:r>
              <a:rPr lang="en-US" sz="1200" b="1" dirty="0">
                <a:latin typeface="Codec Pro Bold"/>
                <a:ea typeface="Codec Pro Bold"/>
                <a:cs typeface="Codec Pro Bold"/>
                <a:sym typeface="Codec Pro Bold"/>
              </a:rPr>
              <a:t> in</a:t>
            </a:r>
            <a:r>
              <a:rPr lang="en-US" sz="1200" b="1" dirty="0" err="1">
                <a:latin typeface="Codec Pro Bold"/>
                <a:ea typeface="Codec Pro Bold"/>
                <a:cs typeface="Codec Pro Bold"/>
                <a:sym typeface="Codec Pro Bold"/>
              </a:rPr>
              <a:t> society</a:t>
            </a:r>
            <a:r>
              <a:rPr lang="en-US" sz="1200" b="1" dirty="0">
                <a:latin typeface="Codec Pro Bold"/>
                <a:ea typeface="Codec Pro Bold"/>
                <a:cs typeface="Codec Pro Bold"/>
                <a:sym typeface="Codec Pro Bold"/>
              </a:rPr>
              <a:t> and </a:t>
            </a:r>
            <a:r>
              <a:rPr lang="en-US" sz="1200" b="1" dirty="0" err="1">
                <a:latin typeface="Codec Pro Bold"/>
                <a:ea typeface="Codec Pro Bold"/>
                <a:cs typeface="Codec Pro Bold"/>
                <a:sym typeface="Codec Pro Bold"/>
              </a:rPr>
              <a:t>industry</a:t>
            </a:r>
            <a:r>
              <a:rPr lang="en-US" sz="1200" b="1" dirty="0">
                <a:latin typeface="Codec Pro Bold"/>
                <a:ea typeface="Codec Pro Bold"/>
                <a:cs typeface="Codec Pro Bold"/>
                <a:sym typeface="Codec Pro Bold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D681A6-2903-0E00-9429-442F60E2959F}"/>
              </a:ext>
            </a:extLst>
          </p:cNvPr>
          <p:cNvSpPr txBox="1"/>
          <p:nvPr/>
        </p:nvSpPr>
        <p:spPr>
          <a:xfrm>
            <a:off x="17676" y="3261855"/>
            <a:ext cx="2963417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</a:pPr>
            <a:r>
              <a:rPr lang="en-US" sz="2272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Overview</a:t>
            </a:r>
            <a:endParaRPr lang="en-US" sz="2272" b="1" dirty="0">
              <a:solidFill>
                <a:srgbClr val="FFFFFF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</p:spTree>
    <p:extLst>
      <p:ext uri="{BB962C8B-B14F-4D97-AF65-F5344CB8AC3E}">
        <p14:creationId xmlns:p14="http://schemas.microsoft.com/office/powerpoint/2010/main" val="2835269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5B9D5-C669-9789-E7FB-7BA296A2A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9AA8490-8118-47A6-28AC-DEED3C611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AI Service Center</a:t>
            </a:r>
            <a:br>
              <a:rPr lang="en-DE" dirty="0"/>
            </a:br>
            <a:r>
              <a:rPr lang="en-DE" dirty="0"/>
              <a:t>Berlin</a:t>
            </a:r>
            <a:r>
              <a:rPr lang="de-DE" dirty="0"/>
              <a:t> </a:t>
            </a:r>
            <a:r>
              <a:rPr lang="en-DE" dirty="0"/>
              <a:t>Brandenburg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B47FB6-844E-F1FF-AD15-B46D392EAD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4</a:t>
            </a:fld>
            <a:endParaRPr lang="de-DE" dirty="0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75F315CF-ECA7-2F10-6207-C7C65204DC38}"/>
              </a:ext>
            </a:extLst>
          </p:cNvPr>
          <p:cNvGraphicFramePr/>
          <p:nvPr/>
        </p:nvGraphicFramePr>
        <p:xfrm>
          <a:off x="4054207" y="1994053"/>
          <a:ext cx="7571036" cy="41222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1CAA34B-17A4-5BA1-3C50-11FD2631C0BE}"/>
              </a:ext>
            </a:extLst>
          </p:cNvPr>
          <p:cNvSpPr txBox="1"/>
          <p:nvPr/>
        </p:nvSpPr>
        <p:spPr>
          <a:xfrm>
            <a:off x="17676" y="3261855"/>
            <a:ext cx="2963417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</a:pPr>
            <a:r>
              <a:rPr lang="en-US" sz="2272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Structure</a:t>
            </a:r>
            <a:endParaRPr lang="en-US" sz="2272" b="1" dirty="0">
              <a:solidFill>
                <a:srgbClr val="FFFFFF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</p:spTree>
    <p:extLst>
      <p:ext uri="{BB962C8B-B14F-4D97-AF65-F5344CB8AC3E}">
        <p14:creationId xmlns:p14="http://schemas.microsoft.com/office/powerpoint/2010/main" val="241810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751C4-9230-6036-F7AD-6920F42A1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00A72E-4960-1CE0-2EE2-0DEAB889E9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B6E1DE-D93E-2CB9-EA96-D34751FD7FCB}"/>
              </a:ext>
            </a:extLst>
          </p:cNvPr>
          <p:cNvSpPr txBox="1"/>
          <p:nvPr/>
        </p:nvSpPr>
        <p:spPr>
          <a:xfrm>
            <a:off x="17676" y="3261855"/>
            <a:ext cx="2963417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</a:pPr>
            <a:r>
              <a:rPr lang="en-US" sz="2272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Research</a:t>
            </a:r>
            <a:endParaRPr lang="en-US" sz="2272" b="1" dirty="0">
              <a:solidFill>
                <a:srgbClr val="FFFFFF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AA1BB975-2081-F515-B90C-A272E2AB8068}"/>
              </a:ext>
            </a:extLst>
          </p:cNvPr>
          <p:cNvSpPr txBox="1"/>
          <p:nvPr/>
        </p:nvSpPr>
        <p:spPr>
          <a:xfrm>
            <a:off x="3047843" y="2714942"/>
            <a:ext cx="3492689" cy="1093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3" lvl="1" indent="-226696">
              <a:lnSpc>
                <a:spcPts val="2940"/>
              </a:lnSpc>
              <a:buFont typeface="Arial"/>
              <a:buChar char="•"/>
            </a:pPr>
            <a:r>
              <a:rPr lang="en-US" sz="2100" b="1" dirty="0">
                <a:latin typeface="Code Pro Bold"/>
                <a:ea typeface="Code Pro Bold"/>
                <a:cs typeface="Code Pro Bold"/>
                <a:sym typeface="Code Pro Bold"/>
              </a:rPr>
              <a:t>AI methods research</a:t>
            </a:r>
          </a:p>
          <a:p>
            <a:pPr>
              <a:lnSpc>
                <a:spcPts val="2940"/>
              </a:lnSpc>
            </a:pPr>
            <a:endParaRPr lang="en-US" sz="2100" b="1" dirty="0">
              <a:latin typeface="Code Pro Bold"/>
              <a:ea typeface="Code Pro Bold"/>
              <a:cs typeface="Code Pro Bold"/>
              <a:sym typeface="Code Pro Bold"/>
            </a:endParaRPr>
          </a:p>
          <a:p>
            <a:pPr marL="453393" lvl="1" indent="-226696">
              <a:lnSpc>
                <a:spcPts val="2940"/>
              </a:lnSpc>
              <a:buFont typeface="Arial"/>
              <a:buChar char="•"/>
            </a:pPr>
            <a:r>
              <a:rPr lang="en-US" sz="2100" b="1" dirty="0">
                <a:latin typeface="Code Pro Bold"/>
                <a:ea typeface="Code Pro Bold"/>
                <a:cs typeface="Code Pro Bold"/>
                <a:sym typeface="Code Pro Bold"/>
              </a:rPr>
              <a:t>AI operations research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B8188459-45B2-4B45-1CB1-C5D00C77C28B}"/>
              </a:ext>
            </a:extLst>
          </p:cNvPr>
          <p:cNvSpPr/>
          <p:nvPr/>
        </p:nvSpPr>
        <p:spPr>
          <a:xfrm>
            <a:off x="6359752" y="597041"/>
            <a:ext cx="2841072" cy="4212855"/>
          </a:xfrm>
          <a:custGeom>
            <a:avLst/>
            <a:gdLst/>
            <a:ahLst/>
            <a:cxnLst/>
            <a:rect l="l" t="t" r="r" b="b"/>
            <a:pathLst>
              <a:path w="5682144" h="8425710">
                <a:moveTo>
                  <a:pt x="0" y="0"/>
                </a:moveTo>
                <a:lnTo>
                  <a:pt x="5682145" y="0"/>
                </a:lnTo>
                <a:lnTo>
                  <a:pt x="5682145" y="8425710"/>
                </a:lnTo>
                <a:lnTo>
                  <a:pt x="0" y="84257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61" r="-2666"/>
            </a:stretch>
          </a:blipFill>
          <a:ln w="19050" cap="sq">
            <a:solidFill>
              <a:srgbClr val="DDDAD5"/>
            </a:solidFill>
            <a:prstDash val="solid"/>
            <a:miter/>
          </a:ln>
        </p:spPr>
        <p:txBody>
          <a:bodyPr/>
          <a:lstStyle/>
          <a:p>
            <a:endParaRPr lang="en-DE" sz="700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04E0CE9-3F94-E80B-3DA3-ABF4B341B2A1}"/>
              </a:ext>
            </a:extLst>
          </p:cNvPr>
          <p:cNvSpPr/>
          <p:nvPr/>
        </p:nvSpPr>
        <p:spPr>
          <a:xfrm>
            <a:off x="7732162" y="1553404"/>
            <a:ext cx="2787040" cy="3930553"/>
          </a:xfrm>
          <a:custGeom>
            <a:avLst/>
            <a:gdLst/>
            <a:ahLst/>
            <a:cxnLst/>
            <a:rect l="l" t="t" r="r" b="b"/>
            <a:pathLst>
              <a:path w="5574080" h="7861105">
                <a:moveTo>
                  <a:pt x="0" y="0"/>
                </a:moveTo>
                <a:lnTo>
                  <a:pt x="5574080" y="0"/>
                </a:lnTo>
                <a:lnTo>
                  <a:pt x="5574080" y="7861105"/>
                </a:lnTo>
                <a:lnTo>
                  <a:pt x="0" y="78611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DE" sz="700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141C34E0-B520-7A00-4EB0-0A449FE7779D}"/>
              </a:ext>
            </a:extLst>
          </p:cNvPr>
          <p:cNvSpPr/>
          <p:nvPr/>
        </p:nvSpPr>
        <p:spPr>
          <a:xfrm>
            <a:off x="9125682" y="2547102"/>
            <a:ext cx="2838741" cy="3830213"/>
          </a:xfrm>
          <a:custGeom>
            <a:avLst/>
            <a:gdLst/>
            <a:ahLst/>
            <a:cxnLst/>
            <a:rect l="l" t="t" r="r" b="b"/>
            <a:pathLst>
              <a:path w="5677481" h="7660426">
                <a:moveTo>
                  <a:pt x="0" y="0"/>
                </a:moveTo>
                <a:lnTo>
                  <a:pt x="5677481" y="0"/>
                </a:lnTo>
                <a:lnTo>
                  <a:pt x="5677481" y="7660426"/>
                </a:lnTo>
                <a:lnTo>
                  <a:pt x="0" y="766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648"/>
            </a:stretch>
          </a:blipFill>
          <a:ln w="19050" cap="sq">
            <a:solidFill>
              <a:srgbClr val="DDDAD5"/>
            </a:solidFill>
            <a:prstDash val="solid"/>
            <a:miter/>
          </a:ln>
        </p:spPr>
        <p:txBody>
          <a:bodyPr/>
          <a:lstStyle/>
          <a:p>
            <a:endParaRPr lang="en-DE" sz="700"/>
          </a:p>
        </p:txBody>
      </p:sp>
    </p:spTree>
    <p:extLst>
      <p:ext uri="{BB962C8B-B14F-4D97-AF65-F5344CB8AC3E}">
        <p14:creationId xmlns:p14="http://schemas.microsoft.com/office/powerpoint/2010/main" val="50229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C13EB-5FFB-05A1-3D2C-DABA3F1F4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2899943-72C4-00C7-5998-5DCAF1F5D7A0}"/>
              </a:ext>
            </a:extLst>
          </p:cNvPr>
          <p:cNvSpPr/>
          <p:nvPr/>
        </p:nvSpPr>
        <p:spPr>
          <a:xfrm rot="-10800000">
            <a:off x="0" y="0"/>
            <a:ext cx="2459133" cy="6858000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en-DE" sz="70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EAC8EFB-0CAD-7489-8B33-3DD87FB3AB27}"/>
              </a:ext>
            </a:extLst>
          </p:cNvPr>
          <p:cNvSpPr/>
          <p:nvPr/>
        </p:nvSpPr>
        <p:spPr>
          <a:xfrm>
            <a:off x="-69850" y="4416211"/>
            <a:ext cx="2528983" cy="2528983"/>
          </a:xfrm>
          <a:custGeom>
            <a:avLst/>
            <a:gdLst/>
            <a:ahLst/>
            <a:cxnLst/>
            <a:rect l="l" t="t" r="r" b="b"/>
            <a:pathLst>
              <a:path w="5057966" h="5057966">
                <a:moveTo>
                  <a:pt x="0" y="0"/>
                </a:moveTo>
                <a:lnTo>
                  <a:pt x="5057966" y="0"/>
                </a:lnTo>
                <a:lnTo>
                  <a:pt x="5057966" y="5057966"/>
                </a:lnTo>
                <a:lnTo>
                  <a:pt x="0" y="5057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DE" sz="70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4F2BEF7-D7D2-FE14-2251-50BCD6EB5DED}"/>
              </a:ext>
            </a:extLst>
          </p:cNvPr>
          <p:cNvSpPr/>
          <p:nvPr/>
        </p:nvSpPr>
        <p:spPr>
          <a:xfrm>
            <a:off x="2678535" y="133789"/>
            <a:ext cx="4901925" cy="2696915"/>
          </a:xfrm>
          <a:custGeom>
            <a:avLst/>
            <a:gdLst/>
            <a:ahLst/>
            <a:cxnLst/>
            <a:rect l="l" t="t" r="r" b="b"/>
            <a:pathLst>
              <a:path w="9803849" h="5393829">
                <a:moveTo>
                  <a:pt x="0" y="0"/>
                </a:moveTo>
                <a:lnTo>
                  <a:pt x="9803850" y="0"/>
                </a:lnTo>
                <a:lnTo>
                  <a:pt x="9803850" y="5393829"/>
                </a:lnTo>
                <a:lnTo>
                  <a:pt x="0" y="53938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729" r="-14973" b="-28518"/>
            </a:stretch>
          </a:blipFill>
        </p:spPr>
        <p:txBody>
          <a:bodyPr/>
          <a:lstStyle/>
          <a:p>
            <a:endParaRPr lang="en-DE" sz="700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0023955A-5B9D-C5DC-79E5-C77719A198B1}"/>
              </a:ext>
            </a:extLst>
          </p:cNvPr>
          <p:cNvSpPr/>
          <p:nvPr/>
        </p:nvSpPr>
        <p:spPr>
          <a:xfrm>
            <a:off x="2678535" y="2981277"/>
            <a:ext cx="4901925" cy="3719180"/>
          </a:xfrm>
          <a:custGeom>
            <a:avLst/>
            <a:gdLst/>
            <a:ahLst/>
            <a:cxnLst/>
            <a:rect l="l" t="t" r="r" b="b"/>
            <a:pathLst>
              <a:path w="9803849" h="7438360">
                <a:moveTo>
                  <a:pt x="0" y="0"/>
                </a:moveTo>
                <a:lnTo>
                  <a:pt x="9803850" y="0"/>
                </a:lnTo>
                <a:lnTo>
                  <a:pt x="9803850" y="7438360"/>
                </a:lnTo>
                <a:lnTo>
                  <a:pt x="0" y="74383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7133" b="-5902"/>
            </a:stretch>
          </a:blipFill>
        </p:spPr>
        <p:txBody>
          <a:bodyPr/>
          <a:lstStyle/>
          <a:p>
            <a:endParaRPr lang="en-DE" sz="700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C1B27D6-AABC-6C43-19A1-97370F2896C7}"/>
              </a:ext>
            </a:extLst>
          </p:cNvPr>
          <p:cNvSpPr txBox="1"/>
          <p:nvPr/>
        </p:nvSpPr>
        <p:spPr>
          <a:xfrm>
            <a:off x="7783660" y="3125725"/>
            <a:ext cx="1680055" cy="3038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</a:pPr>
            <a:r>
              <a:rPr lang="en-US" sz="1200" b="1" dirty="0">
                <a:solidFill>
                  <a:srgbClr val="DC640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Training</a:t>
            </a:r>
          </a:p>
          <a:p>
            <a:pPr marL="259080" lvl="1" indent="-129540">
              <a:lnSpc>
                <a:spcPts val="1680"/>
              </a:lnSpc>
              <a:buFont typeface="Arial"/>
              <a:buChar char="•"/>
            </a:pPr>
            <a:r>
              <a:rPr lang="en-US" sz="1200" dirty="0">
                <a:latin typeface="Codec Pro"/>
                <a:ea typeface="Codec Pro"/>
                <a:cs typeface="Codec Pro"/>
                <a:sym typeface="Codec Pro"/>
              </a:rPr>
              <a:t>64 NVIDIA H100 GPU</a:t>
            </a:r>
          </a:p>
          <a:p>
            <a:pPr>
              <a:lnSpc>
                <a:spcPts val="1680"/>
              </a:lnSpc>
            </a:pPr>
            <a:endParaRPr lang="en-US" sz="1200" dirty="0">
              <a:latin typeface="Codec Pro"/>
              <a:ea typeface="Codec Pro"/>
              <a:cs typeface="Codec Pro"/>
              <a:sym typeface="Codec Pro"/>
            </a:endParaRPr>
          </a:p>
          <a:p>
            <a:pPr>
              <a:lnSpc>
                <a:spcPts val="1680"/>
              </a:lnSpc>
            </a:pPr>
            <a:r>
              <a:rPr lang="en-US" sz="1200" b="1" dirty="0" err="1">
                <a:solidFill>
                  <a:srgbClr val="DC640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Inference</a:t>
            </a:r>
            <a:endParaRPr lang="en-US" sz="1200" b="1" dirty="0">
              <a:solidFill>
                <a:srgbClr val="DC640D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  <a:p>
            <a:pPr marL="259080" lvl="1" indent="-129540">
              <a:lnSpc>
                <a:spcPts val="1680"/>
              </a:lnSpc>
              <a:buFont typeface="Arial"/>
              <a:buChar char="•"/>
            </a:pPr>
            <a:r>
              <a:rPr lang="en-US" sz="1200" dirty="0">
                <a:latin typeface="Codec Pro"/>
                <a:ea typeface="Codec Pro"/>
                <a:cs typeface="Codec Pro"/>
                <a:sym typeface="Codec Pro"/>
              </a:rPr>
              <a:t>40 NVIDIA A30 GPU</a:t>
            </a:r>
          </a:p>
          <a:p>
            <a:pPr>
              <a:lnSpc>
                <a:spcPts val="1680"/>
              </a:lnSpc>
            </a:pPr>
            <a:endParaRPr lang="en-US" sz="1200" dirty="0">
              <a:latin typeface="Codec Pro"/>
              <a:ea typeface="Codec Pro"/>
              <a:cs typeface="Codec Pro"/>
              <a:sym typeface="Codec Pro"/>
            </a:endParaRPr>
          </a:p>
          <a:p>
            <a:pPr>
              <a:lnSpc>
                <a:spcPts val="1680"/>
              </a:lnSpc>
            </a:pPr>
            <a:r>
              <a:rPr lang="en-US" sz="1200" b="1" dirty="0">
                <a:solidFill>
                  <a:srgbClr val="DC640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ARM Server</a:t>
            </a:r>
          </a:p>
          <a:p>
            <a:pPr marL="259080" lvl="1" indent="-129540">
              <a:lnSpc>
                <a:spcPts val="1680"/>
              </a:lnSpc>
              <a:buFont typeface="Arial"/>
              <a:buChar char="•"/>
            </a:pPr>
            <a:r>
              <a:rPr lang="en-US" sz="1200" dirty="0">
                <a:latin typeface="Codec Pro"/>
                <a:ea typeface="Codec Pro"/>
                <a:cs typeface="Codec Pro"/>
                <a:sym typeface="Codec Pro"/>
              </a:rPr>
              <a:t>Ampere </a:t>
            </a:r>
            <a:r>
              <a:rPr lang="en-US" sz="1200" dirty="0" err="1">
                <a:latin typeface="Codec Pro"/>
                <a:ea typeface="Codec Pro"/>
                <a:cs typeface="Codec Pro"/>
                <a:sym typeface="Codec Pro"/>
              </a:rPr>
              <a:t>Altra</a:t>
            </a:r>
            <a:r>
              <a:rPr lang="en-US" sz="1200" dirty="0">
                <a:latin typeface="Codec Pro"/>
                <a:ea typeface="Codec Pro"/>
                <a:cs typeface="Codec Pro"/>
                <a:sym typeface="Codec Pro"/>
              </a:rPr>
              <a:t> Max M128-30 CPU</a:t>
            </a:r>
          </a:p>
          <a:p>
            <a:pPr marL="259080" lvl="1" indent="-129540">
              <a:lnSpc>
                <a:spcPts val="1680"/>
              </a:lnSpc>
              <a:buFont typeface="Arial"/>
              <a:buChar char="•"/>
            </a:pPr>
            <a:r>
              <a:rPr lang="en-US" sz="1200" dirty="0">
                <a:latin typeface="Codec Pro"/>
                <a:ea typeface="Codec Pro"/>
                <a:cs typeface="Codec Pro"/>
                <a:sym typeface="Codec Pro"/>
              </a:rPr>
              <a:t>2 x NVIDIA L40 GPUs</a:t>
            </a:r>
          </a:p>
          <a:p>
            <a:pPr>
              <a:lnSpc>
                <a:spcPts val="1680"/>
              </a:lnSpc>
            </a:pPr>
            <a:endParaRPr lang="en-US" sz="1200" dirty="0">
              <a:latin typeface="Codec Pro"/>
              <a:ea typeface="Codec Pro"/>
              <a:cs typeface="Codec Pro"/>
              <a:sym typeface="Codec Pro"/>
            </a:endParaRPr>
          </a:p>
          <a:p>
            <a:pPr>
              <a:lnSpc>
                <a:spcPts val="1680"/>
              </a:lnSpc>
            </a:pPr>
            <a:r>
              <a:rPr lang="en-US" sz="1200" b="1" dirty="0">
                <a:solidFill>
                  <a:srgbClr val="DC640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GPU Server</a:t>
            </a:r>
          </a:p>
          <a:p>
            <a:pPr marL="259080" lvl="1" indent="-129540">
              <a:lnSpc>
                <a:spcPts val="1680"/>
              </a:lnSpc>
              <a:buFont typeface="Arial"/>
              <a:buChar char="•"/>
            </a:pPr>
            <a:r>
              <a:rPr lang="en-US" sz="1200" dirty="0">
                <a:latin typeface="Codec Pro"/>
                <a:ea typeface="Codec Pro"/>
                <a:cs typeface="Codec Pro"/>
                <a:sym typeface="Codec Pro"/>
              </a:rPr>
              <a:t>AMD </a:t>
            </a:r>
            <a:r>
              <a:rPr lang="en-US" sz="1200" dirty="0" err="1">
                <a:latin typeface="Codec Pro"/>
                <a:ea typeface="Codec Pro"/>
                <a:cs typeface="Codec Pro"/>
                <a:sym typeface="Codec Pro"/>
              </a:rPr>
              <a:t>Epyc</a:t>
            </a:r>
            <a:r>
              <a:rPr lang="en-US" sz="1200" dirty="0">
                <a:latin typeface="Codec Pro"/>
                <a:ea typeface="Codec Pro"/>
                <a:cs typeface="Codec Pro"/>
                <a:sym typeface="Codec Pro"/>
              </a:rPr>
              <a:t> CPU</a:t>
            </a:r>
          </a:p>
          <a:p>
            <a:pPr marL="259080" lvl="1" indent="-129540">
              <a:lnSpc>
                <a:spcPts val="1680"/>
              </a:lnSpc>
              <a:buFont typeface="Arial"/>
              <a:buChar char="•"/>
            </a:pPr>
            <a:r>
              <a:rPr lang="en-US" sz="1200" dirty="0">
                <a:latin typeface="Codec Pro"/>
                <a:ea typeface="Codec Pro"/>
                <a:cs typeface="Codec Pro"/>
                <a:sym typeface="Codec Pro"/>
              </a:rPr>
              <a:t>8 x NVIDIA L40S GPU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62D8A2F-AF28-F6B6-ED76-35E0F1E2662E}"/>
              </a:ext>
            </a:extLst>
          </p:cNvPr>
          <p:cNvSpPr txBox="1"/>
          <p:nvPr/>
        </p:nvSpPr>
        <p:spPr>
          <a:xfrm>
            <a:off x="288253" y="2483260"/>
            <a:ext cx="1932029" cy="168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00"/>
              </a:lnSpc>
            </a:pPr>
            <a:r>
              <a:rPr lang="en-US" sz="1000" b="1" u="sng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aisc.hpi.de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2C19626-C2FF-6692-819D-6A2BC997E596}"/>
              </a:ext>
            </a:extLst>
          </p:cNvPr>
          <p:cNvSpPr txBox="1"/>
          <p:nvPr/>
        </p:nvSpPr>
        <p:spPr>
          <a:xfrm>
            <a:off x="-132720" y="2307170"/>
            <a:ext cx="2353002" cy="168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00"/>
              </a:lnSpc>
            </a:pPr>
            <a:r>
              <a:rPr lang="en-US" sz="1000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Access request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8851328-BD8D-040F-1F19-50C38EC10C2D}"/>
              </a:ext>
            </a:extLst>
          </p:cNvPr>
          <p:cNvSpPr txBox="1"/>
          <p:nvPr/>
        </p:nvSpPr>
        <p:spPr>
          <a:xfrm>
            <a:off x="7698108" y="291895"/>
            <a:ext cx="3234534" cy="2384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9080" lvl="1" indent="-129540">
              <a:lnSpc>
                <a:spcPts val="1680"/>
              </a:lnSpc>
              <a:buFont typeface="Arial"/>
              <a:buChar char="•"/>
            </a:pPr>
            <a:r>
              <a:rPr lang="en-GB" sz="1200" b="1" dirty="0" err="1">
                <a:solidFill>
                  <a:srgbClr val="DC640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Free</a:t>
            </a:r>
            <a:r>
              <a:rPr lang="en-GB" sz="1200" b="1" dirty="0">
                <a:solidFill>
                  <a:srgbClr val="DC640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GB" sz="1200" b="1" dirty="0" err="1">
                <a:solidFill>
                  <a:srgbClr val="DC640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access</a:t>
            </a:r>
            <a:endParaRPr lang="en-GB" sz="1200" b="1" dirty="0">
              <a:solidFill>
                <a:srgbClr val="DC640D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  <a:p>
            <a:pPr marL="259080" lvl="1" indent="-129540">
              <a:lnSpc>
                <a:spcPts val="1680"/>
              </a:lnSpc>
              <a:buFont typeface="Arial"/>
              <a:buChar char="•"/>
            </a:pPr>
            <a:r>
              <a:rPr lang="en-GB" sz="1200" dirty="0" err="1">
                <a:latin typeface="Codec Pro"/>
                <a:ea typeface="Codec Pro"/>
                <a:cs typeface="Codec Pro"/>
                <a:sym typeface="Codec Pro"/>
              </a:rPr>
              <a:t>No production use</a:t>
            </a:r>
            <a:endParaRPr lang="en-GB" sz="1200" dirty="0">
              <a:latin typeface="Codec Pro"/>
              <a:ea typeface="Codec Pro"/>
              <a:cs typeface="Codec Pro"/>
              <a:sym typeface="Codec Pro"/>
            </a:endParaRPr>
          </a:p>
          <a:p>
            <a:pPr marL="518160" lvl="2" indent="-172720">
              <a:lnSpc>
                <a:spcPts val="1680"/>
              </a:lnSpc>
              <a:buFont typeface="Arial"/>
              <a:buChar char="⚬"/>
            </a:pPr>
            <a:r>
              <a:rPr lang="en-GB" sz="1200" dirty="0" err="1">
                <a:latin typeface="Codec Pro"/>
                <a:ea typeface="Codec Pro"/>
                <a:cs typeface="Codec Pro"/>
                <a:sym typeface="Codec Pro"/>
              </a:rPr>
              <a:t>Data</a:t>
            </a:r>
            <a:r>
              <a:rPr lang="en-GB" sz="1200" dirty="0"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GB" sz="1200" dirty="0" err="1">
                <a:latin typeface="Codec Pro"/>
                <a:ea typeface="Codec Pro"/>
                <a:cs typeface="Codec Pro"/>
                <a:sym typeface="Codec Pro"/>
              </a:rPr>
              <a:t>should be</a:t>
            </a:r>
            <a:r>
              <a:rPr lang="en-GB" sz="1200" dirty="0"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GB" sz="1200" b="1" dirty="0" err="1">
                <a:solidFill>
                  <a:srgbClr val="DC640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anonymized</a:t>
            </a:r>
            <a:r>
              <a:rPr lang="en-GB" sz="1200" dirty="0"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GB" sz="1200" dirty="0" err="1">
                <a:latin typeface="Codec Pro"/>
                <a:ea typeface="Codec Pro"/>
                <a:cs typeface="Codec Pro"/>
                <a:sym typeface="Codec Pro"/>
              </a:rPr>
              <a:t>or</a:t>
            </a:r>
            <a:r>
              <a:rPr lang="en-GB" sz="1200" dirty="0"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GB" sz="1200" b="1" dirty="0" err="1">
                <a:solidFill>
                  <a:srgbClr val="DC640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synthesized</a:t>
            </a:r>
            <a:endParaRPr lang="en-GB" sz="1200" dirty="0">
              <a:latin typeface="Codec Pro"/>
              <a:ea typeface="Codec Pro"/>
              <a:cs typeface="Codec Pro"/>
              <a:sym typeface="Codec Pro"/>
            </a:endParaRPr>
          </a:p>
          <a:p>
            <a:pPr marL="518160" lvl="2" indent="-172720">
              <a:lnSpc>
                <a:spcPts val="1680"/>
              </a:lnSpc>
              <a:buFont typeface="Arial"/>
              <a:buChar char="⚬"/>
            </a:pPr>
            <a:r>
              <a:rPr lang="en-GB" sz="1200" dirty="0" err="1">
                <a:latin typeface="Codec Pro"/>
                <a:ea typeface="Codec Pro"/>
                <a:cs typeface="Codec Pro"/>
                <a:sym typeface="Codec Pro"/>
              </a:rPr>
              <a:t>No</a:t>
            </a:r>
            <a:r>
              <a:rPr lang="en-GB" sz="1200" dirty="0"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GB" sz="1200" b="1" dirty="0">
                <a:solidFill>
                  <a:srgbClr val="DC640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hosting </a:t>
            </a:r>
            <a:r>
              <a:rPr lang="en-GB" sz="1200" dirty="0">
                <a:latin typeface="Codec Pro"/>
                <a:ea typeface="Codec Pro"/>
                <a:cs typeface="Codec Pro"/>
                <a:sym typeface="Codec Pro"/>
              </a:rPr>
              <a:t>of </a:t>
            </a:r>
            <a:r>
              <a:rPr lang="en-GB" sz="1200" dirty="0" err="1">
                <a:latin typeface="Codec Pro"/>
                <a:ea typeface="Codec Pro"/>
                <a:cs typeface="Codec Pro"/>
                <a:sym typeface="Codec Pro"/>
              </a:rPr>
              <a:t>products</a:t>
            </a:r>
            <a:endParaRPr lang="en-GB" sz="1200" dirty="0">
              <a:latin typeface="Codec Pro"/>
              <a:ea typeface="Codec Pro"/>
              <a:cs typeface="Codec Pro"/>
              <a:sym typeface="Codec Pro"/>
            </a:endParaRPr>
          </a:p>
          <a:p>
            <a:pPr marL="259080" lvl="1" indent="-129540">
              <a:lnSpc>
                <a:spcPts val="1680"/>
              </a:lnSpc>
              <a:buFont typeface="Arial"/>
              <a:buChar char="•"/>
            </a:pPr>
            <a:r>
              <a:rPr lang="en-GB" sz="1200" b="1" dirty="0" err="1">
                <a:solidFill>
                  <a:srgbClr val="DC640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Reporting</a:t>
            </a:r>
            <a:r>
              <a:rPr lang="en-GB" sz="1200" b="1" dirty="0">
                <a:solidFill>
                  <a:srgbClr val="DC640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GB" sz="1200" dirty="0">
                <a:latin typeface="Codec Pro"/>
                <a:ea typeface="Codec Pro"/>
                <a:cs typeface="Codec Pro"/>
                <a:sym typeface="Codec Pro"/>
              </a:rPr>
              <a:t>&amp; </a:t>
            </a:r>
            <a:r>
              <a:rPr lang="en-GB" sz="1200" b="1" dirty="0" err="1">
                <a:solidFill>
                  <a:srgbClr val="DC640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publication</a:t>
            </a:r>
            <a:r>
              <a:rPr lang="en-GB" sz="1200" b="1" dirty="0">
                <a:solidFill>
                  <a:srgbClr val="DC640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GB" sz="1200" dirty="0" err="1">
                <a:latin typeface="Codec Pro"/>
                <a:ea typeface="Codec Pro"/>
                <a:cs typeface="Codec Pro"/>
                <a:sym typeface="Codec Pro"/>
              </a:rPr>
              <a:t>by</a:t>
            </a:r>
            <a:r>
              <a:rPr lang="en-GB" sz="1200" dirty="0"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GB" sz="1200" dirty="0" err="1">
                <a:latin typeface="Codec Pro"/>
                <a:ea typeface="Codec Pro"/>
                <a:cs typeface="Codec Pro"/>
                <a:sym typeface="Codec Pro"/>
              </a:rPr>
              <a:t>users</a:t>
            </a:r>
            <a:endParaRPr lang="en-GB" sz="1200" dirty="0">
              <a:latin typeface="Codec Pro"/>
              <a:ea typeface="Codec Pro"/>
              <a:cs typeface="Codec Pro"/>
              <a:sym typeface="Codec Pro"/>
            </a:endParaRPr>
          </a:p>
          <a:p>
            <a:pPr marL="259080" lvl="1" indent="-129540">
              <a:lnSpc>
                <a:spcPts val="1680"/>
              </a:lnSpc>
              <a:buFont typeface="Arial"/>
              <a:buChar char="•"/>
            </a:pPr>
            <a:r>
              <a:rPr lang="en-GB" sz="1200" b="1" dirty="0">
                <a:solidFill>
                  <a:srgbClr val="DC640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Existing </a:t>
            </a:r>
            <a:r>
              <a:rPr lang="en-GB" sz="1200" b="1" dirty="0" err="1">
                <a:solidFill>
                  <a:srgbClr val="DC640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rights</a:t>
            </a:r>
            <a:r>
              <a:rPr lang="en-GB" sz="1200" b="1" dirty="0">
                <a:solidFill>
                  <a:srgbClr val="DC640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GB" sz="1200" dirty="0" err="1">
                <a:latin typeface="Codec Pro"/>
                <a:ea typeface="Codec Pro"/>
                <a:cs typeface="Codec Pro"/>
                <a:sym typeface="Codec Pro"/>
              </a:rPr>
              <a:t>remain</a:t>
            </a:r>
            <a:r>
              <a:rPr lang="en-GB" sz="1200" dirty="0"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GB" sz="1200" dirty="0" err="1">
                <a:latin typeface="Codec Pro"/>
                <a:ea typeface="Codec Pro"/>
                <a:cs typeface="Codec Pro"/>
                <a:sym typeface="Codec Pro"/>
              </a:rPr>
              <a:t>with</a:t>
            </a:r>
            <a:r>
              <a:rPr lang="en-GB" sz="1200" dirty="0"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GB" sz="1200" dirty="0" err="1">
                <a:latin typeface="Codec Pro"/>
                <a:ea typeface="Codec Pro"/>
                <a:cs typeface="Codec Pro"/>
                <a:sym typeface="Codec Pro"/>
              </a:rPr>
              <a:t>users</a:t>
            </a:r>
            <a:endParaRPr lang="en-GB" sz="1200" dirty="0">
              <a:latin typeface="Codec Pro"/>
              <a:ea typeface="Codec Pro"/>
              <a:cs typeface="Codec Pro"/>
              <a:sym typeface="Codec Pro"/>
            </a:endParaRPr>
          </a:p>
          <a:p>
            <a:pPr marL="259080" lvl="1" indent="-129540">
              <a:lnSpc>
                <a:spcPts val="1680"/>
              </a:lnSpc>
              <a:buFont typeface="Arial"/>
              <a:buChar char="•"/>
            </a:pPr>
            <a:r>
              <a:rPr lang="en-GB" sz="1200" b="1" dirty="0">
                <a:solidFill>
                  <a:srgbClr val="DC640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New </a:t>
            </a:r>
            <a:r>
              <a:rPr lang="en-GB" sz="1200" b="1" dirty="0" err="1">
                <a:solidFill>
                  <a:srgbClr val="DC640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rights</a:t>
            </a:r>
            <a:r>
              <a:rPr lang="en-GB" sz="1200" b="1" dirty="0">
                <a:solidFill>
                  <a:srgbClr val="DC640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GB" sz="1200" dirty="0" err="1">
                <a:latin typeface="Codec Pro"/>
                <a:ea typeface="Codec Pro"/>
                <a:cs typeface="Codec Pro"/>
                <a:sym typeface="Codec Pro"/>
              </a:rPr>
              <a:t>remain</a:t>
            </a:r>
            <a:r>
              <a:rPr lang="en-GB" sz="1200" dirty="0"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GB" sz="1200" dirty="0" err="1">
                <a:latin typeface="Codec Pro"/>
                <a:ea typeface="Codec Pro"/>
                <a:cs typeface="Codec Pro"/>
                <a:sym typeface="Codec Pro"/>
              </a:rPr>
              <a:t>with</a:t>
            </a:r>
            <a:r>
              <a:rPr lang="en-GB" sz="1200" dirty="0"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GB" sz="1200" dirty="0" err="1">
                <a:latin typeface="Codec Pro"/>
                <a:ea typeface="Codec Pro"/>
                <a:cs typeface="Codec Pro"/>
                <a:sym typeface="Codec Pro"/>
              </a:rPr>
              <a:t>users</a:t>
            </a:r>
            <a:endParaRPr lang="en-GB" sz="1200" dirty="0">
              <a:latin typeface="Codec Pro"/>
              <a:ea typeface="Codec Pro"/>
              <a:cs typeface="Codec Pro"/>
              <a:sym typeface="Codec Pro"/>
            </a:endParaRPr>
          </a:p>
          <a:p>
            <a:pPr marL="518160" lvl="2" indent="-172720">
              <a:lnSpc>
                <a:spcPts val="1680"/>
              </a:lnSpc>
              <a:buFont typeface="Arial"/>
              <a:buChar char="⚬"/>
            </a:pPr>
            <a:r>
              <a:rPr lang="de-DE" sz="1200" dirty="0">
                <a:latin typeface="Codec Pro"/>
                <a:ea typeface="Codec Pro"/>
                <a:cs typeface="Codec Pro"/>
                <a:sym typeface="Codec Pro"/>
              </a:rPr>
              <a:t>Usage rights granted for research and teaching</a:t>
            </a:r>
            <a:endParaRPr lang="en-GB" sz="1200" dirty="0"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49B22F80-6B06-7363-6C3D-EFEA01134369}"/>
              </a:ext>
            </a:extLst>
          </p:cNvPr>
          <p:cNvSpPr/>
          <p:nvPr/>
        </p:nvSpPr>
        <p:spPr>
          <a:xfrm>
            <a:off x="274202" y="334757"/>
            <a:ext cx="1946081" cy="1946081"/>
          </a:xfrm>
          <a:custGeom>
            <a:avLst/>
            <a:gdLst/>
            <a:ahLst/>
            <a:cxnLst/>
            <a:rect l="l" t="t" r="r" b="b"/>
            <a:pathLst>
              <a:path w="3892161" h="3892161">
                <a:moveTo>
                  <a:pt x="0" y="0"/>
                </a:moveTo>
                <a:lnTo>
                  <a:pt x="3892161" y="0"/>
                </a:lnTo>
                <a:lnTo>
                  <a:pt x="3892161" y="3892161"/>
                </a:lnTo>
                <a:lnTo>
                  <a:pt x="0" y="38921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DE" sz="70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A4808E0-A4ED-C1B9-4BBD-8B3E06FDC768}"/>
              </a:ext>
            </a:extLst>
          </p:cNvPr>
          <p:cNvSpPr txBox="1"/>
          <p:nvPr/>
        </p:nvSpPr>
        <p:spPr>
          <a:xfrm>
            <a:off x="9597110" y="3125725"/>
            <a:ext cx="1680055" cy="3250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</a:pPr>
            <a:r>
              <a:rPr lang="en-US" sz="1200" b="1" dirty="0">
                <a:solidFill>
                  <a:srgbClr val="DC640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Edge</a:t>
            </a:r>
          </a:p>
          <a:p>
            <a:pPr marL="259080" lvl="1" indent="-129540">
              <a:lnSpc>
                <a:spcPts val="1680"/>
              </a:lnSpc>
              <a:buFont typeface="Arial"/>
              <a:buChar char="•"/>
            </a:pPr>
            <a:r>
              <a:rPr lang="en-US" sz="1200" dirty="0">
                <a:latin typeface="Codec Pro"/>
                <a:ea typeface="Codec Pro"/>
                <a:cs typeface="Codec Pro"/>
                <a:sym typeface="Codec Pro"/>
              </a:rPr>
              <a:t>ARMv8 CPU</a:t>
            </a:r>
          </a:p>
          <a:p>
            <a:pPr marL="259080" lvl="1" indent="-129540">
              <a:lnSpc>
                <a:spcPts val="1680"/>
              </a:lnSpc>
              <a:buFont typeface="Arial"/>
              <a:buChar char="•"/>
            </a:pPr>
            <a:r>
              <a:rPr lang="en-US" sz="1200" dirty="0">
                <a:latin typeface="Codec Pro"/>
                <a:ea typeface="Codec Pro"/>
                <a:cs typeface="Codec Pro"/>
                <a:sym typeface="Codec Pro"/>
              </a:rPr>
              <a:t>NVIDIA Jetson AGX Module</a:t>
            </a:r>
          </a:p>
          <a:p>
            <a:pPr>
              <a:lnSpc>
                <a:spcPts val="1680"/>
              </a:lnSpc>
            </a:pPr>
            <a:endParaRPr lang="en-US" sz="1200" dirty="0">
              <a:latin typeface="Codec Pro"/>
              <a:ea typeface="Codec Pro"/>
              <a:cs typeface="Codec Pro"/>
              <a:sym typeface="Codec Pro"/>
            </a:endParaRPr>
          </a:p>
          <a:p>
            <a:pPr>
              <a:lnSpc>
                <a:spcPts val="1680"/>
              </a:lnSpc>
            </a:pPr>
            <a:r>
              <a:rPr lang="en-US" sz="1200" b="1" dirty="0" err="1">
                <a:solidFill>
                  <a:srgbClr val="DC640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Neuromorphic</a:t>
            </a:r>
            <a:endParaRPr lang="en-US" sz="1200" b="1" dirty="0">
              <a:solidFill>
                <a:srgbClr val="DC640D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  <a:p>
            <a:pPr marL="259080" lvl="1" indent="-129540">
              <a:lnSpc>
                <a:spcPts val="1680"/>
              </a:lnSpc>
              <a:buFont typeface="Arial"/>
              <a:buChar char="•"/>
            </a:pPr>
            <a:r>
              <a:rPr lang="en-US" sz="1200" dirty="0">
                <a:latin typeface="Codec Pro"/>
                <a:ea typeface="Codec Pro"/>
                <a:cs typeface="Codec Pro"/>
                <a:sym typeface="Codec Pro"/>
              </a:rPr>
              <a:t>288 SpiNNaker2 Chips</a:t>
            </a:r>
          </a:p>
          <a:p>
            <a:pPr>
              <a:lnSpc>
                <a:spcPts val="1680"/>
              </a:lnSpc>
            </a:pPr>
            <a:endParaRPr lang="en-US" sz="1200" dirty="0">
              <a:latin typeface="Codec Pro"/>
              <a:ea typeface="Codec Pro"/>
              <a:cs typeface="Codec Pro"/>
              <a:sym typeface="Codec Pro"/>
            </a:endParaRPr>
          </a:p>
          <a:p>
            <a:pPr>
              <a:lnSpc>
                <a:spcPts val="1680"/>
              </a:lnSpc>
            </a:pPr>
            <a:r>
              <a:rPr lang="en-US" sz="1200" b="1" dirty="0">
                <a:solidFill>
                  <a:srgbClr val="DC640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Storage</a:t>
            </a:r>
          </a:p>
          <a:p>
            <a:pPr marL="259080" lvl="1" indent="-129540">
              <a:lnSpc>
                <a:spcPts val="1680"/>
              </a:lnSpc>
              <a:buFont typeface="Arial"/>
              <a:buChar char="•"/>
            </a:pPr>
            <a:r>
              <a:rPr lang="en-US" sz="1200" dirty="0">
                <a:latin typeface="Codec Pro"/>
                <a:ea typeface="Codec Pro"/>
                <a:cs typeface="Codec Pro"/>
                <a:sym typeface="Codec Pro"/>
              </a:rPr>
              <a:t>1.5 PB </a:t>
            </a:r>
            <a:r>
              <a:rPr lang="en-US" sz="1200" dirty="0" err="1">
                <a:latin typeface="Codec Pro"/>
                <a:ea typeface="Codec Pro"/>
                <a:cs typeface="Codec Pro"/>
                <a:sym typeface="Codec Pro"/>
              </a:rPr>
              <a:t>NVMe</a:t>
            </a:r>
            <a:endParaRPr lang="en-US" sz="1200" dirty="0">
              <a:latin typeface="Codec Pro"/>
              <a:ea typeface="Codec Pro"/>
              <a:cs typeface="Codec Pro"/>
              <a:sym typeface="Codec Pro"/>
            </a:endParaRPr>
          </a:p>
          <a:p>
            <a:pPr>
              <a:lnSpc>
                <a:spcPts val="1680"/>
              </a:lnSpc>
            </a:pPr>
            <a:endParaRPr lang="en-US" sz="1200" dirty="0">
              <a:latin typeface="Codec Pro"/>
              <a:ea typeface="Codec Pro"/>
              <a:cs typeface="Codec Pro"/>
              <a:sym typeface="Codec Pro"/>
            </a:endParaRPr>
          </a:p>
          <a:p>
            <a:pPr>
              <a:lnSpc>
                <a:spcPts val="1680"/>
              </a:lnSpc>
            </a:pPr>
            <a:r>
              <a:rPr lang="en-US" sz="1200" b="1" dirty="0">
                <a:solidFill>
                  <a:srgbClr val="DC640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Network</a:t>
            </a:r>
          </a:p>
          <a:p>
            <a:pPr marL="259080" lvl="1" indent="-129540">
              <a:lnSpc>
                <a:spcPts val="1680"/>
              </a:lnSpc>
              <a:buFont typeface="Arial"/>
              <a:buChar char="•"/>
            </a:pPr>
            <a:r>
              <a:rPr lang="en-US" sz="1200" dirty="0">
                <a:latin typeface="Codec Pro"/>
                <a:ea typeface="Codec Pro"/>
                <a:cs typeface="Codec Pro"/>
                <a:sym typeface="Codec Pro"/>
              </a:rPr>
              <a:t>400 Gb/s </a:t>
            </a:r>
            <a:r>
              <a:rPr lang="en-US" sz="1200" dirty="0" err="1">
                <a:latin typeface="Codec Pro"/>
                <a:ea typeface="Codec Pro"/>
                <a:cs typeface="Codec Pro"/>
                <a:sym typeface="Codec Pro"/>
              </a:rPr>
              <a:t>Infiniband</a:t>
            </a:r>
            <a:endParaRPr lang="en-US" sz="1200" dirty="0">
              <a:latin typeface="Codec Pro"/>
              <a:ea typeface="Codec Pro"/>
              <a:cs typeface="Codec Pro"/>
              <a:sym typeface="Codec Pro"/>
            </a:endParaRPr>
          </a:p>
          <a:p>
            <a:pPr marL="259080" lvl="1" indent="-129540">
              <a:lnSpc>
                <a:spcPts val="1680"/>
              </a:lnSpc>
              <a:buFont typeface="Arial"/>
              <a:buChar char="•"/>
            </a:pPr>
            <a:r>
              <a:rPr lang="en-US" sz="1200" dirty="0">
                <a:latin typeface="Codec Pro"/>
                <a:ea typeface="Codec Pro"/>
                <a:cs typeface="Codec Pro"/>
                <a:sym typeface="Codec Pro"/>
              </a:rPr>
              <a:t>200 Gb/s Ethernet</a:t>
            </a: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D2FF756C-DCB4-A19E-303B-58CF542B6874}"/>
              </a:ext>
            </a:extLst>
          </p:cNvPr>
          <p:cNvSpPr/>
          <p:nvPr/>
        </p:nvSpPr>
        <p:spPr>
          <a:xfrm>
            <a:off x="17676" y="5896630"/>
            <a:ext cx="1467173" cy="961370"/>
          </a:xfrm>
          <a:custGeom>
            <a:avLst/>
            <a:gdLst/>
            <a:ahLst/>
            <a:cxnLst/>
            <a:rect l="l" t="t" r="r" b="b"/>
            <a:pathLst>
              <a:path w="2934345" h="1922740">
                <a:moveTo>
                  <a:pt x="0" y="0"/>
                </a:moveTo>
                <a:lnTo>
                  <a:pt x="2934345" y="0"/>
                </a:lnTo>
                <a:lnTo>
                  <a:pt x="2934345" y="1922740"/>
                </a:lnTo>
                <a:lnTo>
                  <a:pt x="0" y="19227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868"/>
            </a:stretch>
          </a:blipFill>
        </p:spPr>
        <p:txBody>
          <a:bodyPr/>
          <a:lstStyle/>
          <a:p>
            <a:endParaRPr lang="en-DE" sz="700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6850CB07-79B4-9316-2999-027ACF899B15}"/>
              </a:ext>
            </a:extLst>
          </p:cNvPr>
          <p:cNvSpPr/>
          <p:nvPr/>
        </p:nvSpPr>
        <p:spPr>
          <a:xfrm>
            <a:off x="11131355" y="155304"/>
            <a:ext cx="884145" cy="312702"/>
          </a:xfrm>
          <a:custGeom>
            <a:avLst/>
            <a:gdLst/>
            <a:ahLst/>
            <a:cxnLst/>
            <a:rect l="l" t="t" r="r" b="b"/>
            <a:pathLst>
              <a:path w="1768290" h="625404">
                <a:moveTo>
                  <a:pt x="0" y="0"/>
                </a:moveTo>
                <a:lnTo>
                  <a:pt x="1768289" y="0"/>
                </a:lnTo>
                <a:lnTo>
                  <a:pt x="1768289" y="625404"/>
                </a:lnTo>
                <a:lnTo>
                  <a:pt x="0" y="6254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DE" sz="700"/>
          </a:p>
        </p:txBody>
      </p:sp>
      <p:sp>
        <p:nvSpPr>
          <p:cNvPr id="15" name="Foliennummernplatzhalter 3">
            <a:extLst>
              <a:ext uri="{FF2B5EF4-FFF2-40B4-BE49-F238E27FC236}">
                <a16:creationId xmlns:a16="http://schemas.microsoft.com/office/drawing/2014/main" id="{6BB0F26C-DE22-AADC-2B34-3B576A22998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6</a:t>
            </a:fld>
            <a:endParaRPr lang="de-DE" dirty="0"/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625D7069-2B9E-0C4F-71DB-BB3BF9465587}"/>
              </a:ext>
            </a:extLst>
          </p:cNvPr>
          <p:cNvSpPr txBox="1"/>
          <p:nvPr/>
        </p:nvSpPr>
        <p:spPr>
          <a:xfrm>
            <a:off x="17676" y="3261855"/>
            <a:ext cx="2459133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</a:pPr>
            <a:r>
              <a:rPr lang="en-US" sz="2272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Infrastructure</a:t>
            </a:r>
            <a:endParaRPr lang="en-US" sz="2272" b="1" dirty="0">
              <a:solidFill>
                <a:srgbClr val="FFFFFF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</p:spTree>
    <p:extLst>
      <p:ext uri="{BB962C8B-B14F-4D97-AF65-F5344CB8AC3E}">
        <p14:creationId xmlns:p14="http://schemas.microsoft.com/office/powerpoint/2010/main" val="2374313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78C77-B231-94CA-B354-E47B606DF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2F150A56-98C7-D5B3-B5C6-BFF83516EE64}"/>
              </a:ext>
            </a:extLst>
          </p:cNvPr>
          <p:cNvGrpSpPr/>
          <p:nvPr/>
        </p:nvGrpSpPr>
        <p:grpSpPr>
          <a:xfrm>
            <a:off x="2684492" y="334758"/>
            <a:ext cx="1068092" cy="1037558"/>
            <a:chOff x="0" y="0"/>
            <a:chExt cx="421962" cy="40989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03D85DB-4ABF-5691-F269-07C61EE0F74F}"/>
                </a:ext>
              </a:extLst>
            </p:cNvPr>
            <p:cNvSpPr/>
            <p:nvPr/>
          </p:nvSpPr>
          <p:spPr>
            <a:xfrm>
              <a:off x="0" y="0"/>
              <a:ext cx="421962" cy="409899"/>
            </a:xfrm>
            <a:custGeom>
              <a:avLst/>
              <a:gdLst/>
              <a:ahLst/>
              <a:cxnLst/>
              <a:rect l="l" t="t" r="r" b="b"/>
              <a:pathLst>
                <a:path w="421962" h="409899">
                  <a:moveTo>
                    <a:pt x="0" y="0"/>
                  </a:moveTo>
                  <a:lnTo>
                    <a:pt x="421962" y="0"/>
                  </a:lnTo>
                  <a:lnTo>
                    <a:pt x="421962" y="409899"/>
                  </a:lnTo>
                  <a:lnTo>
                    <a:pt x="0" y="409899"/>
                  </a:lnTo>
                  <a:close/>
                </a:path>
              </a:pathLst>
            </a:custGeom>
            <a:solidFill>
              <a:srgbClr val="F6A8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DE" sz="70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8780D98-CAF5-53B1-1BCF-D56EC453365B}"/>
                </a:ext>
              </a:extLst>
            </p:cNvPr>
            <p:cNvSpPr txBox="1"/>
            <p:nvPr/>
          </p:nvSpPr>
          <p:spPr>
            <a:xfrm>
              <a:off x="0" y="-76200"/>
              <a:ext cx="421962" cy="48609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75"/>
                </a:lnSpc>
              </a:pPr>
              <a:endParaRPr sz="700"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8F5BB78A-DDF7-AA40-F001-B998A48FE56E}"/>
              </a:ext>
            </a:extLst>
          </p:cNvPr>
          <p:cNvSpPr txBox="1"/>
          <p:nvPr/>
        </p:nvSpPr>
        <p:spPr>
          <a:xfrm>
            <a:off x="2684492" y="620173"/>
            <a:ext cx="1068092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0"/>
              </a:lnSpc>
            </a:pPr>
            <a:r>
              <a:rPr lang="en-US" sz="1067">
                <a:solidFill>
                  <a:srgbClr val="17161C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</a:p>
          <a:p>
            <a:pPr algn="ctr">
              <a:lnSpc>
                <a:spcPts val="2240"/>
              </a:lnSpc>
            </a:pPr>
            <a:r>
              <a:rPr lang="en-US" sz="1867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Talks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0413FA32-BC0E-F311-ECC6-1211BB93D301}"/>
              </a:ext>
            </a:extLst>
          </p:cNvPr>
          <p:cNvSpPr/>
          <p:nvPr/>
        </p:nvSpPr>
        <p:spPr>
          <a:xfrm rot="21576000">
            <a:off x="5485691" y="331444"/>
            <a:ext cx="959071" cy="946786"/>
          </a:xfrm>
          <a:custGeom>
            <a:avLst/>
            <a:gdLst/>
            <a:ahLst/>
            <a:cxnLst/>
            <a:rect l="l" t="t" r="r" b="b"/>
            <a:pathLst>
              <a:path w="2557523" h="2524763">
                <a:moveTo>
                  <a:pt x="17503" y="0"/>
                </a:moveTo>
                <a:lnTo>
                  <a:pt x="2557523" y="17733"/>
                </a:lnTo>
                <a:lnTo>
                  <a:pt x="2540021" y="2524763"/>
                </a:lnTo>
                <a:lnTo>
                  <a:pt x="0" y="2507030"/>
                </a:lnTo>
                <a:lnTo>
                  <a:pt x="17503" y="0"/>
                </a:lnTo>
                <a:close/>
              </a:path>
            </a:pathLst>
          </a:custGeom>
          <a:blipFill>
            <a:blip r:embed="rId2"/>
            <a:stretch>
              <a:fillRect l="-5000" t="-4575" r="-3170" b="-4998"/>
            </a:stretch>
          </a:blipFill>
        </p:spPr>
        <p:txBody>
          <a:bodyPr/>
          <a:lstStyle/>
          <a:p>
            <a:endParaRPr lang="en-DE" sz="70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F6E06DC-2E33-FBEA-8BE2-FDB67B7F4D57}"/>
              </a:ext>
            </a:extLst>
          </p:cNvPr>
          <p:cNvSpPr txBox="1"/>
          <p:nvPr/>
        </p:nvSpPr>
        <p:spPr>
          <a:xfrm>
            <a:off x="2682703" y="1437747"/>
            <a:ext cx="3758789" cy="20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9080" lvl="1" indent="-129540">
              <a:lnSpc>
                <a:spcPts val="1680"/>
              </a:lnSpc>
              <a:buFont typeface="Arial"/>
              <a:buChar char="•"/>
            </a:pPr>
            <a:r>
              <a:rPr lang="en-US" sz="1200" dirty="0" err="1">
                <a:solidFill>
                  <a:srgbClr val="17161C"/>
                </a:solidFill>
                <a:latin typeface="Codec Pro"/>
                <a:ea typeface="Codec Pro"/>
                <a:cs typeface="Codec Pro"/>
                <a:sym typeface="Codec Pro"/>
              </a:rPr>
              <a:t>Guest lectures on research and innovation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AE79422-F9FA-CF3E-18AB-1CCE6662364E}"/>
              </a:ext>
            </a:extLst>
          </p:cNvPr>
          <p:cNvSpPr txBox="1"/>
          <p:nvPr/>
        </p:nvSpPr>
        <p:spPr>
          <a:xfrm>
            <a:off x="4827110" y="1261640"/>
            <a:ext cx="1614382" cy="168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sz="1000" b="1" u="sng" dirty="0">
                <a:solidFill>
                  <a:srgbClr val="DC640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tele-task.de/series/1463</a:t>
            </a: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40681FB0-3F07-6581-11DB-A0FF1FB556A9}"/>
              </a:ext>
            </a:extLst>
          </p:cNvPr>
          <p:cNvSpPr/>
          <p:nvPr/>
        </p:nvSpPr>
        <p:spPr>
          <a:xfrm rot="-10800000">
            <a:off x="0" y="0"/>
            <a:ext cx="2459133" cy="6858000"/>
          </a:xfrm>
          <a:prstGeom prst="rect">
            <a:avLst/>
          </a:prstGeom>
          <a:solidFill>
            <a:srgbClr val="F6A800"/>
          </a:solidFill>
        </p:spPr>
        <p:txBody>
          <a:bodyPr/>
          <a:lstStyle/>
          <a:p>
            <a:endParaRPr lang="en-DE" sz="700"/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15330E4E-8D5B-6740-7C22-101F87AED0F7}"/>
              </a:ext>
            </a:extLst>
          </p:cNvPr>
          <p:cNvGrpSpPr/>
          <p:nvPr/>
        </p:nvGrpSpPr>
        <p:grpSpPr>
          <a:xfrm>
            <a:off x="2702390" y="2508131"/>
            <a:ext cx="1068092" cy="1037558"/>
            <a:chOff x="0" y="0"/>
            <a:chExt cx="421962" cy="409899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C4F2D8D5-E54F-0054-9CD9-3232EED71BD3}"/>
                </a:ext>
              </a:extLst>
            </p:cNvPr>
            <p:cNvSpPr/>
            <p:nvPr/>
          </p:nvSpPr>
          <p:spPr>
            <a:xfrm>
              <a:off x="0" y="0"/>
              <a:ext cx="421962" cy="409899"/>
            </a:xfrm>
            <a:custGeom>
              <a:avLst/>
              <a:gdLst/>
              <a:ahLst/>
              <a:cxnLst/>
              <a:rect l="l" t="t" r="r" b="b"/>
              <a:pathLst>
                <a:path w="421962" h="409899">
                  <a:moveTo>
                    <a:pt x="0" y="0"/>
                  </a:moveTo>
                  <a:lnTo>
                    <a:pt x="421962" y="0"/>
                  </a:lnTo>
                  <a:lnTo>
                    <a:pt x="421962" y="409899"/>
                  </a:lnTo>
                  <a:lnTo>
                    <a:pt x="0" y="409899"/>
                  </a:lnTo>
                  <a:close/>
                </a:path>
              </a:pathLst>
            </a:custGeom>
            <a:solidFill>
              <a:srgbClr val="DC640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DE" sz="700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C3448060-BACB-8014-86FB-0D2DB81ABABD}"/>
                </a:ext>
              </a:extLst>
            </p:cNvPr>
            <p:cNvSpPr txBox="1"/>
            <p:nvPr/>
          </p:nvSpPr>
          <p:spPr>
            <a:xfrm>
              <a:off x="0" y="-76200"/>
              <a:ext cx="421962" cy="48609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75"/>
                </a:lnSpc>
              </a:pPr>
              <a:endParaRPr sz="700"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D7D69934-E048-FBE6-B8F9-F9AB1E2BB260}"/>
              </a:ext>
            </a:extLst>
          </p:cNvPr>
          <p:cNvSpPr txBox="1"/>
          <p:nvPr/>
        </p:nvSpPr>
        <p:spPr>
          <a:xfrm>
            <a:off x="2702390" y="2710204"/>
            <a:ext cx="1062726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80"/>
              </a:lnSpc>
            </a:pPr>
            <a:r>
              <a:rPr lang="en-US" sz="2067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Work</a:t>
            </a:r>
          </a:p>
          <a:p>
            <a:pPr algn="ctr">
              <a:lnSpc>
                <a:spcPts val="2240"/>
              </a:lnSpc>
            </a:pPr>
            <a:r>
              <a:rPr lang="en-US" sz="1867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shops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EC77F736-31F5-A112-C2DB-FD5DB118B363}"/>
              </a:ext>
            </a:extLst>
          </p:cNvPr>
          <p:cNvSpPr txBox="1"/>
          <p:nvPr/>
        </p:nvSpPr>
        <p:spPr>
          <a:xfrm>
            <a:off x="2704179" y="3611120"/>
            <a:ext cx="3757000" cy="64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9080" lvl="1" indent="-129540">
              <a:lnSpc>
                <a:spcPts val="1680"/>
              </a:lnSpc>
              <a:buFont typeface="Arial"/>
              <a:buChar char="•"/>
            </a:pPr>
            <a:r>
              <a:rPr lang="en-US" sz="1200" dirty="0" err="1">
                <a:solidFill>
                  <a:srgbClr val="17161C"/>
                </a:solidFill>
                <a:latin typeface="Codec Pro"/>
                <a:ea typeface="Codec Pro"/>
                <a:cs typeface="Codec Pro"/>
                <a:sym typeface="Codec Pro"/>
              </a:rPr>
              <a:t>Hands-on topics</a:t>
            </a:r>
            <a:endParaRPr lang="en-US" sz="1200" dirty="0">
              <a:solidFill>
                <a:srgbClr val="17161C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marL="259080" lvl="1" indent="-129540">
              <a:lnSpc>
                <a:spcPts val="1680"/>
              </a:lnSpc>
              <a:buFont typeface="Arial"/>
              <a:buChar char="•"/>
            </a:pPr>
            <a:r>
              <a:rPr lang="en-US" sz="1200" dirty="0" err="1">
                <a:solidFill>
                  <a:srgbClr val="17161C"/>
                </a:solidFill>
                <a:latin typeface="Codec Pro"/>
                <a:ea typeface="Codec Pro"/>
                <a:cs typeface="Codec Pro"/>
                <a:sym typeface="Codec Pro"/>
              </a:rPr>
              <a:t>Example topics: Speech2summary, Docker for ML, semantic search</a:t>
            </a:r>
            <a:endParaRPr lang="en-US" sz="1200" dirty="0">
              <a:solidFill>
                <a:srgbClr val="17161C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487FC7E3-B7DB-491E-B5E5-6001621B101E}"/>
              </a:ext>
            </a:extLst>
          </p:cNvPr>
          <p:cNvSpPr/>
          <p:nvPr/>
        </p:nvSpPr>
        <p:spPr>
          <a:xfrm>
            <a:off x="5504391" y="2508131"/>
            <a:ext cx="954999" cy="954999"/>
          </a:xfrm>
          <a:custGeom>
            <a:avLst/>
            <a:gdLst/>
            <a:ahLst/>
            <a:cxnLst/>
            <a:rect l="l" t="t" r="r" b="b"/>
            <a:pathLst>
              <a:path w="2546664" h="2546664">
                <a:moveTo>
                  <a:pt x="0" y="0"/>
                </a:moveTo>
                <a:lnTo>
                  <a:pt x="2546664" y="0"/>
                </a:lnTo>
                <a:lnTo>
                  <a:pt x="2546664" y="2546664"/>
                </a:lnTo>
                <a:lnTo>
                  <a:pt x="0" y="2546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644" t="-5906" r="-5906" b="-6644"/>
            </a:stretch>
          </a:blipFill>
        </p:spPr>
        <p:txBody>
          <a:bodyPr/>
          <a:lstStyle/>
          <a:p>
            <a:endParaRPr lang="en-DE" sz="700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1AFA1658-31EA-B0B1-9872-0057C02B89C4}"/>
              </a:ext>
            </a:extLst>
          </p:cNvPr>
          <p:cNvSpPr txBox="1"/>
          <p:nvPr/>
        </p:nvSpPr>
        <p:spPr>
          <a:xfrm>
            <a:off x="5136261" y="3430983"/>
            <a:ext cx="1323129" cy="168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00"/>
              </a:lnSpc>
            </a:pPr>
            <a:r>
              <a:rPr lang="en-US" sz="1000" b="1" u="sng" dirty="0" err="1">
                <a:solidFill>
                  <a:srgbClr val="DC640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aimaker.community</a:t>
            </a:r>
            <a:endParaRPr lang="en-US" sz="1000" b="1" u="sng" dirty="0">
              <a:solidFill>
                <a:srgbClr val="DC640D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DEA6248-6FAF-4021-9147-217E8ABFC9ED}"/>
              </a:ext>
            </a:extLst>
          </p:cNvPr>
          <p:cNvGrpSpPr/>
          <p:nvPr/>
        </p:nvGrpSpPr>
        <p:grpSpPr>
          <a:xfrm>
            <a:off x="2704179" y="4726876"/>
            <a:ext cx="1068092" cy="1037558"/>
            <a:chOff x="0" y="0"/>
            <a:chExt cx="421962" cy="40989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145AF286-926D-B088-1073-3C844BF2B11E}"/>
                </a:ext>
              </a:extLst>
            </p:cNvPr>
            <p:cNvSpPr/>
            <p:nvPr/>
          </p:nvSpPr>
          <p:spPr>
            <a:xfrm>
              <a:off x="0" y="0"/>
              <a:ext cx="421962" cy="409899"/>
            </a:xfrm>
            <a:custGeom>
              <a:avLst/>
              <a:gdLst/>
              <a:ahLst/>
              <a:cxnLst/>
              <a:rect l="l" t="t" r="r" b="b"/>
              <a:pathLst>
                <a:path w="421962" h="409899">
                  <a:moveTo>
                    <a:pt x="0" y="0"/>
                  </a:moveTo>
                  <a:lnTo>
                    <a:pt x="421962" y="0"/>
                  </a:lnTo>
                  <a:lnTo>
                    <a:pt x="421962" y="409899"/>
                  </a:lnTo>
                  <a:lnTo>
                    <a:pt x="0" y="409899"/>
                  </a:lnTo>
                  <a:close/>
                </a:path>
              </a:pathLst>
            </a:custGeom>
            <a:solidFill>
              <a:srgbClr val="B0073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DE" sz="70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D3A2297F-A35A-694B-6A56-9D1C8FD38EB9}"/>
                </a:ext>
              </a:extLst>
            </p:cNvPr>
            <p:cNvSpPr txBox="1"/>
            <p:nvPr/>
          </p:nvSpPr>
          <p:spPr>
            <a:xfrm>
              <a:off x="0" y="-76200"/>
              <a:ext cx="421962" cy="48609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75"/>
                </a:lnSpc>
              </a:pPr>
              <a:endParaRPr sz="700"/>
            </a:p>
          </p:txBody>
        </p:sp>
      </p:grpSp>
      <p:sp>
        <p:nvSpPr>
          <p:cNvPr id="23" name="TextBox 23">
            <a:extLst>
              <a:ext uri="{FF2B5EF4-FFF2-40B4-BE49-F238E27FC236}">
                <a16:creationId xmlns:a16="http://schemas.microsoft.com/office/drawing/2014/main" id="{EF9E85E2-B211-B908-6509-1212874571B1}"/>
              </a:ext>
            </a:extLst>
          </p:cNvPr>
          <p:cNvSpPr txBox="1"/>
          <p:nvPr/>
        </p:nvSpPr>
        <p:spPr>
          <a:xfrm>
            <a:off x="2709546" y="5084524"/>
            <a:ext cx="1064514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867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MOOCs</a:t>
            </a: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5AEE311C-1DEB-E170-9549-82C914F2A707}"/>
              </a:ext>
            </a:extLst>
          </p:cNvPr>
          <p:cNvSpPr/>
          <p:nvPr/>
        </p:nvSpPr>
        <p:spPr>
          <a:xfrm>
            <a:off x="5511444" y="4704076"/>
            <a:ext cx="949735" cy="937519"/>
          </a:xfrm>
          <a:custGeom>
            <a:avLst/>
            <a:gdLst/>
            <a:ahLst/>
            <a:cxnLst/>
            <a:rect l="l" t="t" r="r" b="b"/>
            <a:pathLst>
              <a:path w="2532626" h="2500051">
                <a:moveTo>
                  <a:pt x="0" y="0"/>
                </a:moveTo>
                <a:lnTo>
                  <a:pt x="2532625" y="0"/>
                </a:lnTo>
                <a:lnTo>
                  <a:pt x="2532625" y="2500051"/>
                </a:lnTo>
                <a:lnTo>
                  <a:pt x="0" y="25000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144" t="-4560" r="-3858" b="-5863"/>
            </a:stretch>
          </a:blipFill>
        </p:spPr>
        <p:txBody>
          <a:bodyPr/>
          <a:lstStyle/>
          <a:p>
            <a:endParaRPr lang="en-DE" sz="700" dirty="0"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F1F8E9B3-8234-5740-8636-F6F00598ADA7}"/>
              </a:ext>
            </a:extLst>
          </p:cNvPr>
          <p:cNvSpPr txBox="1"/>
          <p:nvPr/>
        </p:nvSpPr>
        <p:spPr>
          <a:xfrm>
            <a:off x="2704179" y="5829865"/>
            <a:ext cx="3757000" cy="858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9080" lvl="1" indent="-129540">
              <a:lnSpc>
                <a:spcPts val="1680"/>
              </a:lnSpc>
              <a:buFont typeface="Arial"/>
              <a:buChar char="•"/>
            </a:pPr>
            <a:r>
              <a:rPr lang="en-US" sz="1200" dirty="0" err="1">
                <a:solidFill>
                  <a:srgbClr val="17161C"/>
                </a:solidFill>
                <a:latin typeface="Codec Pro"/>
                <a:ea typeface="Codec Pro"/>
                <a:cs typeface="Codec Pro"/>
                <a:sym typeface="Codec Pro"/>
              </a:rPr>
              <a:t>ChatGPT: What does generative AI mean for society?</a:t>
            </a:r>
          </a:p>
          <a:p>
            <a:pPr marL="259080" lvl="1" indent="-129540">
              <a:lnSpc>
                <a:spcPts val="1680"/>
              </a:lnSpc>
              <a:buFont typeface="Arial"/>
              <a:buChar char="•"/>
            </a:pPr>
            <a:r>
              <a:rPr lang="en-US" sz="1200" dirty="0">
                <a:solidFill>
                  <a:srgbClr val="17161C"/>
                </a:solidFill>
                <a:latin typeface="Codec Pro"/>
                <a:ea typeface="Codec Pro"/>
                <a:cs typeface="Codec Pro"/>
                <a:sym typeface="Codec Pro"/>
              </a:rPr>
              <a:t>Profitable AI</a:t>
            </a:r>
          </a:p>
          <a:p>
            <a:pPr marL="259080" lvl="1" indent="-129540">
              <a:lnSpc>
                <a:spcPts val="1680"/>
              </a:lnSpc>
              <a:buFont typeface="Arial"/>
              <a:buChar char="•"/>
            </a:pPr>
            <a:r>
              <a:rPr lang="en-US" sz="1200" dirty="0">
                <a:solidFill>
                  <a:srgbClr val="17161C"/>
                </a:solidFill>
                <a:latin typeface="Codec Pro"/>
                <a:ea typeface="Codec Pro"/>
                <a:cs typeface="Codec Pro"/>
                <a:sym typeface="Codec Pro"/>
              </a:rPr>
              <a:t>Understanding and avoiding AI biases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2D62B68B-8452-5924-A65C-B053EDCDA69E}"/>
              </a:ext>
            </a:extLst>
          </p:cNvPr>
          <p:cNvSpPr txBox="1"/>
          <p:nvPr/>
        </p:nvSpPr>
        <p:spPr>
          <a:xfrm>
            <a:off x="3994521" y="5602686"/>
            <a:ext cx="2466658" cy="168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sz="1000" b="1" u="sng" dirty="0">
                <a:solidFill>
                  <a:srgbClr val="DC640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open.hpi.de/channels/ai-service-center</a:t>
            </a:r>
          </a:p>
        </p:txBody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07930431-F242-29CD-1ACB-5D778AF7262C}"/>
              </a:ext>
            </a:extLst>
          </p:cNvPr>
          <p:cNvSpPr/>
          <p:nvPr/>
        </p:nvSpPr>
        <p:spPr>
          <a:xfrm>
            <a:off x="-69850" y="4416211"/>
            <a:ext cx="2528983" cy="2528983"/>
          </a:xfrm>
          <a:custGeom>
            <a:avLst/>
            <a:gdLst/>
            <a:ahLst/>
            <a:cxnLst/>
            <a:rect l="l" t="t" r="r" b="b"/>
            <a:pathLst>
              <a:path w="5057966" h="5057966">
                <a:moveTo>
                  <a:pt x="0" y="0"/>
                </a:moveTo>
                <a:lnTo>
                  <a:pt x="5057966" y="0"/>
                </a:lnTo>
                <a:lnTo>
                  <a:pt x="5057966" y="5057966"/>
                </a:lnTo>
                <a:lnTo>
                  <a:pt x="0" y="50579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DE" sz="700"/>
          </a:p>
        </p:txBody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80CBB928-4C6D-EEEC-0206-DF7A60EA14F6}"/>
              </a:ext>
            </a:extLst>
          </p:cNvPr>
          <p:cNvSpPr/>
          <p:nvPr/>
        </p:nvSpPr>
        <p:spPr>
          <a:xfrm>
            <a:off x="8543306" y="2508131"/>
            <a:ext cx="1722883" cy="1468124"/>
          </a:xfrm>
          <a:custGeom>
            <a:avLst/>
            <a:gdLst/>
            <a:ahLst/>
            <a:cxnLst/>
            <a:rect l="l" t="t" r="r" b="b"/>
            <a:pathLst>
              <a:path w="4594355" h="3914998">
                <a:moveTo>
                  <a:pt x="0" y="0"/>
                </a:moveTo>
                <a:lnTo>
                  <a:pt x="4594355" y="0"/>
                </a:lnTo>
                <a:lnTo>
                  <a:pt x="4594355" y="3914998"/>
                </a:lnTo>
                <a:lnTo>
                  <a:pt x="0" y="39149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0751" b="-6113"/>
            </a:stretch>
          </a:blipFill>
        </p:spPr>
        <p:txBody>
          <a:bodyPr/>
          <a:lstStyle/>
          <a:p>
            <a:endParaRPr lang="en-DE" sz="700"/>
          </a:p>
        </p:txBody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340615EB-93B9-8B8B-7105-6FF28BD81BAD}"/>
              </a:ext>
            </a:extLst>
          </p:cNvPr>
          <p:cNvSpPr/>
          <p:nvPr/>
        </p:nvSpPr>
        <p:spPr>
          <a:xfrm>
            <a:off x="6704434" y="2522189"/>
            <a:ext cx="1718312" cy="1468124"/>
          </a:xfrm>
          <a:custGeom>
            <a:avLst/>
            <a:gdLst/>
            <a:ahLst/>
            <a:cxnLst/>
            <a:rect l="l" t="t" r="r" b="b"/>
            <a:pathLst>
              <a:path w="4582165" h="3914998">
                <a:moveTo>
                  <a:pt x="0" y="0"/>
                </a:moveTo>
                <a:lnTo>
                  <a:pt x="4582165" y="0"/>
                </a:lnTo>
                <a:lnTo>
                  <a:pt x="4582165" y="3914998"/>
                </a:lnTo>
                <a:lnTo>
                  <a:pt x="0" y="39149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61251" r="-9628"/>
            </a:stretch>
          </a:blipFill>
        </p:spPr>
        <p:txBody>
          <a:bodyPr/>
          <a:lstStyle/>
          <a:p>
            <a:endParaRPr lang="en-DE" sz="700"/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E57411E7-B9BF-C2FA-5AEF-87FF7613192D}"/>
              </a:ext>
            </a:extLst>
          </p:cNvPr>
          <p:cNvSpPr/>
          <p:nvPr/>
        </p:nvSpPr>
        <p:spPr>
          <a:xfrm>
            <a:off x="10377607" y="2508131"/>
            <a:ext cx="1718312" cy="1468124"/>
          </a:xfrm>
          <a:custGeom>
            <a:avLst/>
            <a:gdLst/>
            <a:ahLst/>
            <a:cxnLst/>
            <a:rect l="l" t="t" r="r" b="b"/>
            <a:pathLst>
              <a:path w="4582165" h="3914998">
                <a:moveTo>
                  <a:pt x="0" y="0"/>
                </a:moveTo>
                <a:lnTo>
                  <a:pt x="4582164" y="0"/>
                </a:lnTo>
                <a:lnTo>
                  <a:pt x="4582164" y="3914998"/>
                </a:lnTo>
                <a:lnTo>
                  <a:pt x="0" y="391499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0697" r="-64603" b="-14291"/>
            </a:stretch>
          </a:blipFill>
        </p:spPr>
        <p:txBody>
          <a:bodyPr/>
          <a:lstStyle/>
          <a:p>
            <a:endParaRPr lang="en-DE" sz="700"/>
          </a:p>
        </p:txBody>
      </p:sp>
      <p:sp>
        <p:nvSpPr>
          <p:cNvPr id="33" name="Freeform 33">
            <a:extLst>
              <a:ext uri="{FF2B5EF4-FFF2-40B4-BE49-F238E27FC236}">
                <a16:creationId xmlns:a16="http://schemas.microsoft.com/office/drawing/2014/main" id="{B1F2D31A-6119-EB34-F413-7D11A01CA760}"/>
              </a:ext>
            </a:extLst>
          </p:cNvPr>
          <p:cNvSpPr/>
          <p:nvPr/>
        </p:nvSpPr>
        <p:spPr>
          <a:xfrm>
            <a:off x="8543306" y="334757"/>
            <a:ext cx="1718312" cy="1459610"/>
          </a:xfrm>
          <a:custGeom>
            <a:avLst/>
            <a:gdLst/>
            <a:ahLst/>
            <a:cxnLst/>
            <a:rect l="l" t="t" r="r" b="b"/>
            <a:pathLst>
              <a:path w="4582165" h="3892294">
                <a:moveTo>
                  <a:pt x="0" y="0"/>
                </a:moveTo>
                <a:lnTo>
                  <a:pt x="4582165" y="0"/>
                </a:lnTo>
                <a:lnTo>
                  <a:pt x="4582165" y="3892294"/>
                </a:lnTo>
                <a:lnTo>
                  <a:pt x="0" y="389229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58962" r="-10925"/>
            </a:stretch>
          </a:blipFill>
        </p:spPr>
        <p:txBody>
          <a:bodyPr/>
          <a:lstStyle/>
          <a:p>
            <a:endParaRPr lang="en-DE" sz="700"/>
          </a:p>
        </p:txBody>
      </p:sp>
      <p:sp>
        <p:nvSpPr>
          <p:cNvPr id="34" name="Freeform 34">
            <a:extLst>
              <a:ext uri="{FF2B5EF4-FFF2-40B4-BE49-F238E27FC236}">
                <a16:creationId xmlns:a16="http://schemas.microsoft.com/office/drawing/2014/main" id="{C2085C78-DB7F-A8DF-AFBF-2E4E96F7D3EF}"/>
              </a:ext>
            </a:extLst>
          </p:cNvPr>
          <p:cNvSpPr/>
          <p:nvPr/>
        </p:nvSpPr>
        <p:spPr>
          <a:xfrm>
            <a:off x="6704434" y="334757"/>
            <a:ext cx="1722883" cy="1459610"/>
          </a:xfrm>
          <a:custGeom>
            <a:avLst/>
            <a:gdLst/>
            <a:ahLst/>
            <a:cxnLst/>
            <a:rect l="l" t="t" r="r" b="b"/>
            <a:pathLst>
              <a:path w="4594355" h="3892294">
                <a:moveTo>
                  <a:pt x="0" y="0"/>
                </a:moveTo>
                <a:lnTo>
                  <a:pt x="4594355" y="0"/>
                </a:lnTo>
                <a:lnTo>
                  <a:pt x="4594355" y="3892294"/>
                </a:lnTo>
                <a:lnTo>
                  <a:pt x="0" y="389229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50611"/>
            </a:stretch>
          </a:blipFill>
        </p:spPr>
        <p:txBody>
          <a:bodyPr/>
          <a:lstStyle/>
          <a:p>
            <a:endParaRPr lang="en-DE" sz="700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68C805DA-7ED1-2D39-3542-657B12E3DFFB}"/>
              </a:ext>
            </a:extLst>
          </p:cNvPr>
          <p:cNvSpPr/>
          <p:nvPr/>
        </p:nvSpPr>
        <p:spPr>
          <a:xfrm>
            <a:off x="10377607" y="334757"/>
            <a:ext cx="1718312" cy="1459610"/>
          </a:xfrm>
          <a:custGeom>
            <a:avLst/>
            <a:gdLst/>
            <a:ahLst/>
            <a:cxnLst/>
            <a:rect l="l" t="t" r="r" b="b"/>
            <a:pathLst>
              <a:path w="4582165" h="3892294">
                <a:moveTo>
                  <a:pt x="0" y="0"/>
                </a:moveTo>
                <a:lnTo>
                  <a:pt x="4582164" y="0"/>
                </a:lnTo>
                <a:lnTo>
                  <a:pt x="4582164" y="3892294"/>
                </a:lnTo>
                <a:lnTo>
                  <a:pt x="0" y="389229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68588" t="-5644" r="-10888"/>
            </a:stretch>
          </a:blipFill>
        </p:spPr>
        <p:txBody>
          <a:bodyPr/>
          <a:lstStyle/>
          <a:p>
            <a:endParaRPr lang="en-DE" sz="700"/>
          </a:p>
        </p:txBody>
      </p:sp>
      <p:sp>
        <p:nvSpPr>
          <p:cNvPr id="37" name="Freeform 37">
            <a:extLst>
              <a:ext uri="{FF2B5EF4-FFF2-40B4-BE49-F238E27FC236}">
                <a16:creationId xmlns:a16="http://schemas.microsoft.com/office/drawing/2014/main" id="{BEBE82BA-1601-BDD5-2AB3-62BB81ACD376}"/>
              </a:ext>
            </a:extLst>
          </p:cNvPr>
          <p:cNvSpPr/>
          <p:nvPr/>
        </p:nvSpPr>
        <p:spPr>
          <a:xfrm>
            <a:off x="6704434" y="4704076"/>
            <a:ext cx="1718312" cy="1468125"/>
          </a:xfrm>
          <a:custGeom>
            <a:avLst/>
            <a:gdLst/>
            <a:ahLst/>
            <a:cxnLst/>
            <a:rect l="l" t="t" r="r" b="b"/>
            <a:pathLst>
              <a:path w="4582165" h="3914998">
                <a:moveTo>
                  <a:pt x="0" y="0"/>
                </a:moveTo>
                <a:lnTo>
                  <a:pt x="4582165" y="0"/>
                </a:lnTo>
                <a:lnTo>
                  <a:pt x="4582165" y="3914998"/>
                </a:lnTo>
                <a:lnTo>
                  <a:pt x="0" y="391499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62181" r="-8698"/>
            </a:stretch>
          </a:blipFill>
        </p:spPr>
        <p:txBody>
          <a:bodyPr/>
          <a:lstStyle/>
          <a:p>
            <a:endParaRPr lang="en-DE" sz="700"/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9093D88A-AEA0-DA91-313A-D7FACDCEB433}"/>
              </a:ext>
            </a:extLst>
          </p:cNvPr>
          <p:cNvSpPr/>
          <p:nvPr/>
        </p:nvSpPr>
        <p:spPr>
          <a:xfrm>
            <a:off x="8545592" y="4704076"/>
            <a:ext cx="1718312" cy="1468125"/>
          </a:xfrm>
          <a:custGeom>
            <a:avLst/>
            <a:gdLst/>
            <a:ahLst/>
            <a:cxnLst/>
            <a:rect l="l" t="t" r="r" b="b"/>
            <a:pathLst>
              <a:path w="4582165" h="3914998">
                <a:moveTo>
                  <a:pt x="0" y="0"/>
                </a:moveTo>
                <a:lnTo>
                  <a:pt x="4582165" y="0"/>
                </a:lnTo>
                <a:lnTo>
                  <a:pt x="4582165" y="3914998"/>
                </a:lnTo>
                <a:lnTo>
                  <a:pt x="0" y="391499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57149" t="-3460"/>
            </a:stretch>
          </a:blipFill>
        </p:spPr>
        <p:txBody>
          <a:bodyPr/>
          <a:lstStyle/>
          <a:p>
            <a:endParaRPr lang="en-DE" sz="700"/>
          </a:p>
        </p:txBody>
      </p:sp>
      <p:sp>
        <p:nvSpPr>
          <p:cNvPr id="39" name="Freeform 39">
            <a:extLst>
              <a:ext uri="{FF2B5EF4-FFF2-40B4-BE49-F238E27FC236}">
                <a16:creationId xmlns:a16="http://schemas.microsoft.com/office/drawing/2014/main" id="{08C0359C-FC46-A8ED-ED5D-5F70BF195E0A}"/>
              </a:ext>
            </a:extLst>
          </p:cNvPr>
          <p:cNvSpPr/>
          <p:nvPr/>
        </p:nvSpPr>
        <p:spPr>
          <a:xfrm>
            <a:off x="10372108" y="4704076"/>
            <a:ext cx="1723811" cy="1468125"/>
          </a:xfrm>
          <a:custGeom>
            <a:avLst/>
            <a:gdLst/>
            <a:ahLst/>
            <a:cxnLst/>
            <a:rect l="l" t="t" r="r" b="b"/>
            <a:pathLst>
              <a:path w="4596829" h="3914998">
                <a:moveTo>
                  <a:pt x="0" y="0"/>
                </a:moveTo>
                <a:lnTo>
                  <a:pt x="4596828" y="0"/>
                </a:lnTo>
                <a:lnTo>
                  <a:pt x="4596828" y="3914998"/>
                </a:lnTo>
                <a:lnTo>
                  <a:pt x="0" y="3914998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65218" r="-5116"/>
            </a:stretch>
          </a:blipFill>
        </p:spPr>
        <p:txBody>
          <a:bodyPr/>
          <a:lstStyle/>
          <a:p>
            <a:endParaRPr lang="en-DE" sz="700" dirty="0"/>
          </a:p>
        </p:txBody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905DF3C9-418F-CDB3-1E01-E5A6DC3EA7E9}"/>
              </a:ext>
            </a:extLst>
          </p:cNvPr>
          <p:cNvSpPr/>
          <p:nvPr/>
        </p:nvSpPr>
        <p:spPr>
          <a:xfrm>
            <a:off x="256527" y="334757"/>
            <a:ext cx="1946081" cy="1946081"/>
          </a:xfrm>
          <a:custGeom>
            <a:avLst/>
            <a:gdLst/>
            <a:ahLst/>
            <a:cxnLst/>
            <a:rect l="l" t="t" r="r" b="b"/>
            <a:pathLst>
              <a:path w="3892161" h="3892161">
                <a:moveTo>
                  <a:pt x="0" y="0"/>
                </a:moveTo>
                <a:lnTo>
                  <a:pt x="3892160" y="0"/>
                </a:lnTo>
                <a:lnTo>
                  <a:pt x="3892160" y="3892161"/>
                </a:lnTo>
                <a:lnTo>
                  <a:pt x="0" y="389216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DE" sz="700"/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431D3BA1-1C6C-3F5B-DCC5-C2CBBE0C3C34}"/>
              </a:ext>
            </a:extLst>
          </p:cNvPr>
          <p:cNvSpPr txBox="1"/>
          <p:nvPr/>
        </p:nvSpPr>
        <p:spPr>
          <a:xfrm>
            <a:off x="-150395" y="2312868"/>
            <a:ext cx="2353002" cy="168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00"/>
              </a:lnSpc>
            </a:pPr>
            <a:r>
              <a:rPr lang="en-US" sz="1000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Newsletter</a:t>
            </a:r>
          </a:p>
        </p:txBody>
      </p:sp>
      <p:sp>
        <p:nvSpPr>
          <p:cNvPr id="43" name="Freeform 43">
            <a:extLst>
              <a:ext uri="{FF2B5EF4-FFF2-40B4-BE49-F238E27FC236}">
                <a16:creationId xmlns:a16="http://schemas.microsoft.com/office/drawing/2014/main" id="{726712BB-E723-3299-4720-BEFFD75FEF92}"/>
              </a:ext>
            </a:extLst>
          </p:cNvPr>
          <p:cNvSpPr/>
          <p:nvPr/>
        </p:nvSpPr>
        <p:spPr>
          <a:xfrm>
            <a:off x="17676" y="5896630"/>
            <a:ext cx="1467173" cy="961370"/>
          </a:xfrm>
          <a:custGeom>
            <a:avLst/>
            <a:gdLst/>
            <a:ahLst/>
            <a:cxnLst/>
            <a:rect l="l" t="t" r="r" b="b"/>
            <a:pathLst>
              <a:path w="2934345" h="1922740">
                <a:moveTo>
                  <a:pt x="0" y="0"/>
                </a:moveTo>
                <a:lnTo>
                  <a:pt x="2934345" y="0"/>
                </a:lnTo>
                <a:lnTo>
                  <a:pt x="2934345" y="1922740"/>
                </a:lnTo>
                <a:lnTo>
                  <a:pt x="0" y="192274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t="-1868"/>
            </a:stretch>
          </a:blipFill>
        </p:spPr>
        <p:txBody>
          <a:bodyPr/>
          <a:lstStyle/>
          <a:p>
            <a:endParaRPr lang="en-DE" sz="700"/>
          </a:p>
        </p:txBody>
      </p:sp>
      <p:sp>
        <p:nvSpPr>
          <p:cNvPr id="2" name="Foliennummernplatzhalter 3">
            <a:extLst>
              <a:ext uri="{FF2B5EF4-FFF2-40B4-BE49-F238E27FC236}">
                <a16:creationId xmlns:a16="http://schemas.microsoft.com/office/drawing/2014/main" id="{53CA865F-60D3-F05F-B2FC-56532511889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7</a:t>
            </a:fld>
            <a:endParaRPr lang="de-DE" dirty="0"/>
          </a:p>
        </p:txBody>
      </p:sp>
      <p:sp>
        <p:nvSpPr>
          <p:cNvPr id="45" name="TextBox 4">
            <a:extLst>
              <a:ext uri="{FF2B5EF4-FFF2-40B4-BE49-F238E27FC236}">
                <a16:creationId xmlns:a16="http://schemas.microsoft.com/office/drawing/2014/main" id="{D2F937EC-981B-D31B-248B-390805AE6702}"/>
              </a:ext>
            </a:extLst>
          </p:cNvPr>
          <p:cNvSpPr txBox="1"/>
          <p:nvPr/>
        </p:nvSpPr>
        <p:spPr>
          <a:xfrm>
            <a:off x="17676" y="3261855"/>
            <a:ext cx="2459133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</a:pPr>
            <a:r>
              <a:rPr lang="en-US" sz="2272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Education</a:t>
            </a:r>
            <a:endParaRPr lang="en-US" sz="2272" b="1" dirty="0">
              <a:solidFill>
                <a:srgbClr val="FFFFFF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</p:spTree>
    <p:extLst>
      <p:ext uri="{BB962C8B-B14F-4D97-AF65-F5344CB8AC3E}">
        <p14:creationId xmlns:p14="http://schemas.microsoft.com/office/powerpoint/2010/main" val="3859427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E7E52-B4B7-FB75-AEFA-E0BFE24A7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95185C9-D46B-7033-2F85-995BC737195E}"/>
              </a:ext>
            </a:extLst>
          </p:cNvPr>
          <p:cNvSpPr/>
          <p:nvPr/>
        </p:nvSpPr>
        <p:spPr>
          <a:xfrm rot="-10800000">
            <a:off x="0" y="0"/>
            <a:ext cx="2459133" cy="6858000"/>
          </a:xfrm>
          <a:prstGeom prst="rect">
            <a:avLst/>
          </a:prstGeom>
          <a:solidFill>
            <a:srgbClr val="DC640D"/>
          </a:solidFill>
        </p:spPr>
        <p:txBody>
          <a:bodyPr/>
          <a:lstStyle/>
          <a:p>
            <a:endParaRPr lang="en-DE" sz="70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A7C724B-9C7B-61CF-828E-B2A792ECB18A}"/>
              </a:ext>
            </a:extLst>
          </p:cNvPr>
          <p:cNvSpPr/>
          <p:nvPr/>
        </p:nvSpPr>
        <p:spPr>
          <a:xfrm>
            <a:off x="-69850" y="4416211"/>
            <a:ext cx="2528983" cy="2528983"/>
          </a:xfrm>
          <a:custGeom>
            <a:avLst/>
            <a:gdLst/>
            <a:ahLst/>
            <a:cxnLst/>
            <a:rect l="l" t="t" r="r" b="b"/>
            <a:pathLst>
              <a:path w="5057966" h="5057966">
                <a:moveTo>
                  <a:pt x="0" y="0"/>
                </a:moveTo>
                <a:lnTo>
                  <a:pt x="5057966" y="0"/>
                </a:lnTo>
                <a:lnTo>
                  <a:pt x="5057966" y="5057966"/>
                </a:lnTo>
                <a:lnTo>
                  <a:pt x="0" y="5057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DE" sz="70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A6B2EBC-8877-F070-B0CD-BF52B977C8E8}"/>
              </a:ext>
            </a:extLst>
          </p:cNvPr>
          <p:cNvSpPr/>
          <p:nvPr/>
        </p:nvSpPr>
        <p:spPr>
          <a:xfrm>
            <a:off x="9747190" y="4649086"/>
            <a:ext cx="1978485" cy="1978485"/>
          </a:xfrm>
          <a:custGeom>
            <a:avLst/>
            <a:gdLst/>
            <a:ahLst/>
            <a:cxnLst/>
            <a:rect l="l" t="t" r="r" b="b"/>
            <a:pathLst>
              <a:path w="3956970" h="3956970">
                <a:moveTo>
                  <a:pt x="0" y="0"/>
                </a:moveTo>
                <a:lnTo>
                  <a:pt x="3956970" y="0"/>
                </a:lnTo>
                <a:lnTo>
                  <a:pt x="3956970" y="3956969"/>
                </a:lnTo>
                <a:lnTo>
                  <a:pt x="0" y="39569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DE" sz="70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3A7DC79D-4A40-4473-A62A-A1E556F91314}"/>
              </a:ext>
            </a:extLst>
          </p:cNvPr>
          <p:cNvSpPr/>
          <p:nvPr/>
        </p:nvSpPr>
        <p:spPr>
          <a:xfrm>
            <a:off x="256527" y="334757"/>
            <a:ext cx="1978485" cy="1978485"/>
          </a:xfrm>
          <a:custGeom>
            <a:avLst/>
            <a:gdLst/>
            <a:ahLst/>
            <a:cxnLst/>
            <a:rect l="l" t="t" r="r" b="b"/>
            <a:pathLst>
              <a:path w="3956970" h="3956970">
                <a:moveTo>
                  <a:pt x="0" y="0"/>
                </a:moveTo>
                <a:lnTo>
                  <a:pt x="3956970" y="0"/>
                </a:lnTo>
                <a:lnTo>
                  <a:pt x="3956970" y="3956970"/>
                </a:lnTo>
                <a:lnTo>
                  <a:pt x="0" y="39569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DE" sz="70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2102DCB-F106-4DAB-6330-7E5714FD5596}"/>
              </a:ext>
            </a:extLst>
          </p:cNvPr>
          <p:cNvSpPr/>
          <p:nvPr/>
        </p:nvSpPr>
        <p:spPr>
          <a:xfrm>
            <a:off x="7992364" y="507117"/>
            <a:ext cx="3629144" cy="2721858"/>
          </a:xfrm>
          <a:custGeom>
            <a:avLst/>
            <a:gdLst/>
            <a:ahLst/>
            <a:cxnLst/>
            <a:rect l="l" t="t" r="r" b="b"/>
            <a:pathLst>
              <a:path w="7258288" h="5443716">
                <a:moveTo>
                  <a:pt x="0" y="0"/>
                </a:moveTo>
                <a:lnTo>
                  <a:pt x="7258288" y="0"/>
                </a:lnTo>
                <a:lnTo>
                  <a:pt x="7258288" y="5443716"/>
                </a:lnTo>
                <a:lnTo>
                  <a:pt x="0" y="54437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DE" sz="70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19BD283-BC78-976F-C95D-2AEF4ABA8E20}"/>
              </a:ext>
            </a:extLst>
          </p:cNvPr>
          <p:cNvSpPr txBox="1"/>
          <p:nvPr/>
        </p:nvSpPr>
        <p:spPr>
          <a:xfrm>
            <a:off x="2612745" y="291895"/>
            <a:ext cx="4684974" cy="3032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</a:pPr>
            <a:r>
              <a:rPr lang="en-US" sz="1200" b="1" u="sng" dirty="0">
                <a:solidFill>
                  <a:srgbClr val="B0073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AI consultation hours</a:t>
            </a:r>
          </a:p>
          <a:p>
            <a:pPr marL="259086" lvl="1" indent="-129543">
              <a:lnSpc>
                <a:spcPts val="1680"/>
              </a:lnSpc>
              <a:buFont typeface="Arial"/>
              <a:buChar char="•"/>
            </a:pPr>
            <a:r>
              <a:rPr lang="en-US" sz="1200" dirty="0">
                <a:latin typeface="Codec Pro"/>
                <a:ea typeface="Codec Pro"/>
                <a:cs typeface="Codec Pro"/>
                <a:sym typeface="Codec Pro"/>
              </a:rPr>
              <a:t>Answering questions:</a:t>
            </a:r>
          </a:p>
          <a:p>
            <a:pPr marL="518172" lvl="2" indent="-172724">
              <a:lnSpc>
                <a:spcPts val="1680"/>
              </a:lnSpc>
              <a:buFont typeface="Arial"/>
              <a:buChar char="⚬"/>
            </a:pPr>
            <a:r>
              <a:rPr lang="en-US" sz="1200" dirty="0">
                <a:latin typeface="Codec Pro"/>
                <a:ea typeface="Codec Pro"/>
                <a:cs typeface="Codec Pro"/>
                <a:sym typeface="Codec Pro"/>
              </a:rPr>
              <a:t>about AI infrastructure</a:t>
            </a:r>
          </a:p>
          <a:p>
            <a:pPr marL="518172" lvl="2" indent="-172724">
              <a:lnSpc>
                <a:spcPts val="1680"/>
              </a:lnSpc>
              <a:buFont typeface="Arial"/>
              <a:buChar char="⚬"/>
            </a:pPr>
            <a:r>
              <a:rPr lang="en-US" sz="1200" dirty="0">
                <a:latin typeface="Codec Pro"/>
                <a:ea typeface="Codec Pro"/>
                <a:cs typeface="Codec Pro"/>
                <a:sym typeface="Codec Pro"/>
              </a:rPr>
              <a:t>about AI models &amp; frameworks</a:t>
            </a:r>
          </a:p>
          <a:p>
            <a:pPr marL="518172" lvl="2" indent="-172724">
              <a:lnSpc>
                <a:spcPts val="1680"/>
              </a:lnSpc>
              <a:buFont typeface="Arial"/>
              <a:buChar char="⚬"/>
            </a:pPr>
            <a:r>
              <a:rPr lang="en-US" sz="1200" dirty="0">
                <a:latin typeface="Codec Pro"/>
                <a:ea typeface="Codec Pro"/>
                <a:cs typeface="Codec Pro"/>
                <a:sym typeface="Codec Pro"/>
              </a:rPr>
              <a:t>about AI use cases</a:t>
            </a:r>
          </a:p>
          <a:p>
            <a:pPr>
              <a:lnSpc>
                <a:spcPts val="1680"/>
              </a:lnSpc>
            </a:pPr>
            <a:endParaRPr lang="en-US" sz="1200" dirty="0">
              <a:latin typeface="Codec Pro"/>
              <a:ea typeface="Codec Pro"/>
              <a:cs typeface="Codec Pro"/>
              <a:sym typeface="Codec Pro"/>
            </a:endParaRPr>
          </a:p>
          <a:p>
            <a:pPr>
              <a:lnSpc>
                <a:spcPts val="1680"/>
              </a:lnSpc>
            </a:pPr>
            <a:r>
              <a:rPr lang="en-US" sz="1200" b="1" u="sng" dirty="0">
                <a:solidFill>
                  <a:srgbClr val="DC640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AI pilot projects</a:t>
            </a:r>
          </a:p>
          <a:p>
            <a:pPr marL="259086" lvl="1" indent="-129543">
              <a:lnSpc>
                <a:spcPts val="1680"/>
              </a:lnSpc>
              <a:buFont typeface="Arial"/>
              <a:buChar char="•"/>
            </a:pPr>
            <a:r>
              <a:rPr lang="en-US" sz="1200" dirty="0">
                <a:latin typeface="Codec Pro"/>
                <a:ea typeface="Codec Pro"/>
                <a:cs typeface="Codec Pro"/>
                <a:sym typeface="Codec Pro"/>
              </a:rPr>
              <a:t>Co-development of a prototype</a:t>
            </a:r>
          </a:p>
          <a:p>
            <a:pPr marL="259086" lvl="1" indent="-129543">
              <a:lnSpc>
                <a:spcPts val="1680"/>
              </a:lnSpc>
              <a:buFont typeface="Arial"/>
              <a:buChar char="•"/>
            </a:pPr>
            <a:r>
              <a:rPr lang="en-US" sz="1200" dirty="0">
                <a:latin typeface="Codec Pro"/>
                <a:ea typeface="Codec Pro"/>
                <a:cs typeface="Codec Pro"/>
                <a:sym typeface="Codec Pro"/>
              </a:rPr>
              <a:t>Application every three months</a:t>
            </a:r>
          </a:p>
          <a:p>
            <a:pPr marL="259086" lvl="1" indent="-129543">
              <a:lnSpc>
                <a:spcPts val="1680"/>
              </a:lnSpc>
              <a:buFont typeface="Arial"/>
              <a:buChar char="•"/>
            </a:pPr>
            <a:r>
              <a:rPr lang="en-US" sz="1200" dirty="0">
                <a:latin typeface="Codec Pro"/>
                <a:ea typeface="Codec Pro"/>
                <a:cs typeface="Codec Pro"/>
                <a:sym typeface="Codec Pro"/>
              </a:rPr>
              <a:t>Selection criteria, e.g. AI maturity, public benefit</a:t>
            </a:r>
          </a:p>
          <a:p>
            <a:pPr marL="259086" lvl="1" indent="-129543">
              <a:lnSpc>
                <a:spcPts val="1680"/>
              </a:lnSpc>
              <a:buFont typeface="Arial"/>
              <a:buChar char="•"/>
            </a:pPr>
            <a:r>
              <a:rPr lang="en-US" sz="1200" dirty="0">
                <a:latin typeface="Codec Pro"/>
                <a:ea typeface="Codec Pro"/>
                <a:cs typeface="Codec Pro"/>
                <a:sym typeface="Codec Pro"/>
              </a:rPr>
              <a:t>Publication of results</a:t>
            </a:r>
          </a:p>
          <a:p>
            <a:pPr>
              <a:lnSpc>
                <a:spcPts val="1680"/>
              </a:lnSpc>
            </a:pPr>
            <a:endParaRPr lang="en-US" sz="1200" dirty="0">
              <a:latin typeface="Codec Pro"/>
              <a:ea typeface="Codec Pro"/>
              <a:cs typeface="Codec Pro"/>
              <a:sym typeface="Codec Pro"/>
            </a:endParaRPr>
          </a:p>
          <a:p>
            <a:pPr>
              <a:lnSpc>
                <a:spcPts val="1680"/>
              </a:lnSpc>
            </a:pPr>
            <a:r>
              <a:rPr lang="en-US" sz="1200" b="1" u="sng" dirty="0">
                <a:solidFill>
                  <a:srgbClr val="F6A8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Cooperation</a:t>
            </a:r>
          </a:p>
          <a:p>
            <a:pPr marL="259086" lvl="1" indent="-129543">
              <a:lnSpc>
                <a:spcPts val="1680"/>
              </a:lnSpc>
              <a:buFont typeface="Arial"/>
              <a:buChar char="•"/>
            </a:pPr>
            <a:r>
              <a:rPr lang="en-US" sz="1200" dirty="0">
                <a:latin typeface="Codec Pro"/>
                <a:ea typeface="Codec Pro"/>
                <a:cs typeface="Codec Pro"/>
                <a:sym typeface="Codec Pro"/>
              </a:rPr>
              <a:t>Jointly organized network meetings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6E09DEA-9656-55CA-7FEA-E0BF778B7296}"/>
              </a:ext>
            </a:extLst>
          </p:cNvPr>
          <p:cNvSpPr txBox="1"/>
          <p:nvPr/>
        </p:nvSpPr>
        <p:spPr>
          <a:xfrm>
            <a:off x="10602429" y="6521995"/>
            <a:ext cx="969566" cy="168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sz="1000" b="1" u="sng">
                <a:solidFill>
                  <a:srgbClr val="DC640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Apply now!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7450817-858C-4BB0-8E9F-7186B2D72257}"/>
              </a:ext>
            </a:extLst>
          </p:cNvPr>
          <p:cNvSpPr txBox="1"/>
          <p:nvPr/>
        </p:nvSpPr>
        <p:spPr>
          <a:xfrm>
            <a:off x="5295893" y="6449885"/>
            <a:ext cx="2466658" cy="168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00"/>
              </a:lnSpc>
            </a:pPr>
            <a:r>
              <a:rPr lang="en-US" sz="1000" b="1" u="sng">
                <a:solidFill>
                  <a:srgbClr val="DC640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github.com/aihpi/leichte-sprache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52AD6E0-395E-B6E6-3146-0BB0401FA973}"/>
              </a:ext>
            </a:extLst>
          </p:cNvPr>
          <p:cNvSpPr txBox="1"/>
          <p:nvPr/>
        </p:nvSpPr>
        <p:spPr>
          <a:xfrm>
            <a:off x="8031962" y="3386138"/>
            <a:ext cx="3589546" cy="1288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</a:pPr>
            <a:r>
              <a:rPr lang="en-US" sz="1200" b="1" dirty="0">
                <a:latin typeface="Codec Pro Bold"/>
                <a:ea typeface="Codec Pro Bold"/>
                <a:cs typeface="Codec Pro Bold"/>
                <a:sym typeface="Codec Pro Bold"/>
              </a:rPr>
              <a:t>Previous AI pilot projects</a:t>
            </a:r>
          </a:p>
          <a:p>
            <a:pPr marL="259086" lvl="1" indent="-129543">
              <a:lnSpc>
                <a:spcPts val="1680"/>
              </a:lnSpc>
              <a:buFont typeface="Arial"/>
              <a:buChar char="•"/>
            </a:pPr>
            <a:r>
              <a:rPr lang="en-US" sz="1200" dirty="0">
                <a:latin typeface="Codec Pro"/>
                <a:ea typeface="Codec Pro"/>
                <a:cs typeface="Codec Pro"/>
                <a:sym typeface="Codec Pro"/>
              </a:rPr>
              <a:t>Generation of math problems</a:t>
            </a:r>
          </a:p>
          <a:p>
            <a:pPr marL="259086" lvl="1" indent="-129543">
              <a:lnSpc>
                <a:spcPts val="1680"/>
              </a:lnSpc>
              <a:buFont typeface="Arial"/>
              <a:buChar char="•"/>
            </a:pPr>
            <a:r>
              <a:rPr lang="en-US" sz="1200" dirty="0">
                <a:latin typeface="Codec Pro"/>
                <a:ea typeface="Codec Pro"/>
                <a:cs typeface="Codec Pro"/>
                <a:sym typeface="Codec Pro"/>
              </a:rPr>
              <a:t>Generation of easy language</a:t>
            </a:r>
          </a:p>
          <a:p>
            <a:pPr marL="259086" lvl="1" indent="-129543">
              <a:lnSpc>
                <a:spcPts val="1680"/>
              </a:lnSpc>
              <a:buFont typeface="Arial"/>
              <a:buChar char="•"/>
            </a:pPr>
            <a:r>
              <a:rPr lang="en-US" sz="1200" dirty="0">
                <a:latin typeface="Codec Pro"/>
                <a:ea typeface="Codec Pro"/>
                <a:cs typeface="Codec Pro"/>
                <a:sym typeface="Codec Pro"/>
              </a:rPr>
              <a:t>Generation of upcycling suggestions</a:t>
            </a:r>
          </a:p>
          <a:p>
            <a:pPr marL="259086" lvl="1" indent="-129543">
              <a:lnSpc>
                <a:spcPts val="1680"/>
              </a:lnSpc>
              <a:buFont typeface="Arial"/>
              <a:buChar char="•"/>
            </a:pPr>
            <a:r>
              <a:rPr lang="en-US" sz="1200" dirty="0">
                <a:latin typeface="Codec Pro"/>
                <a:ea typeface="Codec Pro"/>
                <a:cs typeface="Codec Pro"/>
                <a:sym typeface="Codec Pro"/>
              </a:rPr>
              <a:t>Reduction of food waste</a:t>
            </a:r>
          </a:p>
          <a:p>
            <a:pPr marL="259086" lvl="1" indent="-129543">
              <a:lnSpc>
                <a:spcPts val="1680"/>
              </a:lnSpc>
              <a:buFont typeface="Arial"/>
              <a:buChar char="•"/>
            </a:pPr>
            <a:r>
              <a:rPr lang="en-US" sz="1200" dirty="0">
                <a:latin typeface="Codec Pro"/>
                <a:ea typeface="Codec Pro"/>
                <a:cs typeface="Codec Pro"/>
                <a:sym typeface="Codec Pro"/>
              </a:rPr>
              <a:t>Dating by handwriting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1E5C04E-ED58-EC08-A174-E133A8F0E244}"/>
              </a:ext>
            </a:extLst>
          </p:cNvPr>
          <p:cNvSpPr txBox="1"/>
          <p:nvPr/>
        </p:nvSpPr>
        <p:spPr>
          <a:xfrm>
            <a:off x="-117990" y="2331886"/>
            <a:ext cx="2353002" cy="168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00"/>
              </a:lnSpc>
            </a:pPr>
            <a:r>
              <a:rPr lang="en-US" sz="1000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Book a consultation</a:t>
            </a: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B5963AF0-69CA-24A6-87D6-AB040DA0880A}"/>
              </a:ext>
            </a:extLst>
          </p:cNvPr>
          <p:cNvSpPr/>
          <p:nvPr/>
        </p:nvSpPr>
        <p:spPr>
          <a:xfrm>
            <a:off x="17676" y="5896630"/>
            <a:ext cx="1467173" cy="961370"/>
          </a:xfrm>
          <a:custGeom>
            <a:avLst/>
            <a:gdLst/>
            <a:ahLst/>
            <a:cxnLst/>
            <a:rect l="l" t="t" r="r" b="b"/>
            <a:pathLst>
              <a:path w="2934345" h="1922740">
                <a:moveTo>
                  <a:pt x="0" y="0"/>
                </a:moveTo>
                <a:lnTo>
                  <a:pt x="2934345" y="0"/>
                </a:lnTo>
                <a:lnTo>
                  <a:pt x="2934345" y="1922740"/>
                </a:lnTo>
                <a:lnTo>
                  <a:pt x="0" y="19227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868"/>
            </a:stretch>
          </a:blipFill>
        </p:spPr>
        <p:txBody>
          <a:bodyPr/>
          <a:lstStyle/>
          <a:p>
            <a:endParaRPr lang="en-DE" sz="700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B3554141-F693-C666-58A0-1A4B39DB9718}"/>
              </a:ext>
            </a:extLst>
          </p:cNvPr>
          <p:cNvSpPr/>
          <p:nvPr/>
        </p:nvSpPr>
        <p:spPr>
          <a:xfrm>
            <a:off x="11131355" y="155304"/>
            <a:ext cx="884145" cy="312702"/>
          </a:xfrm>
          <a:custGeom>
            <a:avLst/>
            <a:gdLst/>
            <a:ahLst/>
            <a:cxnLst/>
            <a:rect l="l" t="t" r="r" b="b"/>
            <a:pathLst>
              <a:path w="1768290" h="625404">
                <a:moveTo>
                  <a:pt x="0" y="0"/>
                </a:moveTo>
                <a:lnTo>
                  <a:pt x="1768289" y="0"/>
                </a:lnTo>
                <a:lnTo>
                  <a:pt x="1768289" y="625404"/>
                </a:lnTo>
                <a:lnTo>
                  <a:pt x="0" y="6254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DE" sz="700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0E3721B3-19C6-9F78-66C3-AD284E6E7162}"/>
              </a:ext>
            </a:extLst>
          </p:cNvPr>
          <p:cNvSpPr/>
          <p:nvPr/>
        </p:nvSpPr>
        <p:spPr>
          <a:xfrm>
            <a:off x="2612745" y="3413527"/>
            <a:ext cx="5149806" cy="2562028"/>
          </a:xfrm>
          <a:custGeom>
            <a:avLst/>
            <a:gdLst/>
            <a:ahLst/>
            <a:cxnLst/>
            <a:rect l="l" t="t" r="r" b="b"/>
            <a:pathLst>
              <a:path w="10299611" h="5124056">
                <a:moveTo>
                  <a:pt x="0" y="0"/>
                </a:moveTo>
                <a:lnTo>
                  <a:pt x="10299611" y="0"/>
                </a:lnTo>
                <a:lnTo>
                  <a:pt x="10299611" y="5124057"/>
                </a:lnTo>
                <a:lnTo>
                  <a:pt x="0" y="512405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DE" sz="700"/>
          </a:p>
        </p:txBody>
      </p:sp>
      <p:sp>
        <p:nvSpPr>
          <p:cNvPr id="16" name="Foliennummernplatzhalter 3">
            <a:extLst>
              <a:ext uri="{FF2B5EF4-FFF2-40B4-BE49-F238E27FC236}">
                <a16:creationId xmlns:a16="http://schemas.microsoft.com/office/drawing/2014/main" id="{7E0EAF3F-F28C-6B56-7E06-2955DD37D04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8</a:t>
            </a:fld>
            <a:endParaRPr lang="de-DE" dirty="0"/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4D596CD5-4DC8-ECB1-74DE-5B535593001E}"/>
              </a:ext>
            </a:extLst>
          </p:cNvPr>
          <p:cNvSpPr txBox="1"/>
          <p:nvPr/>
        </p:nvSpPr>
        <p:spPr>
          <a:xfrm>
            <a:off x="17676" y="3261855"/>
            <a:ext cx="2459133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</a:pPr>
            <a:r>
              <a:rPr lang="en-US" sz="2272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Consulting</a:t>
            </a:r>
          </a:p>
        </p:txBody>
      </p:sp>
    </p:spTree>
    <p:extLst>
      <p:ext uri="{BB962C8B-B14F-4D97-AF65-F5344CB8AC3E}">
        <p14:creationId xmlns:p14="http://schemas.microsoft.com/office/powerpoint/2010/main" val="2344550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BB555-A745-9988-25C5-B185E4310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0645A05-FABC-4152-DE9E-8E221A87B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Other Workshops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416F9-7FBB-9D99-3DE8-5F54CDD594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9</a:t>
            </a:fld>
            <a:endParaRPr lang="de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8BBD39-8B59-3DDB-1472-AD4F46C3DDE0}"/>
              </a:ext>
            </a:extLst>
          </p:cNvPr>
          <p:cNvSpPr txBox="1"/>
          <p:nvPr/>
        </p:nvSpPr>
        <p:spPr>
          <a:xfrm>
            <a:off x="0" y="3265348"/>
            <a:ext cx="2963417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</a:pPr>
            <a:r>
              <a:rPr lang="en-US" sz="2272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Reinforcement Learning Workshop Series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3A9C6E-8965-6A3A-B025-47DFA788A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4675" y="1849184"/>
            <a:ext cx="4476510" cy="36460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DDC152-374E-1F7C-1FE6-4D479DF11A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7042" y="3075423"/>
            <a:ext cx="4341716" cy="130078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5117B51-BB53-0137-BD35-8C9CC7E253ED}"/>
              </a:ext>
            </a:extLst>
          </p:cNvPr>
          <p:cNvSpPr txBox="1"/>
          <p:nvPr/>
        </p:nvSpPr>
        <p:spPr>
          <a:xfrm>
            <a:off x="4489470" y="5584048"/>
            <a:ext cx="16065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RL I - Introduction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A70C0F-6508-0E2B-7AFC-864D850031CB}"/>
              </a:ext>
            </a:extLst>
          </p:cNvPr>
          <p:cNvSpPr txBox="1"/>
          <p:nvPr/>
        </p:nvSpPr>
        <p:spPr>
          <a:xfrm>
            <a:off x="9167132" y="5566296"/>
            <a:ext cx="15985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RL II - Application</a:t>
            </a:r>
          </a:p>
        </p:txBody>
      </p:sp>
    </p:spTree>
    <p:extLst>
      <p:ext uri="{BB962C8B-B14F-4D97-AF65-F5344CB8AC3E}">
        <p14:creationId xmlns:p14="http://schemas.microsoft.com/office/powerpoint/2010/main" val="292370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552F6565-84D8-4F15-811E-D6411F9A4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C4B5170-C464-C5A1-5F4D-E3A5BBCEC3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smtClean="0"/>
              <a:pPr/>
              <a:t>10</a:t>
            </a:fld>
            <a:endParaRPr lang="de-D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55394B-E68A-45A6-A22F-587D63010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2634" y="845634"/>
            <a:ext cx="5166731" cy="51667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0330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314B76B-C8E8-4CBE-B30C-2433E9568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4675" y="2256014"/>
            <a:ext cx="8658226" cy="3244034"/>
          </a:xfrm>
        </p:spPr>
        <p:txBody>
          <a:bodyPr/>
          <a:lstStyle/>
          <a:p>
            <a:pPr marL="285750" lvl="0" indent="-285750" eaLnBrk="0" fontAlgn="base" hangingPunct="0">
              <a:buFont typeface="Wingdings" pitchFamily="2" charset="2"/>
              <a:buChar char="§"/>
            </a:pPr>
            <a:r>
              <a:rPr lang="de-DE" altLang="de-DE" sz="2000" dirty="0"/>
              <a:t>“Our chatbot gives wrong or unclear answers”</a:t>
            </a:r>
          </a:p>
          <a:p>
            <a:pPr marL="0" lvl="0" indent="0" eaLnBrk="0" fontAlgn="base" hangingPunct="0"/>
            <a:endParaRPr lang="de-DE" altLang="de-DE" sz="2000" dirty="0"/>
          </a:p>
          <a:p>
            <a:pPr marL="342900" lvl="0" indent="-342900" eaLnBrk="0" fontAlgn="base" hangingPunct="0">
              <a:buFont typeface="Wingdings" panose="05000000000000000000" pitchFamily="2" charset="2"/>
              <a:buChar char="§"/>
            </a:pPr>
            <a:r>
              <a:rPr lang="de-DE" altLang="de-DE" sz="2000" dirty="0"/>
              <a:t>“We don't know whether our RAG system is reliable”</a:t>
            </a:r>
          </a:p>
          <a:p>
            <a:pPr marL="0" lvl="0" indent="0" eaLnBrk="0" fontAlgn="base" hangingPunct="0"/>
            <a:endParaRPr lang="de-DE" altLang="de-DE" sz="2000" dirty="0"/>
          </a:p>
          <a:p>
            <a:pPr marL="342900" lvl="0" indent="-342900" eaLnBrk="0" fontAlgn="base" hangingPunct="0">
              <a:buFont typeface="Wingdings" panose="05000000000000000000" pitchFamily="2" charset="2"/>
              <a:buChar char="§"/>
            </a:pPr>
            <a:r>
              <a:rPr lang="de-DE" altLang="de-DE" sz="2000" dirty="0"/>
              <a:t>“Answers are inconsistent or unhelpful”</a:t>
            </a:r>
          </a:p>
          <a:p>
            <a:pPr marL="342900" lvl="0" indent="-342900" eaLnBrk="0" fontAlgn="base" hangingPunct="0">
              <a:buFont typeface="Wingdings" panose="05000000000000000000" pitchFamily="2" charset="2"/>
              <a:buChar char="§"/>
            </a:pPr>
            <a:endParaRPr lang="de-DE" altLang="de-DE" sz="2000" dirty="0"/>
          </a:p>
          <a:p>
            <a:pPr marL="342900" lvl="0" indent="-342900" eaLnBrk="0" fontAlgn="base" hangingPunct="0">
              <a:buFont typeface="Wingdings" panose="05000000000000000000" pitchFamily="2" charset="2"/>
              <a:buChar char="§"/>
            </a:pPr>
            <a:r>
              <a:rPr lang="de-DE" altLang="de-DE" sz="2000" dirty="0"/>
              <a:t>“Evaluating our RAG system takes too long”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de-DE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698124-B641-451B-AE5D-BBB663DEDA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11</a:t>
            </a:fld>
            <a:endParaRPr lang="de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7C422D-4213-487A-81B3-64F4A4B17290}"/>
              </a:ext>
            </a:extLst>
          </p:cNvPr>
          <p:cNvSpPr txBox="1"/>
          <p:nvPr/>
        </p:nvSpPr>
        <p:spPr>
          <a:xfrm>
            <a:off x="17676" y="3261855"/>
            <a:ext cx="2963417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</a:pPr>
            <a:r>
              <a:rPr lang="en-US" sz="2272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Motivation</a:t>
            </a:r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C020665C-A960-509A-180B-49A6897DE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4675" y="507304"/>
            <a:ext cx="6851715" cy="1009076"/>
          </a:xfr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95042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29C481A-0A11-5294-FEB3-D985E9E9E8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4675" y="2077320"/>
            <a:ext cx="8658226" cy="2369069"/>
          </a:xfrm>
        </p:spPr>
        <p:txBody>
          <a:bodyPr/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de-DE" sz="2000" dirty="0"/>
              <a:t>Evaluate RAG systems systematically and optimize them iteratively</a:t>
            </a:r>
          </a:p>
          <a:p>
            <a:pPr marL="0" indent="0"/>
            <a:endParaRPr lang="de-DE" altLang="de-DE" sz="2000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de-DE" sz="2000" dirty="0"/>
              <a:t>Understand how answer quality can be improved and how “quality” can be measured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D55EDA2F-C212-467A-B9B9-BD271EE53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45C2992A-BDCF-BB37-3862-322CDE2B72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12</a:t>
            </a:fld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611DB2-AC44-42BC-8BE4-83F9D46EA9D8}"/>
              </a:ext>
            </a:extLst>
          </p:cNvPr>
          <p:cNvSpPr txBox="1"/>
          <p:nvPr/>
        </p:nvSpPr>
        <p:spPr>
          <a:xfrm>
            <a:off x="17676" y="3261855"/>
            <a:ext cx="2963417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</a:pPr>
            <a:r>
              <a:rPr lang="en-US" sz="2272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Learning objectives</a:t>
            </a:r>
            <a:endParaRPr lang="en-US" sz="2272" b="1" dirty="0">
              <a:solidFill>
                <a:srgbClr val="FFFFFF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</p:spTree>
    <p:extLst>
      <p:ext uri="{BB962C8B-B14F-4D97-AF65-F5344CB8AC3E}">
        <p14:creationId xmlns:p14="http://schemas.microsoft.com/office/powerpoint/2010/main" val="1523513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542ABB-A7AF-442F-B8CE-FC91635FA4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342900">
              <a:buFont typeface="+mj-lt"/>
              <a:buAutoNum type="arabicPeriod"/>
            </a:pPr>
            <a:r>
              <a:rPr lang="de-DE" sz="1800" dirty="0"/>
              <a:t>Basics: evaluation &amp; alignment of a RAG system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de-DE" sz="1800" dirty="0"/>
              <a:t>RAGAS metrics</a:t>
            </a:r>
          </a:p>
          <a:p>
            <a:pPr marL="571500" indent="-342900">
              <a:buFont typeface="+mj-lt"/>
              <a:buAutoNum type="arabicPeriod"/>
            </a:pPr>
            <a:r>
              <a:rPr lang="de-DE" sz="1800" dirty="0"/>
              <a:t>Practice and discussion</a:t>
            </a:r>
          </a:p>
          <a:p>
            <a:pPr marL="1028700" lvl="1" indent="-342900"/>
            <a:r>
              <a:rPr lang="de-DE" sz="1800" dirty="0"/>
              <a:t>Implement RAGAS metrics in notebooks</a:t>
            </a:r>
          </a:p>
          <a:p>
            <a:pPr marL="1028700" lvl="1" indent="-342900"/>
            <a:r>
              <a:rPr lang="de-DE" sz="1800" dirty="0"/>
              <a:t>Evaluate and adjust the RAG system</a:t>
            </a:r>
          </a:p>
          <a:p>
            <a:pPr marL="571500" indent="-342900">
              <a:buFont typeface="+mj-lt"/>
              <a:buAutoNum type="arabicPeriod"/>
            </a:pPr>
            <a:r>
              <a:rPr lang="de-DE" sz="1800" dirty="0"/>
              <a:t>Outlook on RLHF, RLAIF</a:t>
            </a:r>
          </a:p>
          <a:p>
            <a:pPr marL="571500" indent="-342900">
              <a:buFont typeface="+mj-lt"/>
              <a:buAutoNum type="arabicPeriod"/>
            </a:pPr>
            <a:endParaRPr lang="de-DE" sz="1800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819DC784-0EC9-4878-BBEB-2BC6839D3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A1C26A-893E-4B82-AAB2-D331A7CDDD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13</a:t>
            </a:fld>
            <a:endParaRPr lang="de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FE8CAA-B145-48FD-81FD-23F3C586CCBD}"/>
              </a:ext>
            </a:extLst>
          </p:cNvPr>
          <p:cNvSpPr txBox="1"/>
          <p:nvPr/>
        </p:nvSpPr>
        <p:spPr>
          <a:xfrm>
            <a:off x="17676" y="3261855"/>
            <a:ext cx="2963417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</a:pPr>
            <a:r>
              <a:rPr lang="en-US" sz="2272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664955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26F4F0FB-AC8C-4C1B-858D-7C11B066E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C4B5170-C464-C5A1-5F4D-E3A5BBCEC3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smtClean="0"/>
              <a:pPr/>
              <a:t>14</a:t>
            </a:fld>
            <a:endParaRPr lang="de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7DA5B0-8C21-454F-84AA-4F90C58D0F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442010" y="775010"/>
            <a:ext cx="5307980" cy="53079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43678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EEE9A-7FC2-2BB9-BB4B-258767BC6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EBFAA362-7B10-3F43-8D3C-27F35ED92CB9}"/>
              </a:ext>
            </a:extLst>
          </p:cNvPr>
          <p:cNvSpPr/>
          <p:nvPr/>
        </p:nvSpPr>
        <p:spPr>
          <a:xfrm>
            <a:off x="-69850" y="4416211"/>
            <a:ext cx="2528983" cy="2528983"/>
          </a:xfrm>
          <a:custGeom>
            <a:avLst/>
            <a:gdLst/>
            <a:ahLst/>
            <a:cxnLst/>
            <a:rect l="l" t="t" r="r" b="b"/>
            <a:pathLst>
              <a:path w="5057966" h="5057966">
                <a:moveTo>
                  <a:pt x="0" y="0"/>
                </a:moveTo>
                <a:lnTo>
                  <a:pt x="5057966" y="0"/>
                </a:lnTo>
                <a:lnTo>
                  <a:pt x="5057966" y="5057966"/>
                </a:lnTo>
                <a:lnTo>
                  <a:pt x="0" y="5057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5DA1589-2AA8-90DC-4B19-D7DBDEC693D8}"/>
              </a:ext>
            </a:extLst>
          </p:cNvPr>
          <p:cNvSpPr/>
          <p:nvPr/>
        </p:nvSpPr>
        <p:spPr>
          <a:xfrm>
            <a:off x="12577" y="5637019"/>
            <a:ext cx="1600841" cy="1135671"/>
          </a:xfrm>
          <a:custGeom>
            <a:avLst/>
            <a:gdLst/>
            <a:ahLst/>
            <a:cxnLst/>
            <a:rect l="l" t="t" r="r" b="b"/>
            <a:pathLst>
              <a:path w="3201682" h="2271341">
                <a:moveTo>
                  <a:pt x="0" y="0"/>
                </a:moveTo>
                <a:lnTo>
                  <a:pt x="3201682" y="0"/>
                </a:lnTo>
                <a:lnTo>
                  <a:pt x="3201682" y="2271341"/>
                </a:lnTo>
                <a:lnTo>
                  <a:pt x="0" y="22713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9C0C2E82-07B4-5179-E668-3C2B701978C3}"/>
              </a:ext>
            </a:extLst>
          </p:cNvPr>
          <p:cNvGrpSpPr/>
          <p:nvPr/>
        </p:nvGrpSpPr>
        <p:grpSpPr>
          <a:xfrm>
            <a:off x="182881" y="1420837"/>
            <a:ext cx="11873132" cy="4216182"/>
            <a:chOff x="182881" y="1420837"/>
            <a:chExt cx="11873132" cy="4216182"/>
          </a:xfrm>
        </p:grpSpPr>
        <p:sp>
          <p:nvSpPr>
            <p:cNvPr id="32" name="Abgerundetes Rechteck 31">
              <a:extLst>
                <a:ext uri="{FF2B5EF4-FFF2-40B4-BE49-F238E27FC236}">
                  <a16:creationId xmlns:a16="http://schemas.microsoft.com/office/drawing/2014/main" id="{463B882C-37DB-7869-2730-56D1CEC85474}"/>
                </a:ext>
              </a:extLst>
            </p:cNvPr>
            <p:cNvSpPr/>
            <p:nvPr/>
          </p:nvSpPr>
          <p:spPr>
            <a:xfrm>
              <a:off x="182881" y="1420837"/>
              <a:ext cx="11873132" cy="2008163"/>
            </a:xfrm>
            <a:prstGeom prst="roundRect">
              <a:avLst/>
            </a:prstGeom>
            <a:solidFill>
              <a:schemeClr val="accent1">
                <a:alpha val="22518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grpSp>
          <p:nvGrpSpPr>
            <p:cNvPr id="25" name="Gruppieren 24">
              <a:extLst>
                <a:ext uri="{FF2B5EF4-FFF2-40B4-BE49-F238E27FC236}">
                  <a16:creationId xmlns:a16="http://schemas.microsoft.com/office/drawing/2014/main" id="{BBEF845E-68CC-88D5-45F1-46537EBCD9CC}"/>
                </a:ext>
              </a:extLst>
            </p:cNvPr>
            <p:cNvGrpSpPr/>
            <p:nvPr/>
          </p:nvGrpSpPr>
          <p:grpSpPr>
            <a:xfrm>
              <a:off x="3364350" y="4831204"/>
              <a:ext cx="5463300" cy="805815"/>
              <a:chOff x="2413875" y="4841024"/>
              <a:chExt cx="5463300" cy="805815"/>
            </a:xfrm>
          </p:grpSpPr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1C3FC508-1EC7-CDF0-CC81-F2F33918E3D7}"/>
                  </a:ext>
                </a:extLst>
              </p:cNvPr>
              <p:cNvSpPr/>
              <p:nvPr/>
            </p:nvSpPr>
            <p:spPr>
              <a:xfrm>
                <a:off x="4362450" y="4841024"/>
                <a:ext cx="1552575" cy="805815"/>
              </a:xfrm>
              <a:prstGeom prst="roundRect">
                <a:avLst/>
              </a:prstGeom>
              <a:solidFill>
                <a:srgbClr val="F7A6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800" dirty="0">
                    <a:solidFill>
                      <a:schemeClr val="tx1">
                        <a:lumMod val="7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LLM</a:t>
                </a:r>
                <a:endParaRPr lang="en-GB" dirty="0">
                  <a:solidFill>
                    <a:schemeClr val="tx1">
                      <a:lumMod val="7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F8A3D455-438A-E455-DBB9-5A4367C0F6C7}"/>
                  </a:ext>
                </a:extLst>
              </p:cNvPr>
              <p:cNvSpPr/>
              <p:nvPr/>
            </p:nvSpPr>
            <p:spPr>
              <a:xfrm>
                <a:off x="6324600" y="4841024"/>
                <a:ext cx="1552575" cy="805815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800" dirty="0">
                    <a:solidFill>
                      <a:schemeClr val="tx1">
                        <a:lumMod val="7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Response</a:t>
                </a:r>
                <a:endParaRPr lang="en-GB" dirty="0">
                  <a:solidFill>
                    <a:schemeClr val="tx1">
                      <a:lumMod val="7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A7DE232E-C9C6-8201-296B-A0B0CC954EC5}"/>
                  </a:ext>
                </a:extLst>
              </p:cNvPr>
              <p:cNvCxnSpPr/>
              <p:nvPr/>
            </p:nvCxnSpPr>
            <p:spPr>
              <a:xfrm>
                <a:off x="5915025" y="5259173"/>
                <a:ext cx="396000" cy="0"/>
              </a:xfrm>
              <a:prstGeom prst="straightConnector1">
                <a:avLst/>
              </a:prstGeom>
              <a:ln w="76200"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" name="Rectangle: Rounded Corners 5">
                <a:extLst>
                  <a:ext uri="{FF2B5EF4-FFF2-40B4-BE49-F238E27FC236}">
                    <a16:creationId xmlns:a16="http://schemas.microsoft.com/office/drawing/2014/main" id="{E6F5B79C-4663-7348-8153-666ABBDE871D}"/>
                  </a:ext>
                </a:extLst>
              </p:cNvPr>
              <p:cNvSpPr/>
              <p:nvPr/>
            </p:nvSpPr>
            <p:spPr>
              <a:xfrm>
                <a:off x="2413875" y="4841024"/>
                <a:ext cx="1552575" cy="805815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800" dirty="0">
                    <a:solidFill>
                      <a:schemeClr val="tx1">
                        <a:lumMod val="7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Query</a:t>
                </a:r>
                <a:endParaRPr lang="en-GB" dirty="0">
                  <a:solidFill>
                    <a:schemeClr val="tx1">
                      <a:lumMod val="7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  <p:cxnSp>
            <p:nvCxnSpPr>
              <p:cNvPr id="24" name="Straight Arrow Connector 13">
                <a:extLst>
                  <a:ext uri="{FF2B5EF4-FFF2-40B4-BE49-F238E27FC236}">
                    <a16:creationId xmlns:a16="http://schemas.microsoft.com/office/drawing/2014/main" id="{E7D631D5-BE64-6589-2ED1-A0FF1CC3899D}"/>
                  </a:ext>
                </a:extLst>
              </p:cNvPr>
              <p:cNvCxnSpPr>
                <a:stCxn id="11" idx="3"/>
              </p:cNvCxnSpPr>
              <p:nvPr/>
            </p:nvCxnSpPr>
            <p:spPr>
              <a:xfrm>
                <a:off x="3966449" y="5243932"/>
                <a:ext cx="396000" cy="0"/>
              </a:xfrm>
              <a:prstGeom prst="straightConnector1">
                <a:avLst/>
              </a:prstGeom>
              <a:ln w="76200"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Gruppieren 30">
              <a:extLst>
                <a:ext uri="{FF2B5EF4-FFF2-40B4-BE49-F238E27FC236}">
                  <a16:creationId xmlns:a16="http://schemas.microsoft.com/office/drawing/2014/main" id="{1AD8E6A6-5907-5993-6542-02554C401A1D}"/>
                </a:ext>
              </a:extLst>
            </p:cNvPr>
            <p:cNvGrpSpPr/>
            <p:nvPr/>
          </p:nvGrpSpPr>
          <p:grpSpPr>
            <a:xfrm>
              <a:off x="322939" y="1791270"/>
              <a:ext cx="11580171" cy="1343025"/>
              <a:chOff x="275604" y="1809329"/>
              <a:chExt cx="11580171" cy="1343025"/>
            </a:xfrm>
          </p:grpSpPr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87BA8CDD-949A-DB80-C54D-D72742C1FE55}"/>
                  </a:ext>
                </a:extLst>
              </p:cNvPr>
              <p:cNvSpPr/>
              <p:nvPr/>
            </p:nvSpPr>
            <p:spPr>
              <a:xfrm>
                <a:off x="2400300" y="2056026"/>
                <a:ext cx="1552575" cy="805815"/>
              </a:xfrm>
              <a:prstGeom prst="round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800" dirty="0">
                    <a:solidFill>
                      <a:schemeClr val="tx1">
                        <a:lumMod val="7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Data Filtering &amp; cleaning</a:t>
                </a:r>
                <a:endParaRPr lang="en-GB" dirty="0">
                  <a:solidFill>
                    <a:schemeClr val="tx1">
                      <a:lumMod val="7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  <p:sp>
            <p:nvSpPr>
              <p:cNvPr id="12" name="Flowchart: Multidocument 11">
                <a:extLst>
                  <a:ext uri="{FF2B5EF4-FFF2-40B4-BE49-F238E27FC236}">
                    <a16:creationId xmlns:a16="http://schemas.microsoft.com/office/drawing/2014/main" id="{D1B6AEA0-8112-4BBF-479D-5286D80D4199}"/>
                  </a:ext>
                </a:extLst>
              </p:cNvPr>
              <p:cNvSpPr/>
              <p:nvPr/>
            </p:nvSpPr>
            <p:spPr>
              <a:xfrm>
                <a:off x="275604" y="1809329"/>
                <a:ext cx="1552575" cy="1343025"/>
              </a:xfrm>
              <a:prstGeom prst="flowChartMultidocumen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800" dirty="0">
                    <a:solidFill>
                      <a:schemeClr val="tx1">
                        <a:lumMod val="7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Docs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82E7CDC2-2F98-53A2-5F6F-C2CDD7ABAE15}"/>
                  </a:ext>
                </a:extLst>
              </p:cNvPr>
              <p:cNvCxnSpPr>
                <a:cxnSpLocks/>
                <a:endCxn id="5" idx="1"/>
              </p:cNvCxnSpPr>
              <p:nvPr/>
            </p:nvCxnSpPr>
            <p:spPr>
              <a:xfrm>
                <a:off x="1990724" y="2458934"/>
                <a:ext cx="396000" cy="0"/>
              </a:xfrm>
              <a:prstGeom prst="straightConnector1">
                <a:avLst/>
              </a:prstGeom>
              <a:ln w="76200"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CBED4535-CB81-2ABE-977C-9E9644B7D397}"/>
                  </a:ext>
                </a:extLst>
              </p:cNvPr>
              <p:cNvCxnSpPr/>
              <p:nvPr/>
            </p:nvCxnSpPr>
            <p:spPr>
              <a:xfrm>
                <a:off x="3966450" y="2458934"/>
                <a:ext cx="396000" cy="0"/>
              </a:xfrm>
              <a:prstGeom prst="straightConnector1">
                <a:avLst/>
              </a:prstGeom>
              <a:ln w="76200"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454A8004-AC30-6F3A-2D07-F3875BD1E7BF}"/>
                  </a:ext>
                </a:extLst>
              </p:cNvPr>
              <p:cNvCxnSpPr/>
              <p:nvPr/>
            </p:nvCxnSpPr>
            <p:spPr>
              <a:xfrm>
                <a:off x="5928600" y="2458934"/>
                <a:ext cx="396000" cy="0"/>
              </a:xfrm>
              <a:prstGeom prst="straightConnector1">
                <a:avLst/>
              </a:prstGeom>
              <a:ln w="76200"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DEC8E1D6-9AE4-A5CB-971D-05A1685F19C0}"/>
                  </a:ext>
                </a:extLst>
              </p:cNvPr>
              <p:cNvCxnSpPr/>
              <p:nvPr/>
            </p:nvCxnSpPr>
            <p:spPr>
              <a:xfrm>
                <a:off x="7890750" y="2480842"/>
                <a:ext cx="396000" cy="0"/>
              </a:xfrm>
              <a:prstGeom prst="straightConnector1">
                <a:avLst/>
              </a:prstGeom>
              <a:ln w="76200"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" name="Rectangle: Rounded Corners 4">
                <a:extLst>
                  <a:ext uri="{FF2B5EF4-FFF2-40B4-BE49-F238E27FC236}">
                    <a16:creationId xmlns:a16="http://schemas.microsoft.com/office/drawing/2014/main" id="{B4F6D8C5-0302-34D8-77B0-44D2FB8EB05C}"/>
                  </a:ext>
                </a:extLst>
              </p:cNvPr>
              <p:cNvSpPr/>
              <p:nvPr/>
            </p:nvSpPr>
            <p:spPr>
              <a:xfrm>
                <a:off x="4376025" y="2077933"/>
                <a:ext cx="1552575" cy="805815"/>
              </a:xfrm>
              <a:prstGeom prst="round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dirty="0">
                    <a:solidFill>
                      <a:schemeClr val="tx1">
                        <a:lumMod val="7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Tokenization</a:t>
                </a:r>
                <a:endParaRPr lang="en-GB" dirty="0">
                  <a:solidFill>
                    <a:schemeClr val="tx1">
                      <a:lumMod val="7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  <p:sp>
            <p:nvSpPr>
              <p:cNvPr id="26" name="Rectangle: Rounded Corners 4">
                <a:extLst>
                  <a:ext uri="{FF2B5EF4-FFF2-40B4-BE49-F238E27FC236}">
                    <a16:creationId xmlns:a16="http://schemas.microsoft.com/office/drawing/2014/main" id="{1369F5EA-4B0F-0BEE-DC18-CC5947CB513F}"/>
                  </a:ext>
                </a:extLst>
              </p:cNvPr>
              <p:cNvSpPr/>
              <p:nvPr/>
            </p:nvSpPr>
            <p:spPr>
              <a:xfrm>
                <a:off x="6351750" y="2077932"/>
                <a:ext cx="1552575" cy="805815"/>
              </a:xfrm>
              <a:prstGeom prst="round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dirty="0">
                    <a:solidFill>
                      <a:schemeClr val="tx1">
                        <a:lumMod val="7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Pretraining</a:t>
                </a:r>
                <a:br>
                  <a:rPr lang="en-GB" sz="1600" dirty="0">
                    <a:solidFill>
                      <a:schemeClr val="tx1">
                        <a:lumMod val="7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GB" sz="1600" dirty="0">
                    <a:solidFill>
                      <a:schemeClr val="tx1">
                        <a:lumMod val="7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(Next Token Prediction)</a:t>
                </a:r>
                <a:endParaRPr lang="en-GB" sz="1200" dirty="0">
                  <a:solidFill>
                    <a:schemeClr val="tx1">
                      <a:lumMod val="7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  <p:sp>
            <p:nvSpPr>
              <p:cNvPr id="27" name="Rectangle: Rounded Corners 4">
                <a:extLst>
                  <a:ext uri="{FF2B5EF4-FFF2-40B4-BE49-F238E27FC236}">
                    <a16:creationId xmlns:a16="http://schemas.microsoft.com/office/drawing/2014/main" id="{F671520F-E684-98D2-96D5-86EA2082F7C6}"/>
                  </a:ext>
                </a:extLst>
              </p:cNvPr>
              <p:cNvSpPr/>
              <p:nvPr/>
            </p:nvSpPr>
            <p:spPr>
              <a:xfrm>
                <a:off x="8327475" y="2077932"/>
                <a:ext cx="1552575" cy="805815"/>
              </a:xfrm>
              <a:prstGeom prst="round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800" dirty="0">
                    <a:solidFill>
                      <a:schemeClr val="tx1">
                        <a:lumMod val="7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Supervised Fine Tuning</a:t>
                </a:r>
                <a:endParaRPr lang="en-GB" dirty="0">
                  <a:solidFill>
                    <a:schemeClr val="tx1">
                      <a:lumMod val="7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  <p:sp>
            <p:nvSpPr>
              <p:cNvPr id="29" name="Rectangle: Rounded Corners 4">
                <a:extLst>
                  <a:ext uri="{FF2B5EF4-FFF2-40B4-BE49-F238E27FC236}">
                    <a16:creationId xmlns:a16="http://schemas.microsoft.com/office/drawing/2014/main" id="{35201414-4BFD-1AA1-2FA6-190EAE7194CB}"/>
                  </a:ext>
                </a:extLst>
              </p:cNvPr>
              <p:cNvSpPr/>
              <p:nvPr/>
            </p:nvSpPr>
            <p:spPr>
              <a:xfrm>
                <a:off x="10303200" y="2090261"/>
                <a:ext cx="1552575" cy="805815"/>
              </a:xfrm>
              <a:prstGeom prst="round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dirty="0">
                    <a:solidFill>
                      <a:schemeClr val="tx1">
                        <a:lumMod val="7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RLHF/RLAIF</a:t>
                </a:r>
                <a:endParaRPr lang="en-GB" sz="1200" dirty="0">
                  <a:solidFill>
                    <a:schemeClr val="tx1">
                      <a:lumMod val="7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  <p:cxnSp>
            <p:nvCxnSpPr>
              <p:cNvPr id="30" name="Straight Arrow Connector 16">
                <a:extLst>
                  <a:ext uri="{FF2B5EF4-FFF2-40B4-BE49-F238E27FC236}">
                    <a16:creationId xmlns:a16="http://schemas.microsoft.com/office/drawing/2014/main" id="{67975308-D1BD-0DC5-4CFC-5BEEA359C600}"/>
                  </a:ext>
                </a:extLst>
              </p:cNvPr>
              <p:cNvCxnSpPr/>
              <p:nvPr/>
            </p:nvCxnSpPr>
            <p:spPr>
              <a:xfrm>
                <a:off x="9880050" y="2480839"/>
                <a:ext cx="396000" cy="0"/>
              </a:xfrm>
              <a:prstGeom prst="straightConnector1">
                <a:avLst/>
              </a:prstGeom>
              <a:ln w="76200"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Gerade Verbindung 33">
              <a:extLst>
                <a:ext uri="{FF2B5EF4-FFF2-40B4-BE49-F238E27FC236}">
                  <a16:creationId xmlns:a16="http://schemas.microsoft.com/office/drawing/2014/main" id="{1E6AD44A-EC75-1309-19C7-4588399C0D6D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>
              <a:off x="478302" y="3429000"/>
              <a:ext cx="5610911" cy="140220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 Verbindung 36">
              <a:extLst>
                <a:ext uri="{FF2B5EF4-FFF2-40B4-BE49-F238E27FC236}">
                  <a16:creationId xmlns:a16="http://schemas.microsoft.com/office/drawing/2014/main" id="{67087AB3-A6BC-A628-4843-D2ED79757BCE}"/>
                </a:ext>
              </a:extLst>
            </p:cNvPr>
            <p:cNvCxnSpPr>
              <a:stCxn id="7" idx="0"/>
            </p:cNvCxnSpPr>
            <p:nvPr/>
          </p:nvCxnSpPr>
          <p:spPr>
            <a:xfrm flipV="1">
              <a:off x="6089213" y="3429000"/>
              <a:ext cx="5699513" cy="140220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D81E67BB-EE03-E0C5-0E98-8EFDF64DC09D}"/>
                </a:ext>
              </a:extLst>
            </p:cNvPr>
            <p:cNvSpPr txBox="1"/>
            <p:nvPr/>
          </p:nvSpPr>
          <p:spPr>
            <a:xfrm>
              <a:off x="5330406" y="1472299"/>
              <a:ext cx="1531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800" dirty="0">
                  <a:solidFill>
                    <a:srgbClr val="AF0333"/>
                  </a:solidFill>
                </a:rPr>
                <a:t>Training LLM</a:t>
              </a:r>
            </a:p>
          </p:txBody>
        </p:sp>
      </p:grpSp>
      <p:sp>
        <p:nvSpPr>
          <p:cNvPr id="40" name="TextBox 20">
            <a:extLst>
              <a:ext uri="{FF2B5EF4-FFF2-40B4-BE49-F238E27FC236}">
                <a16:creationId xmlns:a16="http://schemas.microsoft.com/office/drawing/2014/main" id="{6C1FC791-C7FB-BA23-59CC-9A770DEA70ED}"/>
              </a:ext>
            </a:extLst>
          </p:cNvPr>
          <p:cNvSpPr txBox="1"/>
          <p:nvPr/>
        </p:nvSpPr>
        <p:spPr>
          <a:xfrm>
            <a:off x="438150" y="525315"/>
            <a:ext cx="9401175" cy="3680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27"/>
              </a:lnSpc>
            </a:pPr>
            <a:r>
              <a:rPr lang="en-US" sz="3200" b="1" dirty="0" err="1">
                <a:solidFill>
                  <a:schemeClr val="tx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Context</a:t>
            </a:r>
            <a:r>
              <a:rPr lang="en-US" sz="3200" b="1" dirty="0">
                <a:solidFill>
                  <a:schemeClr val="tx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LLM</a:t>
            </a:r>
          </a:p>
        </p:txBody>
      </p:sp>
    </p:spTree>
    <p:extLst>
      <p:ext uri="{BB962C8B-B14F-4D97-AF65-F5344CB8AC3E}">
        <p14:creationId xmlns:p14="http://schemas.microsoft.com/office/powerpoint/2010/main" val="643809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B491D-A21A-D2A7-E916-7C393602D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BB387CCB-25DD-5C54-45B7-54B378A01CA7}"/>
              </a:ext>
            </a:extLst>
          </p:cNvPr>
          <p:cNvSpPr txBox="1"/>
          <p:nvPr/>
        </p:nvSpPr>
        <p:spPr>
          <a:xfrm>
            <a:off x="438150" y="525315"/>
            <a:ext cx="9401175" cy="3680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27"/>
              </a:lnSpc>
            </a:pPr>
            <a:r>
              <a:rPr lang="en-US" sz="3200" b="1" dirty="0" err="1">
                <a:solidFill>
                  <a:schemeClr val="tx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Context</a:t>
            </a:r>
            <a:r>
              <a:rPr lang="en-US" sz="3200" b="1" dirty="0">
                <a:solidFill>
                  <a:schemeClr val="tx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RAG</a:t>
            </a: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1115E41-4A65-9C8B-53A3-B0FD9A2BB703}"/>
              </a:ext>
            </a:extLst>
          </p:cNvPr>
          <p:cNvSpPr/>
          <p:nvPr/>
        </p:nvSpPr>
        <p:spPr>
          <a:xfrm>
            <a:off x="-69850" y="4416211"/>
            <a:ext cx="2528983" cy="2528983"/>
          </a:xfrm>
          <a:custGeom>
            <a:avLst/>
            <a:gdLst/>
            <a:ahLst/>
            <a:cxnLst/>
            <a:rect l="l" t="t" r="r" b="b"/>
            <a:pathLst>
              <a:path w="5057966" h="5057966">
                <a:moveTo>
                  <a:pt x="0" y="0"/>
                </a:moveTo>
                <a:lnTo>
                  <a:pt x="5057966" y="0"/>
                </a:lnTo>
                <a:lnTo>
                  <a:pt x="5057966" y="5057966"/>
                </a:lnTo>
                <a:lnTo>
                  <a:pt x="0" y="5057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C7AE5358-8832-56BC-DC8E-6A35C4728220}"/>
              </a:ext>
            </a:extLst>
          </p:cNvPr>
          <p:cNvGrpSpPr/>
          <p:nvPr/>
        </p:nvGrpSpPr>
        <p:grpSpPr>
          <a:xfrm>
            <a:off x="12577" y="1770276"/>
            <a:ext cx="11788898" cy="5024150"/>
            <a:chOff x="12577" y="1770276"/>
            <a:chExt cx="11788898" cy="502415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A6EC315-575A-8C55-E69F-0A617866C413}"/>
                </a:ext>
              </a:extLst>
            </p:cNvPr>
            <p:cNvSpPr/>
            <p:nvPr/>
          </p:nvSpPr>
          <p:spPr>
            <a:xfrm>
              <a:off x="12577" y="5637019"/>
              <a:ext cx="1600841" cy="1135671"/>
            </a:xfrm>
            <a:custGeom>
              <a:avLst/>
              <a:gdLst/>
              <a:ahLst/>
              <a:cxnLst/>
              <a:rect l="l" t="t" r="r" b="b"/>
              <a:pathLst>
                <a:path w="3201682" h="2271341">
                  <a:moveTo>
                    <a:pt x="0" y="0"/>
                  </a:moveTo>
                  <a:lnTo>
                    <a:pt x="3201682" y="0"/>
                  </a:lnTo>
                  <a:lnTo>
                    <a:pt x="3201682" y="2271341"/>
                  </a:lnTo>
                  <a:lnTo>
                    <a:pt x="0" y="22713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de-DE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916EE482-0C6C-5005-5573-59B446B69F62}"/>
                </a:ext>
              </a:extLst>
            </p:cNvPr>
            <p:cNvSpPr/>
            <p:nvPr/>
          </p:nvSpPr>
          <p:spPr>
            <a:xfrm>
              <a:off x="2400300" y="2056026"/>
              <a:ext cx="1552575" cy="805815"/>
            </a:xfrm>
            <a:prstGeom prst="roundRect">
              <a:avLst/>
            </a:prstGeom>
            <a:solidFill>
              <a:schemeClr val="bg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tx1">
                      <a:lumMod val="7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Embedding</a:t>
              </a:r>
              <a:endParaRPr lang="en-GB" dirty="0">
                <a:solidFill>
                  <a:schemeClr val="tx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96183170-D0F1-104B-8BB9-2D8D80372FFE}"/>
                </a:ext>
              </a:extLst>
            </p:cNvPr>
            <p:cNvSpPr/>
            <p:nvPr/>
          </p:nvSpPr>
          <p:spPr>
            <a:xfrm>
              <a:off x="438150" y="2056026"/>
              <a:ext cx="1552575" cy="805815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tx1">
                      <a:lumMod val="7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Query</a:t>
              </a:r>
              <a:endParaRPr lang="en-GB" dirty="0">
                <a:solidFill>
                  <a:schemeClr val="tx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2D6AB75-EC99-AFB8-E850-1208B52197E8}"/>
                </a:ext>
              </a:extLst>
            </p:cNvPr>
            <p:cNvSpPr/>
            <p:nvPr/>
          </p:nvSpPr>
          <p:spPr>
            <a:xfrm>
              <a:off x="8286750" y="2056026"/>
              <a:ext cx="1552575" cy="805815"/>
            </a:xfrm>
            <a:prstGeom prst="roundRect">
              <a:avLst/>
            </a:prstGeom>
            <a:solidFill>
              <a:srgbClr val="F7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tx1">
                      <a:lumMod val="7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LLM</a:t>
              </a:r>
              <a:endParaRPr lang="en-GB" dirty="0">
                <a:solidFill>
                  <a:schemeClr val="tx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958C359D-4F19-4B76-8B47-2294D67AA973}"/>
                </a:ext>
              </a:extLst>
            </p:cNvPr>
            <p:cNvSpPr/>
            <p:nvPr/>
          </p:nvSpPr>
          <p:spPr>
            <a:xfrm>
              <a:off x="10248900" y="2056026"/>
              <a:ext cx="1552575" cy="805815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tx1">
                      <a:lumMod val="7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Response</a:t>
              </a:r>
              <a:endParaRPr lang="en-GB" dirty="0">
                <a:solidFill>
                  <a:schemeClr val="tx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9" name="Flowchart: Magnetic Disk 8">
              <a:extLst>
                <a:ext uri="{FF2B5EF4-FFF2-40B4-BE49-F238E27FC236}">
                  <a16:creationId xmlns:a16="http://schemas.microsoft.com/office/drawing/2014/main" id="{B02478B0-2FBA-2A9B-DAD9-440CEA68A372}"/>
                </a:ext>
              </a:extLst>
            </p:cNvPr>
            <p:cNvSpPr/>
            <p:nvPr/>
          </p:nvSpPr>
          <p:spPr>
            <a:xfrm>
              <a:off x="4362450" y="1770276"/>
              <a:ext cx="1552575" cy="1343025"/>
            </a:xfrm>
            <a:prstGeom prst="flowChartMagneticDisk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tx1">
                      <a:lumMod val="7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Vector</a:t>
              </a:r>
              <a:r>
                <a:rPr lang="en-GB" sz="1800" dirty="0">
                  <a:latin typeface="Verdana" panose="020B0604030504040204" pitchFamily="34" charset="0"/>
                  <a:ea typeface="Verdana" panose="020B0604030504040204" pitchFamily="34" charset="0"/>
                </a:rPr>
                <a:t> </a:t>
              </a:r>
              <a:r>
                <a:rPr lang="en-GB" sz="1800" dirty="0">
                  <a:solidFill>
                    <a:schemeClr val="tx1">
                      <a:lumMod val="7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DB</a:t>
              </a:r>
            </a:p>
          </p:txBody>
        </p:sp>
        <p:sp>
          <p:nvSpPr>
            <p:cNvPr id="10" name="Flowchart: Multidocument 9">
              <a:extLst>
                <a:ext uri="{FF2B5EF4-FFF2-40B4-BE49-F238E27FC236}">
                  <a16:creationId xmlns:a16="http://schemas.microsoft.com/office/drawing/2014/main" id="{695967F3-921D-5602-553B-3A4DE73AD430}"/>
                </a:ext>
              </a:extLst>
            </p:cNvPr>
            <p:cNvSpPr/>
            <p:nvPr/>
          </p:nvSpPr>
          <p:spPr>
            <a:xfrm>
              <a:off x="6324600" y="1787420"/>
              <a:ext cx="1552575" cy="1343025"/>
            </a:xfrm>
            <a:prstGeom prst="flowChartMultidocumen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tx1">
                      <a:lumMod val="7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Relevant Context</a:t>
              </a:r>
            </a:p>
          </p:txBody>
        </p:sp>
        <p:sp>
          <p:nvSpPr>
            <p:cNvPr id="12" name="Flowchart: Multidocument 11">
              <a:extLst>
                <a:ext uri="{FF2B5EF4-FFF2-40B4-BE49-F238E27FC236}">
                  <a16:creationId xmlns:a16="http://schemas.microsoft.com/office/drawing/2014/main" id="{9EF0F8A0-4809-1625-AD48-E2FD5C779AAE}"/>
                </a:ext>
              </a:extLst>
            </p:cNvPr>
            <p:cNvSpPr/>
            <p:nvPr/>
          </p:nvSpPr>
          <p:spPr>
            <a:xfrm>
              <a:off x="4362450" y="4490615"/>
              <a:ext cx="1552575" cy="1343025"/>
            </a:xfrm>
            <a:prstGeom prst="flowChartMultidocumen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tx1">
                      <a:lumMod val="7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Docs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D406253B-392E-3641-1D12-FB5116E26A8B}"/>
                </a:ext>
              </a:extLst>
            </p:cNvPr>
            <p:cNvSpPr/>
            <p:nvPr/>
          </p:nvSpPr>
          <p:spPr>
            <a:xfrm>
              <a:off x="4362450" y="3399051"/>
              <a:ext cx="1552575" cy="805815"/>
            </a:xfrm>
            <a:prstGeom prst="roundRect">
              <a:avLst/>
            </a:prstGeom>
            <a:solidFill>
              <a:schemeClr val="bg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tx1">
                      <a:lumMod val="7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Embedding</a:t>
              </a:r>
              <a:endParaRPr lang="en-GB" dirty="0">
                <a:solidFill>
                  <a:schemeClr val="tx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5D417FC-C900-F440-0CAE-640DCFFD91F5}"/>
                </a:ext>
              </a:extLst>
            </p:cNvPr>
            <p:cNvCxnSpPr>
              <a:stCxn id="6" idx="3"/>
              <a:endCxn id="5" idx="1"/>
            </p:cNvCxnSpPr>
            <p:nvPr/>
          </p:nvCxnSpPr>
          <p:spPr>
            <a:xfrm>
              <a:off x="1990724" y="2458934"/>
              <a:ext cx="396000" cy="0"/>
            </a:xfrm>
            <a:prstGeom prst="straightConnector1">
              <a:avLst/>
            </a:prstGeom>
            <a:ln w="762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71B8498-A9C6-6810-27C9-6F2E768D38DB}"/>
                </a:ext>
              </a:extLst>
            </p:cNvPr>
            <p:cNvCxnSpPr/>
            <p:nvPr/>
          </p:nvCxnSpPr>
          <p:spPr>
            <a:xfrm>
              <a:off x="3966450" y="2458934"/>
              <a:ext cx="396000" cy="0"/>
            </a:xfrm>
            <a:prstGeom prst="straightConnector1">
              <a:avLst/>
            </a:prstGeom>
            <a:ln w="762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50E6A90-9262-5C9D-7DC2-6EA0C81DB0ED}"/>
                </a:ext>
              </a:extLst>
            </p:cNvPr>
            <p:cNvCxnSpPr/>
            <p:nvPr/>
          </p:nvCxnSpPr>
          <p:spPr>
            <a:xfrm>
              <a:off x="5928600" y="2458934"/>
              <a:ext cx="396000" cy="0"/>
            </a:xfrm>
            <a:prstGeom prst="straightConnector1">
              <a:avLst/>
            </a:prstGeom>
            <a:ln w="762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9E07ADD5-05C2-CFF3-D016-4F37ECE9C6E6}"/>
                </a:ext>
              </a:extLst>
            </p:cNvPr>
            <p:cNvCxnSpPr/>
            <p:nvPr/>
          </p:nvCxnSpPr>
          <p:spPr>
            <a:xfrm>
              <a:off x="7890750" y="2480842"/>
              <a:ext cx="396000" cy="0"/>
            </a:xfrm>
            <a:prstGeom prst="straightConnector1">
              <a:avLst/>
            </a:prstGeom>
            <a:ln w="762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66B1776-5D85-39C0-AD14-3C6FF37C0303}"/>
                </a:ext>
              </a:extLst>
            </p:cNvPr>
            <p:cNvCxnSpPr/>
            <p:nvPr/>
          </p:nvCxnSpPr>
          <p:spPr>
            <a:xfrm>
              <a:off x="9839325" y="2474175"/>
              <a:ext cx="396000" cy="0"/>
            </a:xfrm>
            <a:prstGeom prst="straightConnector1">
              <a:avLst/>
            </a:prstGeom>
            <a:ln w="762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E6F7A2A8-F017-055A-4180-ECBAB160ED07}"/>
                </a:ext>
              </a:extLst>
            </p:cNvPr>
            <p:cNvCxnSpPr>
              <a:cxnSpLocks/>
              <a:endCxn id="13" idx="2"/>
            </p:cNvCxnSpPr>
            <p:nvPr/>
          </p:nvCxnSpPr>
          <p:spPr>
            <a:xfrm flipV="1">
              <a:off x="5138737" y="4204866"/>
              <a:ext cx="1" cy="285749"/>
            </a:xfrm>
            <a:prstGeom prst="straightConnector1">
              <a:avLst/>
            </a:prstGeom>
            <a:ln w="762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0EA4C273-2626-E206-D036-736B25C915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38736" y="3109489"/>
              <a:ext cx="1" cy="285749"/>
            </a:xfrm>
            <a:prstGeom prst="straightConnector1">
              <a:avLst/>
            </a:prstGeom>
            <a:ln w="762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9B845E8B-109C-9913-42F1-C2E358DE8B90}"/>
                </a:ext>
              </a:extLst>
            </p:cNvPr>
            <p:cNvSpPr/>
            <p:nvPr/>
          </p:nvSpPr>
          <p:spPr>
            <a:xfrm>
              <a:off x="7958138" y="5615282"/>
              <a:ext cx="2209800" cy="1179144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tx1">
                      <a:lumMod val="7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Chat history / task metadata</a:t>
              </a:r>
              <a:endParaRPr lang="en-GB" dirty="0">
                <a:solidFill>
                  <a:schemeClr val="tx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559573F-A8B5-E1FB-C718-5F1F66B8EAE9}"/>
                </a:ext>
              </a:extLst>
            </p:cNvPr>
            <p:cNvCxnSpPr>
              <a:cxnSpLocks/>
              <a:stCxn id="22" idx="0"/>
              <a:endCxn id="7" idx="2"/>
            </p:cNvCxnSpPr>
            <p:nvPr/>
          </p:nvCxnSpPr>
          <p:spPr>
            <a:xfrm flipV="1">
              <a:off x="9063038" y="2861841"/>
              <a:ext cx="0" cy="2753441"/>
            </a:xfrm>
            <a:prstGeom prst="straightConnector1">
              <a:avLst/>
            </a:prstGeom>
            <a:ln w="76200">
              <a:solidFill>
                <a:schemeClr val="bg2">
                  <a:lumMod val="75000"/>
                </a:schemeClr>
              </a:solidFill>
              <a:prstDash val="sysDash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Connector: Elbow 27">
              <a:extLst>
                <a:ext uri="{FF2B5EF4-FFF2-40B4-BE49-F238E27FC236}">
                  <a16:creationId xmlns:a16="http://schemas.microsoft.com/office/drawing/2014/main" id="{312BD818-CEC4-3A4A-1D25-F826BE59D03C}"/>
                </a:ext>
              </a:extLst>
            </p:cNvPr>
            <p:cNvCxnSpPr>
              <a:stCxn id="22" idx="1"/>
              <a:endCxn id="5" idx="2"/>
            </p:cNvCxnSpPr>
            <p:nvPr/>
          </p:nvCxnSpPr>
          <p:spPr>
            <a:xfrm rot="10800000">
              <a:off x="3176588" y="2861842"/>
              <a:ext cx="4781550" cy="3343013"/>
            </a:xfrm>
            <a:prstGeom prst="bentConnector2">
              <a:avLst/>
            </a:prstGeom>
            <a:ln w="76200">
              <a:solidFill>
                <a:schemeClr val="bg2">
                  <a:lumMod val="75000"/>
                </a:schemeClr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10484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3FF13-330F-D7EF-CD64-D93C4D6FF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C886BC8E-08D7-5F57-ECAA-0F5875A62AB0}"/>
              </a:ext>
            </a:extLst>
          </p:cNvPr>
          <p:cNvSpPr/>
          <p:nvPr/>
        </p:nvSpPr>
        <p:spPr>
          <a:xfrm>
            <a:off x="-69850" y="4416211"/>
            <a:ext cx="2528983" cy="2528983"/>
          </a:xfrm>
          <a:custGeom>
            <a:avLst/>
            <a:gdLst/>
            <a:ahLst/>
            <a:cxnLst/>
            <a:rect l="l" t="t" r="r" b="b"/>
            <a:pathLst>
              <a:path w="5057966" h="5057966">
                <a:moveTo>
                  <a:pt x="0" y="0"/>
                </a:moveTo>
                <a:lnTo>
                  <a:pt x="5057966" y="0"/>
                </a:lnTo>
                <a:lnTo>
                  <a:pt x="5057966" y="5057966"/>
                </a:lnTo>
                <a:lnTo>
                  <a:pt x="0" y="5057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17B4433-05CF-DFF9-6104-78C368A0BFD3}"/>
              </a:ext>
            </a:extLst>
          </p:cNvPr>
          <p:cNvSpPr/>
          <p:nvPr/>
        </p:nvSpPr>
        <p:spPr>
          <a:xfrm>
            <a:off x="12577" y="5637019"/>
            <a:ext cx="1600841" cy="1135671"/>
          </a:xfrm>
          <a:custGeom>
            <a:avLst/>
            <a:gdLst/>
            <a:ahLst/>
            <a:cxnLst/>
            <a:rect l="l" t="t" r="r" b="b"/>
            <a:pathLst>
              <a:path w="3201682" h="2271341">
                <a:moveTo>
                  <a:pt x="0" y="0"/>
                </a:moveTo>
                <a:lnTo>
                  <a:pt x="3201682" y="0"/>
                </a:lnTo>
                <a:lnTo>
                  <a:pt x="3201682" y="2271341"/>
                </a:lnTo>
                <a:lnTo>
                  <a:pt x="0" y="22713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id="{84E4619A-29FF-EDC2-AA25-3374B1E5FB36}"/>
              </a:ext>
            </a:extLst>
          </p:cNvPr>
          <p:cNvSpPr txBox="1"/>
          <p:nvPr/>
        </p:nvSpPr>
        <p:spPr>
          <a:xfrm>
            <a:off x="438150" y="525315"/>
            <a:ext cx="9401175" cy="3680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27"/>
              </a:lnSpc>
            </a:pPr>
            <a:r>
              <a:rPr lang="en-US" sz="3200" b="1" dirty="0">
                <a:solidFill>
                  <a:schemeClr val="tx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Evaluation and alignment of a RAG system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E15965BD-66BE-D8FC-7A1D-FC6E51ED3897}"/>
              </a:ext>
            </a:extLst>
          </p:cNvPr>
          <p:cNvSpPr txBox="1"/>
          <p:nvPr/>
        </p:nvSpPr>
        <p:spPr>
          <a:xfrm>
            <a:off x="438151" y="1854567"/>
            <a:ext cx="8417092" cy="4299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 dirty="0"/>
              <a:t>Are the right documents retrieved, or is important information missing?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 dirty="0"/>
              <a:t>Is the answer supported by the context, or is it hallucinated?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 dirty="0"/>
              <a:t>Is the problem in the retrieval or in the model?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 dirty="0"/>
              <a:t>Where exactly is my RAG system broken?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e-DE" sz="18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 dirty="0"/>
              <a:t>How do I prevent unwanted or poor answers?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 dirty="0"/>
              <a:t>How do you evaluate and optimize a model in areas without clear success metrics?</a:t>
            </a:r>
          </a:p>
          <a:p>
            <a:pPr>
              <a:lnSpc>
                <a:spcPct val="200000"/>
              </a:lnSpc>
            </a:pPr>
            <a:endParaRPr lang="de-DE" sz="1800" dirty="0"/>
          </a:p>
        </p:txBody>
      </p:sp>
      <p:sp>
        <p:nvSpPr>
          <p:cNvPr id="13" name="Eckige Klammer rechts 12">
            <a:extLst>
              <a:ext uri="{FF2B5EF4-FFF2-40B4-BE49-F238E27FC236}">
                <a16:creationId xmlns:a16="http://schemas.microsoft.com/office/drawing/2014/main" id="{E593B5A6-5D86-8C29-F297-CE6BA02E28B6}"/>
              </a:ext>
            </a:extLst>
          </p:cNvPr>
          <p:cNvSpPr/>
          <p:nvPr/>
        </p:nvSpPr>
        <p:spPr>
          <a:xfrm>
            <a:off x="8855243" y="1854567"/>
            <a:ext cx="204537" cy="2224138"/>
          </a:xfrm>
          <a:prstGeom prst="rightBracket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Eckige Klammer rechts 18">
            <a:extLst>
              <a:ext uri="{FF2B5EF4-FFF2-40B4-BE49-F238E27FC236}">
                <a16:creationId xmlns:a16="http://schemas.microsoft.com/office/drawing/2014/main" id="{7A0E5EE3-2BDE-64CB-C242-7F851777752B}"/>
              </a:ext>
            </a:extLst>
          </p:cNvPr>
          <p:cNvSpPr/>
          <p:nvPr/>
        </p:nvSpPr>
        <p:spPr>
          <a:xfrm>
            <a:off x="8855243" y="4259178"/>
            <a:ext cx="204537" cy="1117065"/>
          </a:xfrm>
          <a:prstGeom prst="rightBracket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38713691-DCE2-A776-CAA2-44EB0596DD00}"/>
              </a:ext>
            </a:extLst>
          </p:cNvPr>
          <p:cNvSpPr txBox="1"/>
          <p:nvPr/>
        </p:nvSpPr>
        <p:spPr>
          <a:xfrm>
            <a:off x="9280817" y="2703765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800" dirty="0">
                <a:solidFill>
                  <a:srgbClr val="AF0333"/>
                </a:solidFill>
                <a:highlight>
                  <a:srgbClr val="FFFF00"/>
                </a:highlight>
              </a:rPr>
              <a:t>Evaluation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D5F3913A-91F8-55EB-AC24-AD1D9E1EDB1F}"/>
              </a:ext>
            </a:extLst>
          </p:cNvPr>
          <p:cNvSpPr txBox="1"/>
          <p:nvPr/>
        </p:nvSpPr>
        <p:spPr>
          <a:xfrm>
            <a:off x="9280817" y="4600877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800" dirty="0">
                <a:solidFill>
                  <a:srgbClr val="AF0333"/>
                </a:solidFill>
              </a:rPr>
              <a:t>Alignment</a:t>
            </a:r>
          </a:p>
        </p:txBody>
      </p:sp>
      <p:cxnSp>
        <p:nvCxnSpPr>
          <p:cNvPr id="28" name="Gerade Verbindung 27">
            <a:extLst>
              <a:ext uri="{FF2B5EF4-FFF2-40B4-BE49-F238E27FC236}">
                <a16:creationId xmlns:a16="http://schemas.microsoft.com/office/drawing/2014/main" id="{8FCF684D-DD9F-D9A7-7039-7CC7C3C4814C}"/>
              </a:ext>
            </a:extLst>
          </p:cNvPr>
          <p:cNvCxnSpPr/>
          <p:nvPr/>
        </p:nvCxnSpPr>
        <p:spPr>
          <a:xfrm>
            <a:off x="438150" y="3972353"/>
            <a:ext cx="8236618" cy="0"/>
          </a:xfrm>
          <a:prstGeom prst="line">
            <a:avLst/>
          </a:prstGeom>
          <a:ln w="285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1129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C273F-A104-BE5F-786E-4BF54D7BE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1EE3F0DF-11CA-F111-B98C-8C23E0462E9A}"/>
              </a:ext>
            </a:extLst>
          </p:cNvPr>
          <p:cNvSpPr/>
          <p:nvPr/>
        </p:nvSpPr>
        <p:spPr>
          <a:xfrm>
            <a:off x="-69850" y="4416211"/>
            <a:ext cx="2528983" cy="2528983"/>
          </a:xfrm>
          <a:custGeom>
            <a:avLst/>
            <a:gdLst/>
            <a:ahLst/>
            <a:cxnLst/>
            <a:rect l="l" t="t" r="r" b="b"/>
            <a:pathLst>
              <a:path w="5057966" h="5057966">
                <a:moveTo>
                  <a:pt x="0" y="0"/>
                </a:moveTo>
                <a:lnTo>
                  <a:pt x="5057966" y="0"/>
                </a:lnTo>
                <a:lnTo>
                  <a:pt x="5057966" y="5057966"/>
                </a:lnTo>
                <a:lnTo>
                  <a:pt x="0" y="5057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DD87050-BC7F-581C-39C5-338C9C7E154C}"/>
              </a:ext>
            </a:extLst>
          </p:cNvPr>
          <p:cNvSpPr/>
          <p:nvPr/>
        </p:nvSpPr>
        <p:spPr>
          <a:xfrm>
            <a:off x="12577" y="5637019"/>
            <a:ext cx="1600841" cy="1135671"/>
          </a:xfrm>
          <a:custGeom>
            <a:avLst/>
            <a:gdLst/>
            <a:ahLst/>
            <a:cxnLst/>
            <a:rect l="l" t="t" r="r" b="b"/>
            <a:pathLst>
              <a:path w="3201682" h="2271341">
                <a:moveTo>
                  <a:pt x="0" y="0"/>
                </a:moveTo>
                <a:lnTo>
                  <a:pt x="3201682" y="0"/>
                </a:lnTo>
                <a:lnTo>
                  <a:pt x="3201682" y="2271341"/>
                </a:lnTo>
                <a:lnTo>
                  <a:pt x="0" y="22713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id="{52D73814-73BF-BB38-1229-34646DD076B5}"/>
              </a:ext>
            </a:extLst>
          </p:cNvPr>
          <p:cNvSpPr txBox="1"/>
          <p:nvPr/>
        </p:nvSpPr>
        <p:spPr>
          <a:xfrm>
            <a:off x="438150" y="525315"/>
            <a:ext cx="9401175" cy="3680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27"/>
              </a:lnSpc>
            </a:pPr>
            <a:r>
              <a:rPr lang="en-US" sz="3200" b="1" dirty="0">
                <a:solidFill>
                  <a:schemeClr val="tx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RAGAS – </a:t>
            </a:r>
            <a:r>
              <a:rPr lang="en-US" sz="3200" b="1" dirty="0" err="1">
                <a:solidFill>
                  <a:schemeClr val="tx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Overview</a:t>
            </a:r>
            <a:endParaRPr lang="en-US" sz="3200" b="1" dirty="0">
              <a:solidFill>
                <a:schemeClr val="tx1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3D94CFD-056A-1911-1658-785D1394CCAF}"/>
              </a:ext>
            </a:extLst>
          </p:cNvPr>
          <p:cNvSpPr txBox="1"/>
          <p:nvPr/>
        </p:nvSpPr>
        <p:spPr>
          <a:xfrm>
            <a:off x="438151" y="1854567"/>
            <a:ext cx="11419552" cy="3053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1800" b="1" dirty="0"/>
              <a:t>RAGAS = </a:t>
            </a:r>
            <a:r>
              <a:rPr lang="de-DE" sz="1800" dirty="0"/>
              <a:t>Retrieval </a:t>
            </a:r>
            <a:r>
              <a:rPr lang="de-DE" sz="1800" dirty="0" err="1"/>
              <a:t>Augmented</a:t>
            </a:r>
            <a:r>
              <a:rPr lang="de-DE" sz="1800" dirty="0"/>
              <a:t> Generation Assessment Suite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 dirty="0"/>
              <a:t>What: framework for the </a:t>
            </a:r>
            <a:r>
              <a:rPr lang="de-DE" sz="1800" b="1" dirty="0"/>
              <a:t>evaluation</a:t>
            </a:r>
            <a:r>
              <a:rPr lang="de-DE" sz="1800" dirty="0"/>
              <a:t> of RAG systems; uses metrics and LLMs as </a:t>
            </a:r>
            <a:r>
              <a:rPr lang="de-DE" sz="1800" dirty="0" err="1"/>
              <a:t>evaluators</a:t>
            </a:r>
            <a:endParaRPr lang="de-DE" sz="1800" dirty="0"/>
          </a:p>
          <a:p>
            <a:pPr>
              <a:lnSpc>
                <a:spcPct val="150000"/>
              </a:lnSpc>
            </a:pPr>
            <a:endParaRPr lang="de-DE" sz="18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 dirty="0"/>
              <a:t>Goal: helps locate errors in the system</a:t>
            </a:r>
          </a:p>
          <a:p>
            <a:pPr>
              <a:lnSpc>
                <a:spcPct val="150000"/>
              </a:lnSpc>
            </a:pPr>
            <a:endParaRPr lang="de-DE" sz="18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 dirty="0"/>
              <a:t>Where it fits:</a:t>
            </a:r>
          </a:p>
          <a:p>
            <a:pPr>
              <a:lnSpc>
                <a:spcPct val="200000"/>
              </a:lnSpc>
            </a:pPr>
            <a:endParaRPr lang="de-DE" sz="1800" dirty="0"/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5D247B9B-0EA3-9793-48AC-856614E93539}"/>
              </a:ext>
            </a:extLst>
          </p:cNvPr>
          <p:cNvGrpSpPr/>
          <p:nvPr/>
        </p:nvGrpSpPr>
        <p:grpSpPr>
          <a:xfrm>
            <a:off x="2330221" y="3850741"/>
            <a:ext cx="5414725" cy="2836380"/>
            <a:chOff x="438150" y="1770276"/>
            <a:chExt cx="11363325" cy="5024150"/>
          </a:xfrm>
        </p:grpSpPr>
        <p:sp>
          <p:nvSpPr>
            <p:cNvPr id="21" name="Rectangle: Rounded Corners 4">
              <a:extLst>
                <a:ext uri="{FF2B5EF4-FFF2-40B4-BE49-F238E27FC236}">
                  <a16:creationId xmlns:a16="http://schemas.microsoft.com/office/drawing/2014/main" id="{EA51A289-37E6-1F8F-5126-4DB3801AF0E8}"/>
                </a:ext>
              </a:extLst>
            </p:cNvPr>
            <p:cNvSpPr/>
            <p:nvPr/>
          </p:nvSpPr>
          <p:spPr>
            <a:xfrm>
              <a:off x="2400300" y="2056026"/>
              <a:ext cx="1552575" cy="805815"/>
            </a:xfrm>
            <a:prstGeom prst="roundRect">
              <a:avLst/>
            </a:prstGeom>
            <a:solidFill>
              <a:schemeClr val="bg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50" dirty="0">
                  <a:solidFill>
                    <a:schemeClr val="tx1">
                      <a:lumMod val="7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Embedding</a:t>
              </a:r>
              <a:endParaRPr lang="en-GB" sz="900" dirty="0">
                <a:solidFill>
                  <a:schemeClr val="tx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24" name="Rectangle: Rounded Corners 5">
              <a:extLst>
                <a:ext uri="{FF2B5EF4-FFF2-40B4-BE49-F238E27FC236}">
                  <a16:creationId xmlns:a16="http://schemas.microsoft.com/office/drawing/2014/main" id="{B7F60AA6-BE00-11A6-4C69-C53591EB32C5}"/>
                </a:ext>
              </a:extLst>
            </p:cNvPr>
            <p:cNvSpPr/>
            <p:nvPr/>
          </p:nvSpPr>
          <p:spPr>
            <a:xfrm>
              <a:off x="438150" y="2056026"/>
              <a:ext cx="1552575" cy="805815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>
                  <a:solidFill>
                    <a:schemeClr val="tx1">
                      <a:lumMod val="7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Query</a:t>
              </a:r>
              <a:endParaRPr lang="en-GB" sz="1050" dirty="0">
                <a:solidFill>
                  <a:schemeClr val="tx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25" name="Rectangle: Rounded Corners 6">
              <a:extLst>
                <a:ext uri="{FF2B5EF4-FFF2-40B4-BE49-F238E27FC236}">
                  <a16:creationId xmlns:a16="http://schemas.microsoft.com/office/drawing/2014/main" id="{69F33FC4-8009-23ED-B2FF-00FE6634214E}"/>
                </a:ext>
              </a:extLst>
            </p:cNvPr>
            <p:cNvSpPr/>
            <p:nvPr/>
          </p:nvSpPr>
          <p:spPr>
            <a:xfrm>
              <a:off x="8286750" y="2056026"/>
              <a:ext cx="1552575" cy="805815"/>
            </a:xfrm>
            <a:prstGeom prst="roundRect">
              <a:avLst/>
            </a:prstGeom>
            <a:solidFill>
              <a:srgbClr val="F7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>
                  <a:solidFill>
                    <a:schemeClr val="tx1">
                      <a:lumMod val="7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LLM</a:t>
              </a:r>
            </a:p>
          </p:txBody>
        </p:sp>
        <p:sp>
          <p:nvSpPr>
            <p:cNvPr id="26" name="Rectangle: Rounded Corners 7">
              <a:extLst>
                <a:ext uri="{FF2B5EF4-FFF2-40B4-BE49-F238E27FC236}">
                  <a16:creationId xmlns:a16="http://schemas.microsoft.com/office/drawing/2014/main" id="{F8248335-9B13-7BF1-EAFE-49D0540CFB86}"/>
                </a:ext>
              </a:extLst>
            </p:cNvPr>
            <p:cNvSpPr/>
            <p:nvPr/>
          </p:nvSpPr>
          <p:spPr>
            <a:xfrm>
              <a:off x="10248900" y="2056026"/>
              <a:ext cx="1552575" cy="805815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800" dirty="0">
                  <a:solidFill>
                    <a:schemeClr val="tx1">
                      <a:lumMod val="7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Response</a:t>
              </a:r>
            </a:p>
          </p:txBody>
        </p:sp>
        <p:sp>
          <p:nvSpPr>
            <p:cNvPr id="27" name="Flowchart: Magnetic Disk 8">
              <a:extLst>
                <a:ext uri="{FF2B5EF4-FFF2-40B4-BE49-F238E27FC236}">
                  <a16:creationId xmlns:a16="http://schemas.microsoft.com/office/drawing/2014/main" id="{93C2751F-DB92-5040-5DF9-FDD3775966B4}"/>
                </a:ext>
              </a:extLst>
            </p:cNvPr>
            <p:cNvSpPr/>
            <p:nvPr/>
          </p:nvSpPr>
          <p:spPr>
            <a:xfrm>
              <a:off x="4362450" y="1770276"/>
              <a:ext cx="1552575" cy="1343025"/>
            </a:xfrm>
            <a:prstGeom prst="flowChartMagneticDisk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>
                  <a:solidFill>
                    <a:schemeClr val="tx1">
                      <a:lumMod val="7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Vector</a:t>
              </a:r>
              <a:r>
                <a:rPr lang="en-GB" sz="1200" dirty="0">
                  <a:latin typeface="Verdana" panose="020B0604030504040204" pitchFamily="34" charset="0"/>
                  <a:ea typeface="Verdana" panose="020B0604030504040204" pitchFamily="34" charset="0"/>
                </a:rPr>
                <a:t> </a:t>
              </a:r>
              <a:r>
                <a:rPr lang="en-GB" sz="1200" dirty="0">
                  <a:solidFill>
                    <a:schemeClr val="tx1">
                      <a:lumMod val="7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DB</a:t>
              </a:r>
            </a:p>
          </p:txBody>
        </p:sp>
        <p:sp>
          <p:nvSpPr>
            <p:cNvPr id="28" name="Flowchart: Multidocument 9">
              <a:extLst>
                <a:ext uri="{FF2B5EF4-FFF2-40B4-BE49-F238E27FC236}">
                  <a16:creationId xmlns:a16="http://schemas.microsoft.com/office/drawing/2014/main" id="{BAFA0055-F840-2D96-70EE-C6E7EBECC812}"/>
                </a:ext>
              </a:extLst>
            </p:cNvPr>
            <p:cNvSpPr/>
            <p:nvPr/>
          </p:nvSpPr>
          <p:spPr>
            <a:xfrm>
              <a:off x="6324600" y="1787420"/>
              <a:ext cx="1552575" cy="1343025"/>
            </a:xfrm>
            <a:prstGeom prst="flowChartMultidocumen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800" dirty="0">
                  <a:solidFill>
                    <a:schemeClr val="tx1">
                      <a:lumMod val="7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Relevant Context</a:t>
              </a:r>
            </a:p>
          </p:txBody>
        </p:sp>
        <p:sp>
          <p:nvSpPr>
            <p:cNvPr id="29" name="Flowchart: Multidocument 11">
              <a:extLst>
                <a:ext uri="{FF2B5EF4-FFF2-40B4-BE49-F238E27FC236}">
                  <a16:creationId xmlns:a16="http://schemas.microsoft.com/office/drawing/2014/main" id="{F778A798-8513-92C4-A0CD-3A24D3529931}"/>
                </a:ext>
              </a:extLst>
            </p:cNvPr>
            <p:cNvSpPr/>
            <p:nvPr/>
          </p:nvSpPr>
          <p:spPr>
            <a:xfrm>
              <a:off x="4362450" y="4490615"/>
              <a:ext cx="1552575" cy="1343025"/>
            </a:xfrm>
            <a:prstGeom prst="flowChartMultidocumen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>
                  <a:solidFill>
                    <a:schemeClr val="tx1">
                      <a:lumMod val="7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Docs</a:t>
              </a:r>
            </a:p>
          </p:txBody>
        </p:sp>
        <p:sp>
          <p:nvSpPr>
            <p:cNvPr id="30" name="Rectangle: Rounded Corners 12">
              <a:extLst>
                <a:ext uri="{FF2B5EF4-FFF2-40B4-BE49-F238E27FC236}">
                  <a16:creationId xmlns:a16="http://schemas.microsoft.com/office/drawing/2014/main" id="{E228C7CC-874A-33F1-D927-D3634D362025}"/>
                </a:ext>
              </a:extLst>
            </p:cNvPr>
            <p:cNvSpPr/>
            <p:nvPr/>
          </p:nvSpPr>
          <p:spPr>
            <a:xfrm>
              <a:off x="4362450" y="3399051"/>
              <a:ext cx="1552575" cy="805815"/>
            </a:xfrm>
            <a:prstGeom prst="roundRect">
              <a:avLst/>
            </a:prstGeom>
            <a:solidFill>
              <a:schemeClr val="bg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>
                  <a:solidFill>
                    <a:schemeClr val="tx1">
                      <a:lumMod val="7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Embedding</a:t>
              </a:r>
            </a:p>
          </p:txBody>
        </p:sp>
        <p:cxnSp>
          <p:nvCxnSpPr>
            <p:cNvPr id="31" name="Straight Arrow Connector 13">
              <a:extLst>
                <a:ext uri="{FF2B5EF4-FFF2-40B4-BE49-F238E27FC236}">
                  <a16:creationId xmlns:a16="http://schemas.microsoft.com/office/drawing/2014/main" id="{93B9C95A-EBFC-1565-7ADD-4EBE13C9BB0B}"/>
                </a:ext>
              </a:extLst>
            </p:cNvPr>
            <p:cNvCxnSpPr>
              <a:stCxn id="24" idx="3"/>
              <a:endCxn id="21" idx="1"/>
            </p:cNvCxnSpPr>
            <p:nvPr/>
          </p:nvCxnSpPr>
          <p:spPr>
            <a:xfrm>
              <a:off x="1990724" y="2458934"/>
              <a:ext cx="396000" cy="0"/>
            </a:xfrm>
            <a:prstGeom prst="straightConnector1">
              <a:avLst/>
            </a:prstGeom>
            <a:ln w="762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14">
              <a:extLst>
                <a:ext uri="{FF2B5EF4-FFF2-40B4-BE49-F238E27FC236}">
                  <a16:creationId xmlns:a16="http://schemas.microsoft.com/office/drawing/2014/main" id="{45B13C12-42BC-9201-2BA2-C0EF1936F07C}"/>
                </a:ext>
              </a:extLst>
            </p:cNvPr>
            <p:cNvCxnSpPr/>
            <p:nvPr/>
          </p:nvCxnSpPr>
          <p:spPr>
            <a:xfrm>
              <a:off x="3966450" y="2458934"/>
              <a:ext cx="396000" cy="0"/>
            </a:xfrm>
            <a:prstGeom prst="straightConnector1">
              <a:avLst/>
            </a:prstGeom>
            <a:ln w="762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15">
              <a:extLst>
                <a:ext uri="{FF2B5EF4-FFF2-40B4-BE49-F238E27FC236}">
                  <a16:creationId xmlns:a16="http://schemas.microsoft.com/office/drawing/2014/main" id="{E7557CC9-067F-CC94-96A8-F4CAC6EECF20}"/>
                </a:ext>
              </a:extLst>
            </p:cNvPr>
            <p:cNvCxnSpPr/>
            <p:nvPr/>
          </p:nvCxnSpPr>
          <p:spPr>
            <a:xfrm>
              <a:off x="5928600" y="2458934"/>
              <a:ext cx="396000" cy="0"/>
            </a:xfrm>
            <a:prstGeom prst="straightConnector1">
              <a:avLst/>
            </a:prstGeom>
            <a:ln w="762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16">
              <a:extLst>
                <a:ext uri="{FF2B5EF4-FFF2-40B4-BE49-F238E27FC236}">
                  <a16:creationId xmlns:a16="http://schemas.microsoft.com/office/drawing/2014/main" id="{5C6E00F5-629C-141A-B926-ACF2B24767CD}"/>
                </a:ext>
              </a:extLst>
            </p:cNvPr>
            <p:cNvCxnSpPr/>
            <p:nvPr/>
          </p:nvCxnSpPr>
          <p:spPr>
            <a:xfrm>
              <a:off x="7890750" y="2480842"/>
              <a:ext cx="396000" cy="0"/>
            </a:xfrm>
            <a:prstGeom prst="straightConnector1">
              <a:avLst/>
            </a:prstGeom>
            <a:ln w="762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Arrow Connector 17">
              <a:extLst>
                <a:ext uri="{FF2B5EF4-FFF2-40B4-BE49-F238E27FC236}">
                  <a16:creationId xmlns:a16="http://schemas.microsoft.com/office/drawing/2014/main" id="{0596FB30-6055-B909-3320-9DC7170DC761}"/>
                </a:ext>
              </a:extLst>
            </p:cNvPr>
            <p:cNvCxnSpPr/>
            <p:nvPr/>
          </p:nvCxnSpPr>
          <p:spPr>
            <a:xfrm>
              <a:off x="9839325" y="2474175"/>
              <a:ext cx="396000" cy="0"/>
            </a:xfrm>
            <a:prstGeom prst="straightConnector1">
              <a:avLst/>
            </a:prstGeom>
            <a:ln w="762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Arrow Connector 18">
              <a:extLst>
                <a:ext uri="{FF2B5EF4-FFF2-40B4-BE49-F238E27FC236}">
                  <a16:creationId xmlns:a16="http://schemas.microsoft.com/office/drawing/2014/main" id="{1A0599CA-95B2-DBC0-A6A6-02B5CAAE796F}"/>
                </a:ext>
              </a:extLst>
            </p:cNvPr>
            <p:cNvCxnSpPr>
              <a:cxnSpLocks/>
              <a:endCxn id="30" idx="2"/>
            </p:cNvCxnSpPr>
            <p:nvPr/>
          </p:nvCxnSpPr>
          <p:spPr>
            <a:xfrm flipV="1">
              <a:off x="5138737" y="4204866"/>
              <a:ext cx="1" cy="285749"/>
            </a:xfrm>
            <a:prstGeom prst="straightConnector1">
              <a:avLst/>
            </a:prstGeom>
            <a:ln w="762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Arrow Connector 19">
              <a:extLst>
                <a:ext uri="{FF2B5EF4-FFF2-40B4-BE49-F238E27FC236}">
                  <a16:creationId xmlns:a16="http://schemas.microsoft.com/office/drawing/2014/main" id="{89561263-D40C-EB3D-7C60-99C4C16A87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38736" y="3109489"/>
              <a:ext cx="1" cy="285749"/>
            </a:xfrm>
            <a:prstGeom prst="straightConnector1">
              <a:avLst/>
            </a:prstGeom>
            <a:ln w="762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8" name="Rectangle: Rounded Corners 21">
              <a:extLst>
                <a:ext uri="{FF2B5EF4-FFF2-40B4-BE49-F238E27FC236}">
                  <a16:creationId xmlns:a16="http://schemas.microsoft.com/office/drawing/2014/main" id="{5CC1DFC6-DC87-B770-C241-3639871554B8}"/>
                </a:ext>
              </a:extLst>
            </p:cNvPr>
            <p:cNvSpPr/>
            <p:nvPr/>
          </p:nvSpPr>
          <p:spPr>
            <a:xfrm>
              <a:off x="7958138" y="5615282"/>
              <a:ext cx="2209800" cy="1179144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>
                  <a:solidFill>
                    <a:schemeClr val="tx1">
                      <a:lumMod val="7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Chat history / task metadata</a:t>
              </a:r>
            </a:p>
          </p:txBody>
        </p:sp>
        <p:cxnSp>
          <p:nvCxnSpPr>
            <p:cNvPr id="39" name="Straight Arrow Connector 22">
              <a:extLst>
                <a:ext uri="{FF2B5EF4-FFF2-40B4-BE49-F238E27FC236}">
                  <a16:creationId xmlns:a16="http://schemas.microsoft.com/office/drawing/2014/main" id="{062CC531-F461-C7A4-A776-E9139570D9E2}"/>
                </a:ext>
              </a:extLst>
            </p:cNvPr>
            <p:cNvCxnSpPr>
              <a:cxnSpLocks/>
              <a:stCxn id="38" idx="0"/>
              <a:endCxn id="25" idx="2"/>
            </p:cNvCxnSpPr>
            <p:nvPr/>
          </p:nvCxnSpPr>
          <p:spPr>
            <a:xfrm flipV="1">
              <a:off x="9063038" y="2861841"/>
              <a:ext cx="0" cy="2753441"/>
            </a:xfrm>
            <a:prstGeom prst="straightConnector1">
              <a:avLst/>
            </a:prstGeom>
            <a:ln w="76200">
              <a:solidFill>
                <a:schemeClr val="bg2">
                  <a:lumMod val="75000"/>
                </a:schemeClr>
              </a:solidFill>
              <a:prstDash val="sysDash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Connector: Elbow 27">
              <a:extLst>
                <a:ext uri="{FF2B5EF4-FFF2-40B4-BE49-F238E27FC236}">
                  <a16:creationId xmlns:a16="http://schemas.microsoft.com/office/drawing/2014/main" id="{CF84C7F2-4FD0-CAF5-8678-4711E26CA463}"/>
                </a:ext>
              </a:extLst>
            </p:cNvPr>
            <p:cNvCxnSpPr>
              <a:stCxn id="38" idx="1"/>
              <a:endCxn id="21" idx="2"/>
            </p:cNvCxnSpPr>
            <p:nvPr/>
          </p:nvCxnSpPr>
          <p:spPr>
            <a:xfrm rot="10800000">
              <a:off x="3176588" y="2861842"/>
              <a:ext cx="4781550" cy="3343013"/>
            </a:xfrm>
            <a:prstGeom prst="bentConnector2">
              <a:avLst/>
            </a:prstGeom>
            <a:ln w="76200">
              <a:solidFill>
                <a:schemeClr val="bg2">
                  <a:lumMod val="75000"/>
                </a:schemeClr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feld 40">
            <a:extLst>
              <a:ext uri="{FF2B5EF4-FFF2-40B4-BE49-F238E27FC236}">
                <a16:creationId xmlns:a16="http://schemas.microsoft.com/office/drawing/2014/main" id="{7AF6B920-7D5B-3616-9F0D-6C48F061A150}"/>
              </a:ext>
            </a:extLst>
          </p:cNvPr>
          <p:cNvSpPr txBox="1"/>
          <p:nvPr/>
        </p:nvSpPr>
        <p:spPr>
          <a:xfrm>
            <a:off x="5255501" y="4474506"/>
            <a:ext cx="814647" cy="523220"/>
          </a:xfrm>
          <a:prstGeom prst="rect">
            <a:avLst/>
          </a:prstGeom>
          <a:solidFill>
            <a:srgbClr val="75B300">
              <a:alpha val="76000"/>
            </a:srgbClr>
          </a:solidFill>
          <a:effectLst>
            <a:softEdge rad="63500"/>
          </a:effectLst>
        </p:spPr>
        <p:txBody>
          <a:bodyPr wrap="none" rtlCol="0">
            <a:spAutoFit/>
          </a:bodyPr>
          <a:lstStyle/>
          <a:p>
            <a:r>
              <a:rPr lang="de-DE" dirty="0"/>
              <a:t>RAGAS</a:t>
            </a:r>
          </a:p>
          <a:p>
            <a:r>
              <a:rPr lang="de-DE" dirty="0" err="1"/>
              <a:t>retrieval</a:t>
            </a:r>
            <a:endParaRPr lang="de-DE" dirty="0"/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09E67C19-AC26-19A1-8BBC-B4850E4E8C18}"/>
              </a:ext>
            </a:extLst>
          </p:cNvPr>
          <p:cNvSpPr txBox="1"/>
          <p:nvPr/>
        </p:nvSpPr>
        <p:spPr>
          <a:xfrm>
            <a:off x="7159582" y="4362375"/>
            <a:ext cx="1029449" cy="523220"/>
          </a:xfrm>
          <a:prstGeom prst="rect">
            <a:avLst/>
          </a:prstGeom>
          <a:solidFill>
            <a:srgbClr val="75B300">
              <a:alpha val="75893"/>
            </a:srgbClr>
          </a:solidFill>
          <a:effectLst>
            <a:softEdge rad="69655"/>
          </a:effectLst>
        </p:spPr>
        <p:txBody>
          <a:bodyPr wrap="none" rtlCol="0">
            <a:spAutoFit/>
          </a:bodyPr>
          <a:lstStyle/>
          <a:p>
            <a:r>
              <a:rPr lang="de-DE" dirty="0"/>
              <a:t>RAGAS</a:t>
            </a:r>
          </a:p>
          <a:p>
            <a:r>
              <a:rPr lang="de-DE" dirty="0" err="1"/>
              <a:t>generation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73116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B6ADB-68DF-D498-14FC-6B1B45568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181D362C-6B74-BDF5-4267-4F4B8456170E}"/>
              </a:ext>
            </a:extLst>
          </p:cNvPr>
          <p:cNvSpPr/>
          <p:nvPr/>
        </p:nvSpPr>
        <p:spPr>
          <a:xfrm>
            <a:off x="-69850" y="4416211"/>
            <a:ext cx="2528983" cy="2528983"/>
          </a:xfrm>
          <a:custGeom>
            <a:avLst/>
            <a:gdLst/>
            <a:ahLst/>
            <a:cxnLst/>
            <a:rect l="l" t="t" r="r" b="b"/>
            <a:pathLst>
              <a:path w="5057966" h="5057966">
                <a:moveTo>
                  <a:pt x="0" y="0"/>
                </a:moveTo>
                <a:lnTo>
                  <a:pt x="5057966" y="0"/>
                </a:lnTo>
                <a:lnTo>
                  <a:pt x="5057966" y="5057966"/>
                </a:lnTo>
                <a:lnTo>
                  <a:pt x="0" y="50579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6E97E08F-B824-C055-4231-4B82757D35FE}"/>
              </a:ext>
            </a:extLst>
          </p:cNvPr>
          <p:cNvSpPr/>
          <p:nvPr/>
        </p:nvSpPr>
        <p:spPr>
          <a:xfrm>
            <a:off x="12577" y="5637019"/>
            <a:ext cx="1600841" cy="1135671"/>
          </a:xfrm>
          <a:custGeom>
            <a:avLst/>
            <a:gdLst/>
            <a:ahLst/>
            <a:cxnLst/>
            <a:rect l="l" t="t" r="r" b="b"/>
            <a:pathLst>
              <a:path w="3201682" h="2271341">
                <a:moveTo>
                  <a:pt x="0" y="0"/>
                </a:moveTo>
                <a:lnTo>
                  <a:pt x="3201682" y="0"/>
                </a:lnTo>
                <a:lnTo>
                  <a:pt x="3201682" y="2271341"/>
                </a:lnTo>
                <a:lnTo>
                  <a:pt x="0" y="22713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id="{317179F2-B360-FBAE-92A4-5F8E690380A8}"/>
              </a:ext>
            </a:extLst>
          </p:cNvPr>
          <p:cNvSpPr txBox="1"/>
          <p:nvPr/>
        </p:nvSpPr>
        <p:spPr>
          <a:xfrm>
            <a:off x="438150" y="525315"/>
            <a:ext cx="9401175" cy="3680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27"/>
              </a:lnSpc>
            </a:pPr>
            <a:r>
              <a:rPr lang="en-US" sz="3200" b="1" dirty="0">
                <a:solidFill>
                  <a:schemeClr val="tx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RAGAS – </a:t>
            </a:r>
            <a:r>
              <a:rPr lang="en-US" sz="3200" b="1" dirty="0" err="1">
                <a:solidFill>
                  <a:schemeClr val="tx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Overview</a:t>
            </a:r>
            <a:endParaRPr lang="en-US" sz="3200" b="1" dirty="0">
              <a:solidFill>
                <a:schemeClr val="tx1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EB7FA2-2DB7-E489-72DB-4C24DE8004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717" y="1533340"/>
            <a:ext cx="10352566" cy="362339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11D80C6-0A0E-7C4B-18FE-F4959E84A2AD}"/>
              </a:ext>
            </a:extLst>
          </p:cNvPr>
          <p:cNvSpPr txBox="1"/>
          <p:nvPr/>
        </p:nvSpPr>
        <p:spPr>
          <a:xfrm>
            <a:off x="4764794" y="5329242"/>
            <a:ext cx="17860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https://</a:t>
            </a:r>
            <a:r>
              <a:rPr lang="en-US" dirty="0" err="1">
                <a:solidFill>
                  <a:schemeClr val="tx1"/>
                </a:solidFill>
              </a:rPr>
              <a:t>docs.ragas.io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1649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C4B5170-C464-C5A1-5F4D-E3A5BBCEC3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smtClean="0"/>
              <a:pPr/>
              <a:t>20</a:t>
            </a:fld>
            <a:endParaRPr lang="de-D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96482E0-DE16-4E8A-AC92-1A413DC4FE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94253" y="1027253"/>
            <a:ext cx="4803494" cy="48034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229784C-F591-9F91-ADB2-BED59F79E70B}"/>
              </a:ext>
            </a:extLst>
          </p:cNvPr>
          <p:cNvSpPr txBox="1"/>
          <p:nvPr/>
        </p:nvSpPr>
        <p:spPr>
          <a:xfrm>
            <a:off x="5496316" y="5676858"/>
            <a:ext cx="12570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Notebook 01</a:t>
            </a:r>
          </a:p>
        </p:txBody>
      </p:sp>
    </p:spTree>
    <p:extLst>
      <p:ext uri="{BB962C8B-B14F-4D97-AF65-F5344CB8AC3E}">
        <p14:creationId xmlns:p14="http://schemas.microsoft.com/office/powerpoint/2010/main" val="1775508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FD9D07B-1C9A-C1B5-7440-E2AA88DF7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10CEB824-C0D1-E679-9E1A-353758AA27F0}"/>
              </a:ext>
            </a:extLst>
          </p:cNvPr>
          <p:cNvSpPr/>
          <p:nvPr/>
        </p:nvSpPr>
        <p:spPr>
          <a:xfrm>
            <a:off x="-69850" y="4416211"/>
            <a:ext cx="2528983" cy="2528983"/>
          </a:xfrm>
          <a:custGeom>
            <a:avLst/>
            <a:gdLst/>
            <a:ahLst/>
            <a:cxnLst/>
            <a:rect l="l" t="t" r="r" b="b"/>
            <a:pathLst>
              <a:path w="5057966" h="5057966">
                <a:moveTo>
                  <a:pt x="0" y="0"/>
                </a:moveTo>
                <a:lnTo>
                  <a:pt x="5057966" y="0"/>
                </a:lnTo>
                <a:lnTo>
                  <a:pt x="5057966" y="5057966"/>
                </a:lnTo>
                <a:lnTo>
                  <a:pt x="0" y="5057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D95C891-3703-6904-8D3D-E58868D2A13E}"/>
              </a:ext>
            </a:extLst>
          </p:cNvPr>
          <p:cNvSpPr/>
          <p:nvPr/>
        </p:nvSpPr>
        <p:spPr>
          <a:xfrm>
            <a:off x="12577" y="5637019"/>
            <a:ext cx="1600841" cy="1135671"/>
          </a:xfrm>
          <a:custGeom>
            <a:avLst/>
            <a:gdLst/>
            <a:ahLst/>
            <a:cxnLst/>
            <a:rect l="l" t="t" r="r" b="b"/>
            <a:pathLst>
              <a:path w="3201682" h="2271341">
                <a:moveTo>
                  <a:pt x="0" y="0"/>
                </a:moveTo>
                <a:lnTo>
                  <a:pt x="3201682" y="0"/>
                </a:lnTo>
                <a:lnTo>
                  <a:pt x="3201682" y="2271341"/>
                </a:lnTo>
                <a:lnTo>
                  <a:pt x="0" y="22713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id="{C092D73D-2090-F9A2-73B4-61B1120DFBA9}"/>
              </a:ext>
            </a:extLst>
          </p:cNvPr>
          <p:cNvSpPr txBox="1"/>
          <p:nvPr/>
        </p:nvSpPr>
        <p:spPr>
          <a:xfrm>
            <a:off x="438150" y="525315"/>
            <a:ext cx="9401175" cy="3680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27"/>
              </a:lnSpc>
            </a:pPr>
            <a:r>
              <a:rPr lang="en-US" sz="3200" b="1" dirty="0">
                <a:solidFill>
                  <a:schemeClr val="tx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Setup Instructions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E87E01-A620-8688-BF68-7053013EC3B6}"/>
              </a:ext>
            </a:extLst>
          </p:cNvPr>
          <p:cNvSpPr txBox="1"/>
          <p:nvPr/>
        </p:nvSpPr>
        <p:spPr>
          <a:xfrm>
            <a:off x="7685454" y="2047111"/>
            <a:ext cx="4286582" cy="830997"/>
          </a:xfrm>
          <a:prstGeom prst="rect">
            <a:avLst/>
          </a:prstGeom>
          <a:noFill/>
          <a:ln w="25400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Option A 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— I don't need my old changes</a:t>
            </a:r>
          </a:p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                                                                                                  </a:t>
            </a:r>
          </a:p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git fetch origin</a:t>
            </a:r>
          </a:p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git reset --hard origin/main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1D829B-11BA-96EC-5DA9-82FF3A5DBA13}"/>
              </a:ext>
            </a:extLst>
          </p:cNvPr>
          <p:cNvSpPr txBox="1"/>
          <p:nvPr/>
        </p:nvSpPr>
        <p:spPr>
          <a:xfrm>
            <a:off x="3390668" y="1165002"/>
            <a:ext cx="5485797" cy="27699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Already have the repository from RAG II workshop installed?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33C302-49EB-34CB-6F7F-32E183384A37}"/>
              </a:ext>
            </a:extLst>
          </p:cNvPr>
          <p:cNvSpPr txBox="1"/>
          <p:nvPr/>
        </p:nvSpPr>
        <p:spPr>
          <a:xfrm>
            <a:off x="438150" y="2078221"/>
            <a:ext cx="4565176" cy="861774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Start fresh</a:t>
            </a:r>
          </a:p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       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</a:t>
            </a:r>
          </a:p>
          <a:p>
            <a:r>
              <a:rPr lang="en-US" sz="12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git clone https://</a:t>
            </a:r>
            <a:r>
              <a:rPr lang="en-US" sz="1200" i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github.com</a:t>
            </a:r>
            <a:r>
              <a:rPr lang="en-US" sz="12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/</a:t>
            </a:r>
            <a:r>
              <a:rPr lang="en-US" sz="1200" i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aihpi</a:t>
            </a:r>
            <a:r>
              <a:rPr lang="en-US" sz="12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/workshop-ragV2.git</a:t>
            </a:r>
          </a:p>
          <a:p>
            <a:r>
              <a:rPr lang="en-US" sz="12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cd workshop-ragV2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47FD81-BA12-CCFD-DAAB-ED705FA7FD7F}"/>
              </a:ext>
            </a:extLst>
          </p:cNvPr>
          <p:cNvSpPr txBox="1"/>
          <p:nvPr/>
        </p:nvSpPr>
        <p:spPr>
          <a:xfrm>
            <a:off x="3664424" y="4601412"/>
            <a:ext cx="4749421" cy="2123658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Step 2: 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Install dependencies</a:t>
            </a:r>
          </a:p>
          <a:p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12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scripts/</a:t>
            </a:r>
            <a:r>
              <a:rPr lang="en-US" sz="1200" i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setup_notebooks_kernel.sh</a:t>
            </a:r>
            <a:r>
              <a:rPr lang="en-US" sz="12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                                                             </a:t>
            </a:r>
          </a:p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</a:t>
            </a:r>
          </a:p>
          <a:p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Step 3: 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Open notebooks/00_setup.ipynb                                                                  </a:t>
            </a:r>
          </a:p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           </a:t>
            </a:r>
          </a:p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Select kernel Python (workshop-ragV2) and run all cells.</a:t>
            </a:r>
          </a:p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Enter the provided API key (valid until 08.04.26):</a:t>
            </a:r>
          </a:p>
          <a:p>
            <a:pPr algn="ctr"/>
            <a:r>
              <a:rPr lang="en-US" sz="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b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sk-UKXFOGt1nz_IYNcd52IWnw</a:t>
            </a:r>
          </a:p>
          <a:p>
            <a:r>
              <a:rPr lang="en-US" sz="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Step 4: 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Have a break and wait for others to finish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DD910A-50BA-3AA1-3841-F123F8EF1AC8}"/>
              </a:ext>
            </a:extLst>
          </p:cNvPr>
          <p:cNvSpPr txBox="1"/>
          <p:nvPr/>
        </p:nvSpPr>
        <p:spPr>
          <a:xfrm>
            <a:off x="7685454" y="3104612"/>
            <a:ext cx="4296369" cy="1384995"/>
          </a:xfrm>
          <a:prstGeom prst="rect">
            <a:avLst/>
          </a:prstGeom>
          <a:noFill/>
          <a:ln w="25400">
            <a:solidFill>
              <a:schemeClr val="accent3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Option B 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— I want to keep my old changes</a:t>
            </a:r>
          </a:p>
          <a:p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git checkout -b my-workshop2-changes</a:t>
            </a:r>
          </a:p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git add -A &amp;&amp; git commit -m "My workshop 2 work"</a:t>
            </a:r>
          </a:p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git checkout main</a:t>
            </a:r>
          </a:p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git fetch origin</a:t>
            </a:r>
          </a:p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git reset --hard origin/main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FCD3AE2-8D3D-D34E-094D-4185C3F5E7AC}"/>
              </a:ext>
            </a:extLst>
          </p:cNvPr>
          <p:cNvCxnSpPr>
            <a:cxnSpLocks/>
          </p:cNvCxnSpPr>
          <p:nvPr/>
        </p:nvCxnSpPr>
        <p:spPr>
          <a:xfrm>
            <a:off x="4080681" y="1522806"/>
            <a:ext cx="0" cy="531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5F7AE40-0AC9-348B-9836-117CC24E07D6}"/>
              </a:ext>
            </a:extLst>
          </p:cNvPr>
          <p:cNvCxnSpPr>
            <a:cxnSpLocks/>
          </p:cNvCxnSpPr>
          <p:nvPr/>
        </p:nvCxnSpPr>
        <p:spPr>
          <a:xfrm>
            <a:off x="7110484" y="1501254"/>
            <a:ext cx="0" cy="22958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4F6FEC5-9495-EDBE-7921-A3A2BC3815B3}"/>
              </a:ext>
            </a:extLst>
          </p:cNvPr>
          <p:cNvCxnSpPr/>
          <p:nvPr/>
        </p:nvCxnSpPr>
        <p:spPr>
          <a:xfrm>
            <a:off x="7110484" y="2462609"/>
            <a:ext cx="4981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6A88979-E1D5-E4AA-6276-9EB130AF4F4D}"/>
              </a:ext>
            </a:extLst>
          </p:cNvPr>
          <p:cNvCxnSpPr>
            <a:cxnSpLocks/>
          </p:cNvCxnSpPr>
          <p:nvPr/>
        </p:nvCxnSpPr>
        <p:spPr>
          <a:xfrm>
            <a:off x="7101895" y="3793316"/>
            <a:ext cx="50673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E1060240-1A9A-91C8-351C-B510012FE542}"/>
              </a:ext>
            </a:extLst>
          </p:cNvPr>
          <p:cNvSpPr txBox="1"/>
          <p:nvPr/>
        </p:nvSpPr>
        <p:spPr>
          <a:xfrm>
            <a:off x="4141181" y="1630062"/>
            <a:ext cx="4459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</a:t>
            </a:r>
            <a:endParaRPr lang="en-US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4815062-3C1C-E086-6634-88A72C8C9739}"/>
              </a:ext>
            </a:extLst>
          </p:cNvPr>
          <p:cNvSpPr txBox="1"/>
          <p:nvPr/>
        </p:nvSpPr>
        <p:spPr>
          <a:xfrm>
            <a:off x="7101895" y="1606222"/>
            <a:ext cx="5132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YES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A3B5C86-3459-5025-9A32-83E0153341D1}"/>
              </a:ext>
            </a:extLst>
          </p:cNvPr>
          <p:cNvCxnSpPr>
            <a:cxnSpLocks/>
          </p:cNvCxnSpPr>
          <p:nvPr/>
        </p:nvCxnSpPr>
        <p:spPr>
          <a:xfrm>
            <a:off x="4076132" y="2939995"/>
            <a:ext cx="0" cy="16614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5EC640C-5B64-F0CA-E0DB-FC55F0EA928E}"/>
              </a:ext>
            </a:extLst>
          </p:cNvPr>
          <p:cNvCxnSpPr>
            <a:cxnSpLocks/>
          </p:cNvCxnSpPr>
          <p:nvPr/>
        </p:nvCxnSpPr>
        <p:spPr>
          <a:xfrm>
            <a:off x="12053248" y="2462609"/>
            <a:ext cx="0" cy="26525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945CBE8-2C84-0AEC-51D7-73F77946753A}"/>
              </a:ext>
            </a:extLst>
          </p:cNvPr>
          <p:cNvCxnSpPr>
            <a:cxnSpLocks/>
          </p:cNvCxnSpPr>
          <p:nvPr/>
        </p:nvCxnSpPr>
        <p:spPr>
          <a:xfrm>
            <a:off x="10083421" y="4489607"/>
            <a:ext cx="0" cy="6145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D0D6F52-F947-4048-60DD-2994CFFF7D60}"/>
              </a:ext>
            </a:extLst>
          </p:cNvPr>
          <p:cNvCxnSpPr>
            <a:cxnSpLocks/>
          </p:cNvCxnSpPr>
          <p:nvPr/>
        </p:nvCxnSpPr>
        <p:spPr>
          <a:xfrm flipH="1" flipV="1">
            <a:off x="8413845" y="5093166"/>
            <a:ext cx="3639403" cy="219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B29D8D7-F489-2A08-6085-0A3C08DF416A}"/>
              </a:ext>
            </a:extLst>
          </p:cNvPr>
          <p:cNvCxnSpPr>
            <a:cxnSpLocks/>
          </p:cNvCxnSpPr>
          <p:nvPr/>
        </p:nvCxnSpPr>
        <p:spPr>
          <a:xfrm>
            <a:off x="11972036" y="2462609"/>
            <a:ext cx="812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" name="Graphic 62" descr="Coffee outline">
            <a:extLst>
              <a:ext uri="{FF2B5EF4-FFF2-40B4-BE49-F238E27FC236}">
                <a16:creationId xmlns:a16="http://schemas.microsoft.com/office/drawing/2014/main" id="{E6CA642C-C67B-1D09-55AD-E74E745699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22696" y="5663241"/>
            <a:ext cx="957856" cy="957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756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EEBB9B-3121-7BD0-C40C-063D254FA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21C20D1-4949-E458-1350-483943113A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smtClean="0"/>
              <a:pPr/>
              <a:t>22</a:t>
            </a:fld>
            <a:endParaRPr lang="de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D1E6F1-11C4-C39F-D4EF-95914ADDA4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442010" y="775010"/>
            <a:ext cx="5307980" cy="53079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85434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F0AC02B-F48D-DB42-1262-3ECC7E1F5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69050CC5-99C9-2EFC-6BF8-23D2B96FC0B6}"/>
              </a:ext>
            </a:extLst>
          </p:cNvPr>
          <p:cNvSpPr/>
          <p:nvPr/>
        </p:nvSpPr>
        <p:spPr>
          <a:xfrm>
            <a:off x="-69850" y="4416211"/>
            <a:ext cx="2528983" cy="2528983"/>
          </a:xfrm>
          <a:custGeom>
            <a:avLst/>
            <a:gdLst/>
            <a:ahLst/>
            <a:cxnLst/>
            <a:rect l="l" t="t" r="r" b="b"/>
            <a:pathLst>
              <a:path w="5057966" h="5057966">
                <a:moveTo>
                  <a:pt x="0" y="0"/>
                </a:moveTo>
                <a:lnTo>
                  <a:pt x="5057966" y="0"/>
                </a:lnTo>
                <a:lnTo>
                  <a:pt x="5057966" y="5057966"/>
                </a:lnTo>
                <a:lnTo>
                  <a:pt x="0" y="5057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602C62FB-5978-910F-6E54-BA6B8532E228}"/>
              </a:ext>
            </a:extLst>
          </p:cNvPr>
          <p:cNvSpPr/>
          <p:nvPr/>
        </p:nvSpPr>
        <p:spPr>
          <a:xfrm>
            <a:off x="12577" y="5637019"/>
            <a:ext cx="1600841" cy="1135671"/>
          </a:xfrm>
          <a:custGeom>
            <a:avLst/>
            <a:gdLst/>
            <a:ahLst/>
            <a:cxnLst/>
            <a:rect l="l" t="t" r="r" b="b"/>
            <a:pathLst>
              <a:path w="3201682" h="2271341">
                <a:moveTo>
                  <a:pt x="0" y="0"/>
                </a:moveTo>
                <a:lnTo>
                  <a:pt x="3201682" y="0"/>
                </a:lnTo>
                <a:lnTo>
                  <a:pt x="3201682" y="2271341"/>
                </a:lnTo>
                <a:lnTo>
                  <a:pt x="0" y="22713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id="{EF4C31E7-013F-13FC-3159-620320AC0C78}"/>
              </a:ext>
            </a:extLst>
          </p:cNvPr>
          <p:cNvSpPr txBox="1"/>
          <p:nvPr/>
        </p:nvSpPr>
        <p:spPr>
          <a:xfrm>
            <a:off x="438150" y="525315"/>
            <a:ext cx="9401175" cy="3680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27"/>
              </a:lnSpc>
            </a:pPr>
            <a:r>
              <a:rPr lang="en-US" sz="3200" b="1" dirty="0">
                <a:solidFill>
                  <a:schemeClr val="tx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RAGAS – Context Precision – Retrieval </a:t>
            </a:r>
            <a:r>
              <a:rPr lang="en-US" sz="3200" b="1" dirty="0" err="1">
                <a:solidFill>
                  <a:schemeClr val="tx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Metric</a:t>
            </a:r>
            <a:endParaRPr lang="en-US" sz="3200" b="1" dirty="0">
              <a:solidFill>
                <a:schemeClr val="tx1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64167BC-1DDE-5997-62B3-26ABB7B19620}"/>
              </a:ext>
            </a:extLst>
          </p:cNvPr>
          <p:cNvSpPr txBox="1"/>
          <p:nvPr/>
        </p:nvSpPr>
        <p:spPr>
          <a:xfrm>
            <a:off x="438151" y="1854567"/>
            <a:ext cx="11419552" cy="87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 dirty="0"/>
              <a:t>The metric measures the </a:t>
            </a:r>
            <a:r>
              <a:rPr lang="de-DE" sz="1800" b="1" dirty="0"/>
              <a:t>ability to rank relevant text passages</a:t>
            </a:r>
            <a:r>
              <a:rPr lang="de-DE" sz="1800" dirty="0"/>
              <a:t> in the retrieved context of a given query </a:t>
            </a:r>
            <a:r>
              <a:rPr lang="de-DE" sz="1800" b="1" dirty="0"/>
              <a:t>higher </a:t>
            </a:r>
            <a:r>
              <a:rPr lang="de-DE" sz="1800" dirty="0"/>
              <a:t>than irrelevant ones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6B6AA4C-B578-92F6-EE55-D9E1F03C482F}"/>
              </a:ext>
            </a:extLst>
          </p:cNvPr>
          <p:cNvSpPr txBox="1"/>
          <p:nvPr/>
        </p:nvSpPr>
        <p:spPr>
          <a:xfrm>
            <a:off x="8516983" y="3105834"/>
            <a:ext cx="2995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800" dirty="0">
                <a:solidFill>
                  <a:srgbClr val="AF0333"/>
                </a:solidFill>
              </a:rPr>
              <a:t>How well are the relevant hits placed in the ranking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6D62207D-CE6D-2712-725B-8D4502B08B97}"/>
              </a:ext>
            </a:extLst>
          </p:cNvPr>
          <p:cNvSpPr txBox="1"/>
          <p:nvPr/>
        </p:nvSpPr>
        <p:spPr>
          <a:xfrm>
            <a:off x="8516983" y="4160448"/>
            <a:ext cx="2995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800" dirty="0">
                <a:solidFill>
                  <a:srgbClr val="AF0333"/>
                </a:solidFill>
              </a:rPr>
              <a:t>Share of </a:t>
            </a:r>
            <a:r>
              <a:rPr lang="de-DE" sz="1800" b="1" dirty="0">
                <a:solidFill>
                  <a:srgbClr val="AF0333"/>
                </a:solidFill>
              </a:rPr>
              <a:t>relevant</a:t>
            </a:r>
            <a:r>
              <a:rPr lang="de-DE" sz="1800" dirty="0">
                <a:solidFill>
                  <a:srgbClr val="AF0333"/>
                </a:solidFill>
              </a:rPr>
              <a:t> hits</a:t>
            </a:r>
          </a:p>
        </p:txBody>
      </p:sp>
      <p:sp>
        <p:nvSpPr>
          <p:cNvPr id="5" name="Eckige Klammer rechts 4">
            <a:extLst>
              <a:ext uri="{FF2B5EF4-FFF2-40B4-BE49-F238E27FC236}">
                <a16:creationId xmlns:a16="http://schemas.microsoft.com/office/drawing/2014/main" id="{3B451FB4-DB39-1881-5D7F-F348D44A0E5B}"/>
              </a:ext>
            </a:extLst>
          </p:cNvPr>
          <p:cNvSpPr/>
          <p:nvPr/>
        </p:nvSpPr>
        <p:spPr>
          <a:xfrm>
            <a:off x="8148475" y="2957187"/>
            <a:ext cx="184254" cy="934443"/>
          </a:xfrm>
          <a:prstGeom prst="rightBracket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Eckige Klammer rechts 7">
            <a:extLst>
              <a:ext uri="{FF2B5EF4-FFF2-40B4-BE49-F238E27FC236}">
                <a16:creationId xmlns:a16="http://schemas.microsoft.com/office/drawing/2014/main" id="{AA2F1D7E-8324-16BC-52FB-9FE99CD0FDCF}"/>
              </a:ext>
            </a:extLst>
          </p:cNvPr>
          <p:cNvSpPr/>
          <p:nvPr/>
        </p:nvSpPr>
        <p:spPr>
          <a:xfrm>
            <a:off x="8148475" y="4049175"/>
            <a:ext cx="184254" cy="708563"/>
          </a:xfrm>
          <a:prstGeom prst="rightBracket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5BFAAA70-33C9-AA8A-EC19-448102B78BB9}"/>
                  </a:ext>
                </a:extLst>
              </p:cNvPr>
              <p:cNvSpPr txBox="1"/>
              <p:nvPr/>
            </p:nvSpPr>
            <p:spPr>
              <a:xfrm>
                <a:off x="584200" y="2997200"/>
                <a:ext cx="7543800" cy="6776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200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m:rPr>
                          <m:sty m:val="p"/>
                        </m:rPr>
                        <a:rPr lang="de-DE" sz="2000" b="0" i="0" smtClean="0">
                          <a:latin typeface="Cambria Math" panose="02040503050406030204" pitchFamily="18" charset="0"/>
                        </a:rPr>
                        <m:t>ontext</m:t>
                      </m:r>
                      <m:r>
                        <a:rPr lang="de-DE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 sz="2000" b="0" i="0" smtClean="0">
                          <a:latin typeface="Cambria Math" panose="02040503050406030204" pitchFamily="18" charset="0"/>
                        </a:rPr>
                        <m:t>Precision</m:t>
                      </m:r>
                      <m:r>
                        <a:rPr lang="de-DE" sz="2000" b="0" i="0" smtClean="0">
                          <a:latin typeface="Cambria Math" panose="02040503050406030204" pitchFamily="18" charset="0"/>
                        </a:rPr>
                        <m:t> @</m:t>
                      </m:r>
                      <m:r>
                        <m:rPr>
                          <m:sty m:val="p"/>
                        </m:rPr>
                        <a:rPr lang="de-DE" sz="2000" b="0" i="0" smtClean="0"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de-DE" sz="2000" b="0" i="0" smtClean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𝑃𝑟𝑒𝑐𝑖𝑠𝑖𝑜𝑛</m:t>
                                  </m:r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 @</m:t>
                                  </m:r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num>
                        <m:den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𝑟𝑒𝑙𝑒𝑣𝑎𝑛𝑡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𝑐𝑜𝑛𝑡𝑒𝑥𝑡𝑠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𝑇𝑜𝑝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</m:oMath>
                  </m:oMathPara>
                </a14:m>
                <a:endParaRPr lang="de-DE" sz="2000" dirty="0"/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5BFAAA70-33C9-AA8A-EC19-448102B78B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200" y="2997200"/>
                <a:ext cx="7543800" cy="677621"/>
              </a:xfrm>
              <a:prstGeom prst="rect">
                <a:avLst/>
              </a:prstGeom>
              <a:blipFill>
                <a:blip r:embed="rId5"/>
                <a:stretch>
                  <a:fillRect t="-75926" b="-6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871220EB-E473-1883-82C6-67D32753E765}"/>
                  </a:ext>
                </a:extLst>
              </p:cNvPr>
              <p:cNvSpPr txBox="1"/>
              <p:nvPr/>
            </p:nvSpPr>
            <p:spPr>
              <a:xfrm>
                <a:off x="812997" y="4127500"/>
                <a:ext cx="5822758" cy="63831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2000" b="0" i="0" smtClean="0">
                          <a:latin typeface="Cambria Math" panose="02040503050406030204" pitchFamily="18" charset="0"/>
                        </a:rPr>
                        <m:t>Precision</m:t>
                      </m:r>
                      <m:r>
                        <a:rPr lang="de-DE" sz="2000" b="0" i="0" smtClean="0">
                          <a:latin typeface="Cambria Math" panose="02040503050406030204" pitchFamily="18" charset="0"/>
                        </a:rPr>
                        <m:t> @</m:t>
                      </m:r>
                      <m:r>
                        <m:rPr>
                          <m:sty m:val="p"/>
                        </m:rPr>
                        <a:rPr lang="de-DE" sz="2000" b="0" i="0" smtClean="0"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de-DE" sz="2000" b="0" i="0" smtClean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𝑟𝑒𝑙𝑒𝑣𝑎𝑛𝑡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𝑐𝑜𝑛𝑡𝑒𝑥𝑡𝑠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 @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𝑟𝑒𝑡𝑟𝑖𝑒𝑣𝑒𝑑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𝑐𝑜𝑛𝑡𝑒𝑥𝑡𝑠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 @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</m:oMath>
                  </m:oMathPara>
                </a14:m>
                <a:endParaRPr lang="de-DE" sz="2000" dirty="0"/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871220EB-E473-1883-82C6-67D32753E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997" y="4127500"/>
                <a:ext cx="5822758" cy="638316"/>
              </a:xfrm>
              <a:prstGeom prst="rect">
                <a:avLst/>
              </a:prstGeom>
              <a:blipFill>
                <a:blip r:embed="rId6"/>
                <a:stretch>
                  <a:fillRect l="-652" t="-5769" r="-1087" b="-17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CC5B9803-0274-251C-948D-05B3D7ACAB5F}"/>
                  </a:ext>
                </a:extLst>
              </p:cNvPr>
              <p:cNvSpPr txBox="1"/>
              <p:nvPr/>
            </p:nvSpPr>
            <p:spPr>
              <a:xfrm>
                <a:off x="812997" y="5112438"/>
                <a:ext cx="11419552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de-DE" dirty="0"/>
                  <a:t> is the total number of contexts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nor/>
                      </m:rPr>
                      <a:rPr lang="de-DE" altLang="de-DE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de-DE" dirty="0"/>
                  <a:t> is an indicator of whether the context is relevant (1 = relevant, 0 = irrelevant) </a:t>
                </a:r>
              </a:p>
            </p:txBody>
          </p:sp>
        </mc:Choice>
        <mc:Fallback xmlns="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CC5B9803-0274-251C-948D-05B3D7ACAB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997" y="5112438"/>
                <a:ext cx="11419552" cy="375552"/>
              </a:xfrm>
              <a:prstGeom prst="rect">
                <a:avLst/>
              </a:prstGeom>
              <a:blipFill>
                <a:blip r:embed="rId7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">
            <a:extLst>
              <a:ext uri="{FF2B5EF4-FFF2-40B4-BE49-F238E27FC236}">
                <a16:creationId xmlns:a16="http://schemas.microsoft.com/office/drawing/2014/main" id="{7EF6EE62-4096-0270-20DC-8CE88E330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599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5BDDCF3-BE64-D12A-9EAB-6D730E944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3E56306A-125C-2274-89B0-2AAB22CE887E}"/>
              </a:ext>
            </a:extLst>
          </p:cNvPr>
          <p:cNvSpPr/>
          <p:nvPr/>
        </p:nvSpPr>
        <p:spPr>
          <a:xfrm>
            <a:off x="1046725" y="1726355"/>
            <a:ext cx="3193323" cy="3276720"/>
          </a:xfrm>
          <a:prstGeom prst="roundRect">
            <a:avLst/>
          </a:prstGeom>
          <a:solidFill>
            <a:schemeClr val="accent6">
              <a:lumMod val="20000"/>
              <a:lumOff val="80000"/>
              <a:alpha val="40258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Abgerundetes Rechteck 16">
            <a:extLst>
              <a:ext uri="{FF2B5EF4-FFF2-40B4-BE49-F238E27FC236}">
                <a16:creationId xmlns:a16="http://schemas.microsoft.com/office/drawing/2014/main" id="{1BD9B0C9-37A4-CD09-D5AA-FC9388D5CB08}"/>
              </a:ext>
            </a:extLst>
          </p:cNvPr>
          <p:cNvSpPr/>
          <p:nvPr/>
        </p:nvSpPr>
        <p:spPr>
          <a:xfrm>
            <a:off x="4597600" y="1739557"/>
            <a:ext cx="3354354" cy="3276720"/>
          </a:xfrm>
          <a:prstGeom prst="roundRect">
            <a:avLst/>
          </a:prstGeom>
          <a:solidFill>
            <a:schemeClr val="accent5">
              <a:lumMod val="20000"/>
              <a:lumOff val="80000"/>
              <a:alpha val="40258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B0C7635-B5F7-A724-11CE-F5C999218099}"/>
              </a:ext>
            </a:extLst>
          </p:cNvPr>
          <p:cNvSpPr/>
          <p:nvPr/>
        </p:nvSpPr>
        <p:spPr>
          <a:xfrm>
            <a:off x="-69850" y="4416211"/>
            <a:ext cx="2528983" cy="2528983"/>
          </a:xfrm>
          <a:custGeom>
            <a:avLst/>
            <a:gdLst/>
            <a:ahLst/>
            <a:cxnLst/>
            <a:rect l="l" t="t" r="r" b="b"/>
            <a:pathLst>
              <a:path w="5057966" h="5057966">
                <a:moveTo>
                  <a:pt x="0" y="0"/>
                </a:moveTo>
                <a:lnTo>
                  <a:pt x="5057966" y="0"/>
                </a:lnTo>
                <a:lnTo>
                  <a:pt x="5057966" y="5057966"/>
                </a:lnTo>
                <a:lnTo>
                  <a:pt x="0" y="5057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8437FD0-43F1-1A3B-B785-3DF4F76A3C93}"/>
              </a:ext>
            </a:extLst>
          </p:cNvPr>
          <p:cNvSpPr/>
          <p:nvPr/>
        </p:nvSpPr>
        <p:spPr>
          <a:xfrm>
            <a:off x="12577" y="5637019"/>
            <a:ext cx="1600841" cy="1135671"/>
          </a:xfrm>
          <a:custGeom>
            <a:avLst/>
            <a:gdLst/>
            <a:ahLst/>
            <a:cxnLst/>
            <a:rect l="l" t="t" r="r" b="b"/>
            <a:pathLst>
              <a:path w="3201682" h="2271341">
                <a:moveTo>
                  <a:pt x="0" y="0"/>
                </a:moveTo>
                <a:lnTo>
                  <a:pt x="3201682" y="0"/>
                </a:lnTo>
                <a:lnTo>
                  <a:pt x="3201682" y="2271341"/>
                </a:lnTo>
                <a:lnTo>
                  <a:pt x="0" y="22713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id="{ACD3A742-2EEB-F819-09DF-29A241F2B3E3}"/>
              </a:ext>
            </a:extLst>
          </p:cNvPr>
          <p:cNvSpPr txBox="1"/>
          <p:nvPr/>
        </p:nvSpPr>
        <p:spPr>
          <a:xfrm>
            <a:off x="438150" y="525315"/>
            <a:ext cx="9401175" cy="3680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27"/>
              </a:lnSpc>
            </a:pPr>
            <a:r>
              <a:rPr lang="en-US" sz="3200" b="1" dirty="0">
                <a:solidFill>
                  <a:schemeClr val="tx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RAGAS – Context Precision – </a:t>
            </a:r>
            <a:r>
              <a:rPr lang="en-US" sz="3200" b="1" dirty="0" err="1">
                <a:solidFill>
                  <a:schemeClr val="tx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Example</a:t>
            </a:r>
            <a:endParaRPr lang="en-US" sz="3200" b="1" dirty="0">
              <a:solidFill>
                <a:schemeClr val="tx1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96EFE6E-15E2-575A-8513-08F69E8FD345}"/>
              </a:ext>
            </a:extLst>
          </p:cNvPr>
          <p:cNvSpPr txBox="1"/>
          <p:nvPr/>
        </p:nvSpPr>
        <p:spPr>
          <a:xfrm>
            <a:off x="1046725" y="2318012"/>
            <a:ext cx="3193323" cy="466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1800" dirty="0"/>
              <a:t>Ranking: </a:t>
            </a:r>
            <a:r>
              <a:rPr lang="de-DE" sz="1800" dirty="0">
                <a:highlight>
                  <a:srgbClr val="FFFF00"/>
                </a:highlight>
              </a:rPr>
              <a:t>1</a:t>
            </a:r>
            <a:r>
              <a:rPr lang="de-DE" sz="1800" dirty="0"/>
              <a:t> ✅, 2 ❌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47F445F-A996-FF11-51A6-8CE3FADF1BE0}"/>
              </a:ext>
            </a:extLst>
          </p:cNvPr>
          <p:cNvSpPr txBox="1"/>
          <p:nvPr/>
        </p:nvSpPr>
        <p:spPr>
          <a:xfrm>
            <a:off x="8516983" y="3105834"/>
            <a:ext cx="2995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800" dirty="0">
                <a:solidFill>
                  <a:srgbClr val="AF0333"/>
                </a:solidFill>
              </a:rPr>
              <a:t>How well are the relevant hits placed in the ranking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10D6AB8E-076E-2A97-5EAD-98C155022220}"/>
              </a:ext>
            </a:extLst>
          </p:cNvPr>
          <p:cNvSpPr txBox="1"/>
          <p:nvPr/>
        </p:nvSpPr>
        <p:spPr>
          <a:xfrm>
            <a:off x="8516983" y="4160448"/>
            <a:ext cx="2995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800" dirty="0">
                <a:solidFill>
                  <a:srgbClr val="AF0333"/>
                </a:solidFill>
              </a:rPr>
              <a:t>Share of </a:t>
            </a:r>
            <a:r>
              <a:rPr lang="de-DE" sz="1800" b="1" dirty="0">
                <a:solidFill>
                  <a:srgbClr val="AF0333"/>
                </a:solidFill>
              </a:rPr>
              <a:t>relevant</a:t>
            </a:r>
            <a:r>
              <a:rPr lang="de-DE" sz="1800" dirty="0">
                <a:solidFill>
                  <a:srgbClr val="AF0333"/>
                </a:solidFill>
              </a:rPr>
              <a:t> hits</a:t>
            </a:r>
          </a:p>
        </p:txBody>
      </p:sp>
      <p:sp>
        <p:nvSpPr>
          <p:cNvPr id="5" name="Eckige Klammer rechts 4">
            <a:extLst>
              <a:ext uri="{FF2B5EF4-FFF2-40B4-BE49-F238E27FC236}">
                <a16:creationId xmlns:a16="http://schemas.microsoft.com/office/drawing/2014/main" id="{72C6D8D3-3AD9-084A-691E-31C4DD23C923}"/>
              </a:ext>
            </a:extLst>
          </p:cNvPr>
          <p:cNvSpPr/>
          <p:nvPr/>
        </p:nvSpPr>
        <p:spPr>
          <a:xfrm>
            <a:off x="8148475" y="2957187"/>
            <a:ext cx="184254" cy="934443"/>
          </a:xfrm>
          <a:prstGeom prst="rightBracket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Eckige Klammer rechts 7">
            <a:extLst>
              <a:ext uri="{FF2B5EF4-FFF2-40B4-BE49-F238E27FC236}">
                <a16:creationId xmlns:a16="http://schemas.microsoft.com/office/drawing/2014/main" id="{7EF84935-6E22-96E7-58DF-F424B485D515}"/>
              </a:ext>
            </a:extLst>
          </p:cNvPr>
          <p:cNvSpPr/>
          <p:nvPr/>
        </p:nvSpPr>
        <p:spPr>
          <a:xfrm>
            <a:off x="8148475" y="4049175"/>
            <a:ext cx="184254" cy="708563"/>
          </a:xfrm>
          <a:prstGeom prst="rightBracket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99592210-A8FA-46A3-4A92-6E96CA9206B1}"/>
              </a:ext>
            </a:extLst>
          </p:cNvPr>
          <p:cNvSpPr txBox="1"/>
          <p:nvPr/>
        </p:nvSpPr>
        <p:spPr>
          <a:xfrm>
            <a:off x="4597600" y="3932059"/>
            <a:ext cx="3193323" cy="87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 dirty="0"/>
              <a:t>Precision@1= 0/1 = 0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 dirty="0">
                <a:highlight>
                  <a:srgbClr val="FFFF00"/>
                </a:highlight>
              </a:rPr>
              <a:t>Precision@2= 1/2 = 0.5 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EEF5364-F275-B059-5583-AE04A1AB8C59}"/>
              </a:ext>
            </a:extLst>
          </p:cNvPr>
          <p:cNvSpPr txBox="1"/>
          <p:nvPr/>
        </p:nvSpPr>
        <p:spPr>
          <a:xfrm>
            <a:off x="1046725" y="3932059"/>
            <a:ext cx="3193323" cy="87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 dirty="0">
                <a:highlight>
                  <a:srgbClr val="FFFF00"/>
                </a:highlight>
              </a:rPr>
              <a:t>Precision@1= 1/1 = 1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 dirty="0"/>
              <a:t>Precision@2= 1/2 = 0.5 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C572E0B6-D816-E2C1-B50C-C4EA13234894}"/>
              </a:ext>
            </a:extLst>
          </p:cNvPr>
          <p:cNvSpPr txBox="1"/>
          <p:nvPr/>
        </p:nvSpPr>
        <p:spPr>
          <a:xfrm>
            <a:off x="4597600" y="2967936"/>
            <a:ext cx="3469704" cy="4564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1800" dirty="0" err="1"/>
              <a:t>Context</a:t>
            </a:r>
            <a:r>
              <a:rPr lang="de-DE" sz="1800" dirty="0"/>
              <a:t> Precision = 0.5/1 = 0.5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8FEDFB90-DFF5-A7AA-D8DA-3B4384206DA8}"/>
              </a:ext>
            </a:extLst>
          </p:cNvPr>
          <p:cNvSpPr txBox="1"/>
          <p:nvPr/>
        </p:nvSpPr>
        <p:spPr>
          <a:xfrm>
            <a:off x="1046725" y="2967936"/>
            <a:ext cx="3469704" cy="4564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1800" dirty="0" err="1"/>
              <a:t>Context</a:t>
            </a:r>
            <a:r>
              <a:rPr lang="de-DE" sz="1800" dirty="0"/>
              <a:t> Precision = 1/1 = 1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4C12331B-A171-5CFF-FCC6-05345437EF96}"/>
              </a:ext>
            </a:extLst>
          </p:cNvPr>
          <p:cNvSpPr txBox="1"/>
          <p:nvPr/>
        </p:nvSpPr>
        <p:spPr>
          <a:xfrm>
            <a:off x="4597600" y="2318011"/>
            <a:ext cx="3193323" cy="466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1800" dirty="0"/>
              <a:t>Ranking: 1 ❌, </a:t>
            </a:r>
            <a:r>
              <a:rPr lang="de-DE" sz="1800" dirty="0">
                <a:highlight>
                  <a:srgbClr val="FFFF00"/>
                </a:highlight>
              </a:rPr>
              <a:t>2</a:t>
            </a:r>
            <a:r>
              <a:rPr lang="de-DE" sz="1800" dirty="0"/>
              <a:t> ✅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DB723326-AEEF-52E9-DD2F-26A857716AD4}"/>
              </a:ext>
            </a:extLst>
          </p:cNvPr>
          <p:cNvSpPr txBox="1"/>
          <p:nvPr/>
        </p:nvSpPr>
        <p:spPr>
          <a:xfrm>
            <a:off x="2781577" y="5199342"/>
            <a:ext cx="3193322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de-DE" sz="1800" dirty="0">
                <a:solidFill>
                  <a:srgbClr val="AF0333"/>
                </a:solidFill>
              </a:rPr>
              <a:t>only relevant hits are counted, with v=1</a:t>
            </a:r>
          </a:p>
        </p:txBody>
      </p:sp>
    </p:spTree>
    <p:extLst>
      <p:ext uri="{BB962C8B-B14F-4D97-AF65-F5344CB8AC3E}">
        <p14:creationId xmlns:p14="http://schemas.microsoft.com/office/powerpoint/2010/main" val="2758350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89DBA0D-E7E5-8BAD-41D8-8C17A0C9E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28FB2EDE-D001-6017-EAFA-D6C5B6A5C8EE}"/>
              </a:ext>
            </a:extLst>
          </p:cNvPr>
          <p:cNvSpPr/>
          <p:nvPr/>
        </p:nvSpPr>
        <p:spPr>
          <a:xfrm>
            <a:off x="-69850" y="4416211"/>
            <a:ext cx="2528983" cy="2528983"/>
          </a:xfrm>
          <a:custGeom>
            <a:avLst/>
            <a:gdLst/>
            <a:ahLst/>
            <a:cxnLst/>
            <a:rect l="l" t="t" r="r" b="b"/>
            <a:pathLst>
              <a:path w="5057966" h="5057966">
                <a:moveTo>
                  <a:pt x="0" y="0"/>
                </a:moveTo>
                <a:lnTo>
                  <a:pt x="5057966" y="0"/>
                </a:lnTo>
                <a:lnTo>
                  <a:pt x="5057966" y="5057966"/>
                </a:lnTo>
                <a:lnTo>
                  <a:pt x="0" y="5057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DACA1197-CA79-1E00-6CA3-4D8A2AE1400D}"/>
              </a:ext>
            </a:extLst>
          </p:cNvPr>
          <p:cNvSpPr/>
          <p:nvPr/>
        </p:nvSpPr>
        <p:spPr>
          <a:xfrm>
            <a:off x="12577" y="5637019"/>
            <a:ext cx="1600841" cy="1135671"/>
          </a:xfrm>
          <a:custGeom>
            <a:avLst/>
            <a:gdLst/>
            <a:ahLst/>
            <a:cxnLst/>
            <a:rect l="l" t="t" r="r" b="b"/>
            <a:pathLst>
              <a:path w="3201682" h="2271341">
                <a:moveTo>
                  <a:pt x="0" y="0"/>
                </a:moveTo>
                <a:lnTo>
                  <a:pt x="3201682" y="0"/>
                </a:lnTo>
                <a:lnTo>
                  <a:pt x="3201682" y="2271341"/>
                </a:lnTo>
                <a:lnTo>
                  <a:pt x="0" y="22713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id="{EB4496C4-B57B-851F-9B3A-19315704821E}"/>
              </a:ext>
            </a:extLst>
          </p:cNvPr>
          <p:cNvSpPr txBox="1"/>
          <p:nvPr/>
        </p:nvSpPr>
        <p:spPr>
          <a:xfrm>
            <a:off x="438150" y="525315"/>
            <a:ext cx="9401175" cy="3680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27"/>
              </a:lnSpc>
            </a:pPr>
            <a:r>
              <a:rPr lang="en-US" sz="3200" b="1" dirty="0">
                <a:solidFill>
                  <a:schemeClr val="tx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RAGAS – Context Recall – Retrieval </a:t>
            </a:r>
            <a:r>
              <a:rPr lang="en-US" sz="3200" b="1" dirty="0" err="1">
                <a:solidFill>
                  <a:schemeClr val="tx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Metric</a:t>
            </a:r>
            <a:r>
              <a:rPr lang="en-US" sz="3200" b="1" dirty="0">
                <a:solidFill>
                  <a:schemeClr val="tx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00FC989-764F-70C3-B8E8-0D54189FCE9B}"/>
              </a:ext>
            </a:extLst>
          </p:cNvPr>
          <p:cNvSpPr txBox="1"/>
          <p:nvPr/>
        </p:nvSpPr>
        <p:spPr>
          <a:xfrm>
            <a:off x="438151" y="1854567"/>
            <a:ext cx="11419552" cy="4564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 dirty="0"/>
              <a:t>The metric measures </a:t>
            </a:r>
            <a:r>
              <a:rPr lang="de-DE" sz="1800" b="1" dirty="0"/>
              <a:t>how many of the relevant hits were retrieved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18CC2C86-F614-0670-611E-D618778C4BB7}"/>
                  </a:ext>
                </a:extLst>
              </p:cNvPr>
              <p:cNvSpPr txBox="1"/>
              <p:nvPr/>
            </p:nvSpPr>
            <p:spPr>
              <a:xfrm>
                <a:off x="812997" y="3429000"/>
                <a:ext cx="6670747" cy="5852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200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m:rPr>
                          <m:sty m:val="p"/>
                        </m:rPr>
                        <a:rPr lang="de-DE" sz="2000" b="0" i="0" smtClean="0">
                          <a:latin typeface="Cambria Math" panose="02040503050406030204" pitchFamily="18" charset="0"/>
                        </a:rPr>
                        <m:t>ontext</m:t>
                      </m:r>
                      <m:r>
                        <a:rPr lang="de-DE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 sz="2000" b="0" i="0" smtClean="0">
                          <a:latin typeface="Cambria Math" panose="02040503050406030204" pitchFamily="18" charset="0"/>
                        </a:rPr>
                        <m:t>Recall</m:t>
                      </m:r>
                      <m:r>
                        <a:rPr lang="de-DE" sz="2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𝑟𝑒𝑡𝑟𝑖𝑒𝑣𝑒𝑑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𝑟𝑒𝑙𝑒𝑣𝑎𝑛𝑡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𝑐𝑜𝑛𝑡𝑒𝑥𝑡𝑠</m:t>
                          </m:r>
                        </m:num>
                        <m:den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𝑎𝑙𝑙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𝑟𝑒𝑙𝑒𝑣𝑎𝑛𝑡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𝑐𝑜𝑛𝑡𝑒𝑥𝑡𝑠</m:t>
                          </m:r>
                        </m:den>
                      </m:f>
                    </m:oMath>
                  </m:oMathPara>
                </a14:m>
                <a:endParaRPr lang="de-DE" sz="2000" dirty="0"/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18CC2C86-F614-0670-611E-D618778C4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997" y="3429000"/>
                <a:ext cx="6670747" cy="585288"/>
              </a:xfrm>
              <a:prstGeom prst="rect">
                <a:avLst/>
              </a:prstGeom>
              <a:blipFill>
                <a:blip r:embed="rId5"/>
                <a:stretch>
                  <a:fillRect t="-10638" b="-29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1593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771F2A9-B512-FA94-3670-E7A43AE5D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FC762713-E47D-5CF0-CD88-C555A014C739}"/>
              </a:ext>
            </a:extLst>
          </p:cNvPr>
          <p:cNvSpPr/>
          <p:nvPr/>
        </p:nvSpPr>
        <p:spPr>
          <a:xfrm>
            <a:off x="-69850" y="4416211"/>
            <a:ext cx="2528983" cy="2528983"/>
          </a:xfrm>
          <a:custGeom>
            <a:avLst/>
            <a:gdLst/>
            <a:ahLst/>
            <a:cxnLst/>
            <a:rect l="l" t="t" r="r" b="b"/>
            <a:pathLst>
              <a:path w="5057966" h="5057966">
                <a:moveTo>
                  <a:pt x="0" y="0"/>
                </a:moveTo>
                <a:lnTo>
                  <a:pt x="5057966" y="0"/>
                </a:lnTo>
                <a:lnTo>
                  <a:pt x="5057966" y="5057966"/>
                </a:lnTo>
                <a:lnTo>
                  <a:pt x="0" y="5057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A9F804F-A70B-20C4-18AF-A5B635B7F2F7}"/>
              </a:ext>
            </a:extLst>
          </p:cNvPr>
          <p:cNvSpPr/>
          <p:nvPr/>
        </p:nvSpPr>
        <p:spPr>
          <a:xfrm>
            <a:off x="12577" y="5637019"/>
            <a:ext cx="1600841" cy="1135671"/>
          </a:xfrm>
          <a:custGeom>
            <a:avLst/>
            <a:gdLst/>
            <a:ahLst/>
            <a:cxnLst/>
            <a:rect l="l" t="t" r="r" b="b"/>
            <a:pathLst>
              <a:path w="3201682" h="2271341">
                <a:moveTo>
                  <a:pt x="0" y="0"/>
                </a:moveTo>
                <a:lnTo>
                  <a:pt x="3201682" y="0"/>
                </a:lnTo>
                <a:lnTo>
                  <a:pt x="3201682" y="2271341"/>
                </a:lnTo>
                <a:lnTo>
                  <a:pt x="0" y="22713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id="{A28A14C7-AE6C-1EB0-9162-B99064FF95D3}"/>
              </a:ext>
            </a:extLst>
          </p:cNvPr>
          <p:cNvSpPr txBox="1"/>
          <p:nvPr/>
        </p:nvSpPr>
        <p:spPr>
          <a:xfrm>
            <a:off x="438150" y="525315"/>
            <a:ext cx="9401175" cy="3680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27"/>
              </a:lnSpc>
            </a:pPr>
            <a:r>
              <a:rPr lang="en-US" sz="3200" b="1" dirty="0">
                <a:solidFill>
                  <a:schemeClr val="tx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RAGAS – Context Recall – </a:t>
            </a:r>
            <a:r>
              <a:rPr lang="en-US" sz="3200" b="1" dirty="0" err="1">
                <a:solidFill>
                  <a:schemeClr val="tx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Example</a:t>
            </a:r>
            <a:r>
              <a:rPr lang="en-US" sz="3200" b="1" dirty="0">
                <a:solidFill>
                  <a:schemeClr val="tx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F5FF4471-E917-8D9E-0A3A-3A1FF5DC6882}"/>
              </a:ext>
            </a:extLst>
          </p:cNvPr>
          <p:cNvGrpSpPr/>
          <p:nvPr/>
        </p:nvGrpSpPr>
        <p:grpSpPr>
          <a:xfrm>
            <a:off x="1046725" y="1749895"/>
            <a:ext cx="10098550" cy="3276720"/>
            <a:chOff x="1046725" y="1726355"/>
            <a:chExt cx="10098550" cy="3276720"/>
          </a:xfrm>
        </p:grpSpPr>
        <p:sp>
          <p:nvSpPr>
            <p:cNvPr id="5" name="Abgerundetes Rechteck 4">
              <a:extLst>
                <a:ext uri="{FF2B5EF4-FFF2-40B4-BE49-F238E27FC236}">
                  <a16:creationId xmlns:a16="http://schemas.microsoft.com/office/drawing/2014/main" id="{A9D33942-6252-ECA8-B80F-0FEAC69E4A29}"/>
                </a:ext>
              </a:extLst>
            </p:cNvPr>
            <p:cNvSpPr/>
            <p:nvPr/>
          </p:nvSpPr>
          <p:spPr>
            <a:xfrm>
              <a:off x="1046725" y="1726355"/>
              <a:ext cx="3193323" cy="327672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  <a:alpha val="40258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D05578A2-BBB7-F96C-FE9F-6BB7C28B46BC}"/>
                </a:ext>
              </a:extLst>
            </p:cNvPr>
            <p:cNvSpPr txBox="1"/>
            <p:nvPr/>
          </p:nvSpPr>
          <p:spPr>
            <a:xfrm>
              <a:off x="1046725" y="2318012"/>
              <a:ext cx="3193323" cy="4668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de-DE" sz="1800" dirty="0"/>
                <a:t>Question:</a:t>
              </a:r>
            </a:p>
          </p:txBody>
        </p: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17F05F45-1EB9-10A1-1A83-F9ABFCF92FAE}"/>
                </a:ext>
              </a:extLst>
            </p:cNvPr>
            <p:cNvSpPr txBox="1"/>
            <p:nvPr/>
          </p:nvSpPr>
          <p:spPr>
            <a:xfrm>
              <a:off x="1046725" y="2784871"/>
              <a:ext cx="3193323" cy="17029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de-DE" sz="1800" dirty="0"/>
                <a:t>“What colors does a traffic light have?”</a:t>
              </a:r>
            </a:p>
            <a:p>
              <a:pPr>
                <a:lnSpc>
                  <a:spcPct val="150000"/>
                </a:lnSpc>
              </a:pPr>
              <a:r>
                <a:rPr lang="de-DE" sz="1800" i="1" dirty="0"/>
                <a:t>(3 relevant facts: </a:t>
              </a:r>
              <a:r>
                <a:rPr lang="de-DE" sz="1800" i="1" dirty="0">
                  <a:highlight>
                    <a:srgbClr val="00FFFF"/>
                  </a:highlight>
                </a:rPr>
                <a:t>Red, </a:t>
              </a:r>
              <a:r>
                <a:rPr lang="de-DE" sz="1800" i="1" dirty="0" err="1">
                  <a:highlight>
                    <a:srgbClr val="00FFFF"/>
                  </a:highlight>
                </a:rPr>
                <a:t>Yellow, Green</a:t>
              </a:r>
              <a:r>
                <a:rPr lang="de-DE" sz="1800" i="1" dirty="0"/>
                <a:t>)</a:t>
              </a:r>
            </a:p>
          </p:txBody>
        </p:sp>
        <p:sp>
          <p:nvSpPr>
            <p:cNvPr id="10" name="Abgerundetes Rechteck 9">
              <a:extLst>
                <a:ext uri="{FF2B5EF4-FFF2-40B4-BE49-F238E27FC236}">
                  <a16:creationId xmlns:a16="http://schemas.microsoft.com/office/drawing/2014/main" id="{0EB47DED-9823-0B30-3554-27159CD37BF3}"/>
                </a:ext>
              </a:extLst>
            </p:cNvPr>
            <p:cNvSpPr/>
            <p:nvPr/>
          </p:nvSpPr>
          <p:spPr>
            <a:xfrm>
              <a:off x="4499338" y="1726355"/>
              <a:ext cx="3193323" cy="327672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  <a:alpha val="40258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4605DA9A-5AE1-8546-0B3D-CAF887FF6995}"/>
                </a:ext>
              </a:extLst>
            </p:cNvPr>
            <p:cNvSpPr txBox="1"/>
            <p:nvPr/>
          </p:nvSpPr>
          <p:spPr>
            <a:xfrm>
              <a:off x="4499338" y="2318012"/>
              <a:ext cx="3193323" cy="4668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de-DE" sz="1800" dirty="0"/>
                <a:t>Retrieval:</a:t>
              </a:r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67F82BD1-2E6A-48B8-4098-51F149AF7E1C}"/>
                </a:ext>
              </a:extLst>
            </p:cNvPr>
            <p:cNvSpPr txBox="1"/>
            <p:nvPr/>
          </p:nvSpPr>
          <p:spPr>
            <a:xfrm>
              <a:off x="4499338" y="2784871"/>
              <a:ext cx="3193323" cy="12874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de-DE" sz="1800" dirty="0"/>
                <a:t>“</a:t>
              </a:r>
              <a:r>
                <a:rPr lang="de-DE" sz="1800" dirty="0">
                  <a:highlight>
                    <a:srgbClr val="FFFF00"/>
                  </a:highlight>
                </a:rPr>
                <a:t>Red</a:t>
              </a:r>
              <a:r>
                <a:rPr lang="de-DE" sz="1800" dirty="0"/>
                <a:t>”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de-DE" sz="1800" dirty="0"/>
                <a:t>“</a:t>
              </a:r>
              <a:r>
                <a:rPr lang="de-DE" sz="1800" dirty="0">
                  <a:highlight>
                    <a:srgbClr val="FFFF00"/>
                  </a:highlight>
                </a:rPr>
                <a:t>Yellow</a:t>
              </a:r>
              <a:r>
                <a:rPr lang="de-DE" sz="1800" dirty="0"/>
                <a:t>”</a:t>
              </a:r>
            </a:p>
            <a:p>
              <a:pPr>
                <a:lnSpc>
                  <a:spcPct val="150000"/>
                </a:lnSpc>
              </a:pPr>
              <a:endParaRPr lang="de-DE" sz="1800" dirty="0"/>
            </a:p>
          </p:txBody>
        </p:sp>
        <p:sp>
          <p:nvSpPr>
            <p:cNvPr id="15" name="Abgerundetes Rechteck 14">
              <a:extLst>
                <a:ext uri="{FF2B5EF4-FFF2-40B4-BE49-F238E27FC236}">
                  <a16:creationId xmlns:a16="http://schemas.microsoft.com/office/drawing/2014/main" id="{90B2CD10-F7B1-6849-675F-B9F97DDCE422}"/>
                </a:ext>
              </a:extLst>
            </p:cNvPr>
            <p:cNvSpPr/>
            <p:nvPr/>
          </p:nvSpPr>
          <p:spPr>
            <a:xfrm>
              <a:off x="7951952" y="1726355"/>
              <a:ext cx="3193323" cy="327672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  <a:alpha val="40258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E14F3756-7823-C8FC-A950-E96620BB377B}"/>
                </a:ext>
              </a:extLst>
            </p:cNvPr>
            <p:cNvSpPr txBox="1"/>
            <p:nvPr/>
          </p:nvSpPr>
          <p:spPr>
            <a:xfrm>
              <a:off x="7951952" y="2318012"/>
              <a:ext cx="3193323" cy="4668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de-DE" sz="1800" dirty="0" err="1"/>
                <a:t>Context</a:t>
              </a:r>
              <a:r>
                <a:rPr lang="de-DE" sz="1800" dirty="0"/>
                <a:t> Recall:</a:t>
              </a:r>
            </a:p>
          </p:txBody>
        </p: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90AABF10-5D30-437B-6F11-C5F77C78289C}"/>
                </a:ext>
              </a:extLst>
            </p:cNvPr>
            <p:cNvSpPr txBox="1"/>
            <p:nvPr/>
          </p:nvSpPr>
          <p:spPr>
            <a:xfrm>
              <a:off x="7951952" y="2784871"/>
              <a:ext cx="3193323" cy="21184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de-DE" sz="1800" dirty="0"/>
                <a:t>Retrieved: 2 relevant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de-DE" sz="1800" dirty="0"/>
                <a:t>Total available: 3</a:t>
              </a:r>
            </a:p>
            <a:p>
              <a:pPr>
                <a:lnSpc>
                  <a:spcPct val="150000"/>
                </a:lnSpc>
              </a:pPr>
              <a:endParaRPr lang="de-DE" sz="1800" dirty="0"/>
            </a:p>
            <a:p>
              <a:pPr>
                <a:lnSpc>
                  <a:spcPct val="150000"/>
                </a:lnSpc>
              </a:pPr>
              <a:r>
                <a:rPr lang="de-DE" sz="1800" dirty="0" err="1"/>
                <a:t>Context</a:t>
              </a:r>
              <a:r>
                <a:rPr lang="de-DE" sz="1800" dirty="0"/>
                <a:t> Recall = </a:t>
              </a:r>
              <a:r>
                <a:rPr lang="de-DE" sz="1800" dirty="0">
                  <a:highlight>
                    <a:srgbClr val="FFFF00"/>
                  </a:highlight>
                </a:rPr>
                <a:t>2</a:t>
              </a:r>
              <a:r>
                <a:rPr lang="de-DE" sz="1800" dirty="0"/>
                <a:t>/</a:t>
              </a:r>
              <a:r>
                <a:rPr lang="de-DE" sz="1800" dirty="0">
                  <a:highlight>
                    <a:srgbClr val="00FFFF"/>
                  </a:highlight>
                </a:rPr>
                <a:t>3</a:t>
              </a:r>
              <a:r>
                <a:rPr lang="de-DE" sz="1800" dirty="0"/>
                <a:t> = 0.67</a:t>
              </a:r>
            </a:p>
            <a:p>
              <a:pPr>
                <a:lnSpc>
                  <a:spcPct val="150000"/>
                </a:lnSpc>
              </a:pPr>
              <a:endParaRPr lang="de-DE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269007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BF6A0B9-AE1B-72CF-E3B4-65423382F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0BC2E3EB-D4D6-225D-EC9D-D24929CA9EC9}"/>
              </a:ext>
            </a:extLst>
          </p:cNvPr>
          <p:cNvSpPr/>
          <p:nvPr/>
        </p:nvSpPr>
        <p:spPr>
          <a:xfrm>
            <a:off x="-69850" y="4416211"/>
            <a:ext cx="2528983" cy="2528983"/>
          </a:xfrm>
          <a:custGeom>
            <a:avLst/>
            <a:gdLst/>
            <a:ahLst/>
            <a:cxnLst/>
            <a:rect l="l" t="t" r="r" b="b"/>
            <a:pathLst>
              <a:path w="5057966" h="5057966">
                <a:moveTo>
                  <a:pt x="0" y="0"/>
                </a:moveTo>
                <a:lnTo>
                  <a:pt x="5057966" y="0"/>
                </a:lnTo>
                <a:lnTo>
                  <a:pt x="5057966" y="5057966"/>
                </a:lnTo>
                <a:lnTo>
                  <a:pt x="0" y="5057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id="{BC3CACA5-52B4-2D37-7319-2D276F57A7F5}"/>
              </a:ext>
            </a:extLst>
          </p:cNvPr>
          <p:cNvSpPr txBox="1"/>
          <p:nvPr/>
        </p:nvSpPr>
        <p:spPr>
          <a:xfrm>
            <a:off x="438150" y="525315"/>
            <a:ext cx="9401175" cy="367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27"/>
              </a:lnSpc>
            </a:pPr>
            <a:r>
              <a:rPr lang="en-US" sz="3200" b="1" dirty="0">
                <a:solidFill>
                  <a:schemeClr val="tx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Real-world </a:t>
            </a:r>
            <a:r>
              <a:rPr lang="en-US" sz="3200" b="1" dirty="0" err="1">
                <a:solidFill>
                  <a:schemeClr val="tx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example</a:t>
            </a:r>
            <a:r>
              <a:rPr lang="en-US" sz="3200" b="1" dirty="0">
                <a:solidFill>
                  <a:schemeClr val="tx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51A6625-8381-8BC1-9947-20AA96C804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407" y="1371893"/>
            <a:ext cx="3515300" cy="49607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23DC16-974B-2EE3-FCB6-814818BF397F}"/>
              </a:ext>
            </a:extLst>
          </p:cNvPr>
          <p:cNvSpPr txBox="1"/>
          <p:nvPr/>
        </p:nvSpPr>
        <p:spPr>
          <a:xfrm>
            <a:off x="2310348" y="978708"/>
            <a:ext cx="75713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IT-Grundschutz-Kompendium (858 pages) of the German Federal Office for Information Security (BSI)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BBCA9E6-6926-AC14-B079-3F584EB07D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6175" y="1371893"/>
            <a:ext cx="3581374" cy="499673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2C3EB21-0848-06B6-27ED-69C4BCE0E1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9778" y="1392158"/>
            <a:ext cx="3552325" cy="495620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94621DE-E580-35C6-AFA2-4B39DD10A000}"/>
              </a:ext>
            </a:extLst>
          </p:cNvPr>
          <p:cNvSpPr txBox="1"/>
          <p:nvPr/>
        </p:nvSpPr>
        <p:spPr>
          <a:xfrm>
            <a:off x="11132261" y="5947158"/>
            <a:ext cx="312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…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022B88-4CA1-622D-8F33-073517F18691}"/>
              </a:ext>
            </a:extLst>
          </p:cNvPr>
          <p:cNvSpPr txBox="1"/>
          <p:nvPr/>
        </p:nvSpPr>
        <p:spPr>
          <a:xfrm>
            <a:off x="468456" y="6515829"/>
            <a:ext cx="107436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1"/>
                </a:solidFill>
              </a:rPr>
              <a:t>https://</a:t>
            </a:r>
            <a:r>
              <a:rPr lang="en-US" sz="1000" dirty="0" err="1">
                <a:solidFill>
                  <a:schemeClr val="tx1"/>
                </a:solidFill>
              </a:rPr>
              <a:t>www.bsi.bund.de</a:t>
            </a:r>
            <a:r>
              <a:rPr lang="en-US" sz="1000" dirty="0">
                <a:solidFill>
                  <a:schemeClr val="tx1"/>
                </a:solidFill>
              </a:rPr>
              <a:t>/DE/</a:t>
            </a:r>
            <a:r>
              <a:rPr lang="en-US" sz="1000" dirty="0" err="1">
                <a:solidFill>
                  <a:schemeClr val="tx1"/>
                </a:solidFill>
              </a:rPr>
              <a:t>Themen</a:t>
            </a:r>
            <a:r>
              <a:rPr lang="en-US" sz="1000" dirty="0">
                <a:solidFill>
                  <a:schemeClr val="tx1"/>
                </a:solidFill>
              </a:rPr>
              <a:t>/</a:t>
            </a:r>
            <a:r>
              <a:rPr lang="en-US" sz="1000" dirty="0" err="1">
                <a:solidFill>
                  <a:schemeClr val="tx1"/>
                </a:solidFill>
              </a:rPr>
              <a:t>Unternehmen</a:t>
            </a:r>
            <a:r>
              <a:rPr lang="en-US" sz="1000" dirty="0">
                <a:solidFill>
                  <a:schemeClr val="tx1"/>
                </a:solidFill>
              </a:rPr>
              <a:t>-und-</a:t>
            </a:r>
            <a:r>
              <a:rPr lang="en-US" sz="1000" dirty="0" err="1">
                <a:solidFill>
                  <a:schemeClr val="tx1"/>
                </a:solidFill>
              </a:rPr>
              <a:t>Organisationen</a:t>
            </a:r>
            <a:r>
              <a:rPr lang="en-US" sz="1000" dirty="0">
                <a:solidFill>
                  <a:schemeClr val="tx1"/>
                </a:solidFill>
              </a:rPr>
              <a:t>/Standards-und-</a:t>
            </a:r>
            <a:r>
              <a:rPr lang="en-US" sz="1000" dirty="0" err="1">
                <a:solidFill>
                  <a:schemeClr val="tx1"/>
                </a:solidFill>
              </a:rPr>
              <a:t>Zertifizierung</a:t>
            </a:r>
            <a:r>
              <a:rPr lang="en-US" sz="1000" dirty="0">
                <a:solidFill>
                  <a:schemeClr val="tx1"/>
                </a:solidFill>
              </a:rPr>
              <a:t>/IT-</a:t>
            </a:r>
            <a:r>
              <a:rPr lang="en-US" sz="1000" dirty="0" err="1">
                <a:solidFill>
                  <a:schemeClr val="tx1"/>
                </a:solidFill>
              </a:rPr>
              <a:t>Grundschutz</a:t>
            </a:r>
            <a:r>
              <a:rPr lang="en-US" sz="1000" dirty="0">
                <a:solidFill>
                  <a:schemeClr val="tx1"/>
                </a:solidFill>
              </a:rPr>
              <a:t>/IT-Grundschutz-Kompendium/it-</a:t>
            </a:r>
            <a:r>
              <a:rPr lang="en-US" sz="1000" dirty="0" err="1">
                <a:solidFill>
                  <a:schemeClr val="tx1"/>
                </a:solidFill>
              </a:rPr>
              <a:t>grundschutz</a:t>
            </a:r>
            <a:r>
              <a:rPr lang="en-US" sz="1000" dirty="0">
                <a:solidFill>
                  <a:schemeClr val="tx1"/>
                </a:solidFill>
              </a:rPr>
              <a:t>-</a:t>
            </a:r>
            <a:r>
              <a:rPr lang="en-US" sz="1000" dirty="0" err="1">
                <a:solidFill>
                  <a:schemeClr val="tx1"/>
                </a:solidFill>
              </a:rPr>
              <a:t>kompendium_node.html</a:t>
            </a:r>
            <a:endParaRPr 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9842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D0B09-2197-B988-6E67-E7B2F7753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7093628-0B30-739B-291C-F9C894C8BF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smtClean="0"/>
              <a:pPr/>
              <a:t>28</a:t>
            </a:fld>
            <a:endParaRPr lang="de-D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57CE4FE-6845-8C0B-A3C9-7CCC6B6B7F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94253" y="1027253"/>
            <a:ext cx="4803494" cy="48034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1B85832-B760-542F-C089-B52D1B8F97FE}"/>
              </a:ext>
            </a:extLst>
          </p:cNvPr>
          <p:cNvSpPr txBox="1"/>
          <p:nvPr/>
        </p:nvSpPr>
        <p:spPr>
          <a:xfrm>
            <a:off x="5253461" y="5676858"/>
            <a:ext cx="16850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Notebook 02 &amp; 03</a:t>
            </a:r>
          </a:p>
        </p:txBody>
      </p:sp>
    </p:spTree>
    <p:extLst>
      <p:ext uri="{BB962C8B-B14F-4D97-AF65-F5344CB8AC3E}">
        <p14:creationId xmlns:p14="http://schemas.microsoft.com/office/powerpoint/2010/main" val="4233155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9B2379-8B9A-1DA8-FCBE-2DB2E84CAE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smtClean="0"/>
              <a:pPr/>
              <a:t>29</a:t>
            </a:fld>
            <a:endParaRPr lang="de-DE" dirty="0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6" name="Add-in 5">
                <a:extLst>
                  <a:ext uri="{FF2B5EF4-FFF2-40B4-BE49-F238E27FC236}">
                    <a16:creationId xmlns:a16="http://schemas.microsoft.com/office/drawing/2014/main" id="{E1B6E1D2-B58B-F7BC-3B10-738B9AA8B7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8115771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6" name="Add-in 5">
                <a:extLst>
                  <a:ext uri="{FF2B5EF4-FFF2-40B4-BE49-F238E27FC236}">
                    <a16:creationId xmlns:a16="http://schemas.microsoft.com/office/drawing/2014/main" id="{E1B6E1D2-B58B-F7BC-3B10-738B9AA8B71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397190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9B2379-8B9A-1DA8-FCBE-2DB2E84CAE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smtClean="0"/>
              <a:pPr/>
              <a:t>30</a:t>
            </a:fld>
            <a:endParaRPr lang="de-DE" dirty="0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6" name="Add-in 5">
                <a:extLst>
                  <a:ext uri="{FF2B5EF4-FFF2-40B4-BE49-F238E27FC236}">
                    <a16:creationId xmlns:a16="http://schemas.microsoft.com/office/drawing/2014/main" id="{E1B6E1D2-B58B-F7BC-3B10-738B9AA8B7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2135372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6" name="Add-in 5">
                <a:extLst>
                  <a:ext uri="{FF2B5EF4-FFF2-40B4-BE49-F238E27FC236}">
                    <a16:creationId xmlns:a16="http://schemas.microsoft.com/office/drawing/2014/main" id="{E1B6E1D2-B58B-F7BC-3B10-738B9AA8B71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706975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9B2379-8B9A-1DA8-FCBE-2DB2E84CAE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smtClean="0"/>
              <a:pPr/>
              <a:t>31</a:t>
            </a:fld>
            <a:endParaRPr lang="de-DE" dirty="0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6" name="Add-in 5">
                <a:extLst>
                  <a:ext uri="{FF2B5EF4-FFF2-40B4-BE49-F238E27FC236}">
                    <a16:creationId xmlns:a16="http://schemas.microsoft.com/office/drawing/2014/main" id="{E1B6E1D2-B58B-F7BC-3B10-738B9AA8B7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7202172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6" name="Add-in 5">
                <a:extLst>
                  <a:ext uri="{FF2B5EF4-FFF2-40B4-BE49-F238E27FC236}">
                    <a16:creationId xmlns:a16="http://schemas.microsoft.com/office/drawing/2014/main" id="{E1B6E1D2-B58B-F7BC-3B10-738B9AA8B71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206928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CAF9C-54B1-3EBE-AAF4-1838A22B8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claim?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CF991-2327-22F8-53E3-0460865386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32</a:t>
            </a:fld>
            <a:endParaRPr lang="de-DE" dirty="0"/>
          </a:p>
        </p:txBody>
      </p:sp>
      <p:sp>
        <p:nvSpPr>
          <p:cNvPr id="5" name="Claim label 1"/>
          <p:cNvSpPr txBox="1"/>
          <p:nvPr/>
        </p:nvSpPr>
        <p:spPr>
          <a:xfrm>
            <a:off x="1014984" y="1783080"/>
            <a:ext cx="25603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>
                <a:solidFill>
                  <a:srgbClr val="5A6065"/>
                </a:solidFill>
              </a:rPr>
              <a:t>Everyday, whole</a:t>
            </a:r>
          </a:p>
        </p:txBody>
      </p:sp>
      <p:sp>
        <p:nvSpPr>
          <p:cNvPr id="6" name="Claim definition 1"/>
          <p:cNvSpPr txBox="1"/>
          <p:nvPr/>
        </p:nvSpPr>
        <p:spPr>
          <a:xfrm>
            <a:off x="3758184" y="1783080"/>
            <a:ext cx="7772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>
                <a:solidFill>
                  <a:srgbClr val="212427"/>
                </a:solidFill>
              </a:rPr>
              <a:t>A claim is a sentence that states something.</a:t>
            </a:r>
          </a:p>
        </p:txBody>
      </p:sp>
      <p:sp>
        <p:nvSpPr>
          <p:cNvPr id="7" name="Claim label 2"/>
          <p:cNvSpPr txBox="1"/>
          <p:nvPr/>
        </p:nvSpPr>
        <p:spPr>
          <a:xfrm>
            <a:off x="1014984" y="2697480"/>
            <a:ext cx="25603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>
                <a:solidFill>
                  <a:srgbClr val="5A6065"/>
                </a:solidFill>
              </a:rPr>
              <a:t>Everyday, granular</a:t>
            </a:r>
          </a:p>
        </p:txBody>
      </p:sp>
      <p:sp>
        <p:nvSpPr>
          <p:cNvPr id="8" name="Claim definition 2"/>
          <p:cNvSpPr txBox="1"/>
          <p:nvPr/>
        </p:nvSpPr>
        <p:spPr>
          <a:xfrm>
            <a:off x="3758184" y="2697480"/>
            <a:ext cx="7772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>
                <a:solidFill>
                  <a:srgbClr val="212427"/>
                </a:solidFill>
              </a:rPr>
              <a:t>Every clause that states something is a claim: main clause and subordinate clause count separately.</a:t>
            </a:r>
          </a:p>
        </p:txBody>
      </p:sp>
      <p:cxnSp>
        <p:nvCxnSpPr>
          <p:cNvPr id="9" name="Claim rule 1"/>
          <p:cNvCxnSpPr/>
          <p:nvPr/>
        </p:nvCxnSpPr>
        <p:spPr>
          <a:xfrm>
            <a:off x="1014984" y="2697480"/>
            <a:ext cx="10515600" cy="0"/>
          </a:xfrm>
          <a:prstGeom prst="line">
            <a:avLst/>
          </a:prstGeom>
          <a:ln w="9525">
            <a:solidFill>
              <a:srgbClr val="D6D7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laim label 3"/>
          <p:cNvSpPr txBox="1"/>
          <p:nvPr/>
        </p:nvSpPr>
        <p:spPr>
          <a:xfrm>
            <a:off x="1014984" y="3611880"/>
            <a:ext cx="25603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>
                <a:solidFill>
                  <a:srgbClr val="5A6065"/>
                </a:solidFill>
              </a:rPr>
              <a:t>Logic</a:t>
            </a:r>
          </a:p>
        </p:txBody>
      </p:sp>
      <p:sp>
        <p:nvSpPr>
          <p:cNvPr id="11" name="Claim definition 3"/>
          <p:cNvSpPr txBox="1"/>
          <p:nvPr/>
        </p:nvSpPr>
        <p:spPr>
          <a:xfrm>
            <a:off x="3758184" y="3611880"/>
            <a:ext cx="7772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>
                <a:solidFill>
                  <a:srgbClr val="212427"/>
                </a:solidFill>
              </a:rPr>
              <a:t>A claim is something that can be true or false on its own. Every element of a list counts for every action it belongs to.</a:t>
            </a:r>
          </a:p>
        </p:txBody>
      </p:sp>
      <p:cxnSp>
        <p:nvCxnSpPr>
          <p:cNvPr id="12" name="Claim rule 2"/>
          <p:cNvCxnSpPr/>
          <p:nvPr/>
        </p:nvCxnSpPr>
        <p:spPr>
          <a:xfrm>
            <a:off x="1014984" y="3611880"/>
            <a:ext cx="10515600" cy="0"/>
          </a:xfrm>
          <a:prstGeom prst="line">
            <a:avLst/>
          </a:prstGeom>
          <a:ln w="9525">
            <a:solidFill>
              <a:srgbClr val="D6D7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laim label 4"/>
          <p:cNvSpPr txBox="1"/>
          <p:nvPr/>
        </p:nvSpPr>
        <p:spPr>
          <a:xfrm>
            <a:off x="1014984" y="4526280"/>
            <a:ext cx="25603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>
                <a:solidFill>
                  <a:srgbClr val="5A6065"/>
                </a:solidFill>
              </a:rPr>
              <a:t>Working definition</a:t>
            </a:r>
          </a:p>
        </p:txBody>
      </p:sp>
      <p:sp>
        <p:nvSpPr>
          <p:cNvPr id="14" name="Claim definition 4"/>
          <p:cNvSpPr txBox="1"/>
          <p:nvPr/>
        </p:nvSpPr>
        <p:spPr>
          <a:xfrm>
            <a:off x="3758184" y="4526280"/>
            <a:ext cx="7772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>
                <a:solidFill>
                  <a:srgbClr val="212427"/>
                </a:solidFill>
              </a:rPr>
              <a:t>A claim is the smallest part of the reference answer that can be checked at one place in the Kompendium.</a:t>
            </a:r>
          </a:p>
        </p:txBody>
      </p:sp>
      <p:cxnSp>
        <p:nvCxnSpPr>
          <p:cNvPr id="15" name="Claim rule 3"/>
          <p:cNvCxnSpPr/>
          <p:nvPr/>
        </p:nvCxnSpPr>
        <p:spPr>
          <a:xfrm>
            <a:off x="1014984" y="4526280"/>
            <a:ext cx="10515600" cy="0"/>
          </a:xfrm>
          <a:prstGeom prst="line">
            <a:avLst/>
          </a:prstGeom>
          <a:ln w="9525">
            <a:solidFill>
              <a:srgbClr val="D6D7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3960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9B2379-8B9A-1DA8-FCBE-2DB2E84CAE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smtClean="0"/>
              <a:pPr/>
              <a:t>33</a:t>
            </a:fld>
            <a:endParaRPr lang="de-DE" dirty="0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6" name="Add-in 5">
                <a:extLst>
                  <a:ext uri="{FF2B5EF4-FFF2-40B4-BE49-F238E27FC236}">
                    <a16:creationId xmlns:a16="http://schemas.microsoft.com/office/drawing/2014/main" id="{E1B6E1D2-B58B-F7BC-3B10-738B9AA8B7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3023682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6" name="Add-in 5">
                <a:extLst>
                  <a:ext uri="{FF2B5EF4-FFF2-40B4-BE49-F238E27FC236}">
                    <a16:creationId xmlns:a16="http://schemas.microsoft.com/office/drawing/2014/main" id="{E1B6E1D2-B58B-F7BC-3B10-738B9AA8B71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322444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9B2379-8B9A-1DA8-FCBE-2DB2E84CAE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smtClean="0"/>
              <a:pPr/>
              <a:t>34</a:t>
            </a:fld>
            <a:endParaRPr lang="de-DE" dirty="0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6" name="Add-in 5">
                <a:extLst>
                  <a:ext uri="{FF2B5EF4-FFF2-40B4-BE49-F238E27FC236}">
                    <a16:creationId xmlns:a16="http://schemas.microsoft.com/office/drawing/2014/main" id="{E1B6E1D2-B58B-F7BC-3B10-738B9AA8B7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3228079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6" name="Add-in 5">
                <a:extLst>
                  <a:ext uri="{FF2B5EF4-FFF2-40B4-BE49-F238E27FC236}">
                    <a16:creationId xmlns:a16="http://schemas.microsoft.com/office/drawing/2014/main" id="{E1B6E1D2-B58B-F7BC-3B10-738B9AA8B71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676998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9B2379-8B9A-1DA8-FCBE-2DB2E84CAE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smtClean="0"/>
              <a:pPr/>
              <a:t>35</a:t>
            </a:fld>
            <a:endParaRPr lang="de-DE" dirty="0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6" name="Add-in 5">
                <a:extLst>
                  <a:ext uri="{FF2B5EF4-FFF2-40B4-BE49-F238E27FC236}">
                    <a16:creationId xmlns:a16="http://schemas.microsoft.com/office/drawing/2014/main" id="{E1B6E1D2-B58B-F7BC-3B10-738B9AA8B7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41162032"/>
                  </p:ext>
                </p:extLst>
              </p:nvPr>
            </p:nvGraphicFramePr>
            <p:xfrm>
              <a:off x="0" y="0"/>
              <a:ext cx="12192000" cy="6815253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6" name="Add-in 5">
                <a:extLst>
                  <a:ext uri="{FF2B5EF4-FFF2-40B4-BE49-F238E27FC236}">
                    <a16:creationId xmlns:a16="http://schemas.microsoft.com/office/drawing/2014/main" id="{E1B6E1D2-B58B-F7BC-3B10-738B9AA8B71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12192000" cy="6815253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605942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82D72-B91D-25EA-5408-61E8AF23A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041496F3-F722-D386-2826-67A312E9A189}"/>
              </a:ext>
            </a:extLst>
          </p:cNvPr>
          <p:cNvSpPr/>
          <p:nvPr/>
        </p:nvSpPr>
        <p:spPr>
          <a:xfrm>
            <a:off x="-69850" y="4416211"/>
            <a:ext cx="2528983" cy="2528983"/>
          </a:xfrm>
          <a:custGeom>
            <a:avLst/>
            <a:gdLst/>
            <a:ahLst/>
            <a:cxnLst/>
            <a:rect l="l" t="t" r="r" b="b"/>
            <a:pathLst>
              <a:path w="5057966" h="5057966">
                <a:moveTo>
                  <a:pt x="0" y="0"/>
                </a:moveTo>
                <a:lnTo>
                  <a:pt x="5057966" y="0"/>
                </a:lnTo>
                <a:lnTo>
                  <a:pt x="5057966" y="5057966"/>
                </a:lnTo>
                <a:lnTo>
                  <a:pt x="0" y="5057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id="{833BE6AA-78D0-3645-B5A0-7B4E74970180}"/>
              </a:ext>
            </a:extLst>
          </p:cNvPr>
          <p:cNvSpPr txBox="1"/>
          <p:nvPr/>
        </p:nvSpPr>
        <p:spPr>
          <a:xfrm>
            <a:off x="438150" y="525315"/>
            <a:ext cx="9401175" cy="3680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27"/>
              </a:lnSpc>
            </a:pPr>
            <a:r>
              <a:rPr lang="en-US" sz="3200" b="1" dirty="0">
                <a:solidFill>
                  <a:schemeClr val="tx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Experiment 1 - Change Embedding Model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F7501FF-C1D6-37AC-77CF-F43D214AB7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386" y="1110901"/>
            <a:ext cx="11742557" cy="5586628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E309128-9891-8008-3F76-2D271FD496E9}"/>
              </a:ext>
            </a:extLst>
          </p:cNvPr>
          <p:cNvSpPr/>
          <p:nvPr/>
        </p:nvSpPr>
        <p:spPr>
          <a:xfrm>
            <a:off x="965200" y="1236133"/>
            <a:ext cx="1219200" cy="186267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18FF8E9-F0FF-4556-2631-6AA64E89A8D1}"/>
              </a:ext>
            </a:extLst>
          </p:cNvPr>
          <p:cNvSpPr/>
          <p:nvPr/>
        </p:nvSpPr>
        <p:spPr>
          <a:xfrm>
            <a:off x="6925733" y="1236133"/>
            <a:ext cx="1219200" cy="186267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397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8B297-034A-2C2E-88BB-480BC5082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C9481F88-DB7A-5E19-CC1A-58AA8E3AD5F7}"/>
              </a:ext>
            </a:extLst>
          </p:cNvPr>
          <p:cNvSpPr/>
          <p:nvPr/>
        </p:nvSpPr>
        <p:spPr>
          <a:xfrm>
            <a:off x="-69850" y="4416211"/>
            <a:ext cx="2528983" cy="2528983"/>
          </a:xfrm>
          <a:custGeom>
            <a:avLst/>
            <a:gdLst/>
            <a:ahLst/>
            <a:cxnLst/>
            <a:rect l="l" t="t" r="r" b="b"/>
            <a:pathLst>
              <a:path w="5057966" h="5057966">
                <a:moveTo>
                  <a:pt x="0" y="0"/>
                </a:moveTo>
                <a:lnTo>
                  <a:pt x="5057966" y="0"/>
                </a:lnTo>
                <a:lnTo>
                  <a:pt x="5057966" y="5057966"/>
                </a:lnTo>
                <a:lnTo>
                  <a:pt x="0" y="5057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id="{30390CA7-88A9-EF7A-FECA-90FB0C582050}"/>
              </a:ext>
            </a:extLst>
          </p:cNvPr>
          <p:cNvSpPr txBox="1"/>
          <p:nvPr/>
        </p:nvSpPr>
        <p:spPr>
          <a:xfrm>
            <a:off x="438150" y="525315"/>
            <a:ext cx="9401175" cy="3680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27"/>
              </a:lnSpc>
            </a:pPr>
            <a:r>
              <a:rPr lang="en-US" sz="3200" b="1" dirty="0">
                <a:solidFill>
                  <a:schemeClr val="tx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Experiment 2 - Change Chunking Method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699573-2204-BF4D-3B96-947568FD74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202" y="1104166"/>
            <a:ext cx="11833076" cy="5635698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5DC9D0C-1BBF-389C-E3C6-128A97CEB71B}"/>
              </a:ext>
            </a:extLst>
          </p:cNvPr>
          <p:cNvSpPr/>
          <p:nvPr/>
        </p:nvSpPr>
        <p:spPr>
          <a:xfrm>
            <a:off x="2175933" y="1236132"/>
            <a:ext cx="1464733" cy="194735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BC38BE9-2055-499B-4BF7-90ACB37D6536}"/>
              </a:ext>
            </a:extLst>
          </p:cNvPr>
          <p:cNvSpPr/>
          <p:nvPr/>
        </p:nvSpPr>
        <p:spPr>
          <a:xfrm>
            <a:off x="8280399" y="1236132"/>
            <a:ext cx="1219201" cy="194735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919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F4996-AD6B-0CFD-B665-5E53D9CBC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52764BE1-2772-3C7F-21A3-0FEC8948F8C4}"/>
              </a:ext>
            </a:extLst>
          </p:cNvPr>
          <p:cNvSpPr/>
          <p:nvPr/>
        </p:nvSpPr>
        <p:spPr>
          <a:xfrm>
            <a:off x="-69850" y="4416211"/>
            <a:ext cx="2528983" cy="2528983"/>
          </a:xfrm>
          <a:custGeom>
            <a:avLst/>
            <a:gdLst/>
            <a:ahLst/>
            <a:cxnLst/>
            <a:rect l="l" t="t" r="r" b="b"/>
            <a:pathLst>
              <a:path w="5057966" h="5057966">
                <a:moveTo>
                  <a:pt x="0" y="0"/>
                </a:moveTo>
                <a:lnTo>
                  <a:pt x="5057966" y="0"/>
                </a:lnTo>
                <a:lnTo>
                  <a:pt x="5057966" y="5057966"/>
                </a:lnTo>
                <a:lnTo>
                  <a:pt x="0" y="5057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id="{EAA3EC8A-A8F4-A483-0A75-2284D7DE1D6A}"/>
              </a:ext>
            </a:extLst>
          </p:cNvPr>
          <p:cNvSpPr txBox="1"/>
          <p:nvPr/>
        </p:nvSpPr>
        <p:spPr>
          <a:xfrm>
            <a:off x="438150" y="525315"/>
            <a:ext cx="9401175" cy="3680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27"/>
              </a:lnSpc>
            </a:pPr>
            <a:r>
              <a:rPr lang="en-US" sz="3200" b="1" dirty="0">
                <a:solidFill>
                  <a:schemeClr val="tx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Experiment 3 - Change Dataset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4B3066-AA73-B565-C697-8595342995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950" y="1088785"/>
            <a:ext cx="11710917" cy="5571575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37EEA6F-2F11-CE01-4AF1-766ABD4022E1}"/>
              </a:ext>
            </a:extLst>
          </p:cNvPr>
          <p:cNvSpPr/>
          <p:nvPr/>
        </p:nvSpPr>
        <p:spPr>
          <a:xfrm>
            <a:off x="3640667" y="1244600"/>
            <a:ext cx="778932" cy="17780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86C1E4F-4702-7721-0C65-C07F018E99E1}"/>
              </a:ext>
            </a:extLst>
          </p:cNvPr>
          <p:cNvSpPr/>
          <p:nvPr/>
        </p:nvSpPr>
        <p:spPr>
          <a:xfrm>
            <a:off x="9592733" y="1244600"/>
            <a:ext cx="778932" cy="17780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502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E6721-55BA-682A-975F-4BE1EA1A7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750A7BA7-F31C-3CF5-9D96-61B2D69EB9C7}"/>
              </a:ext>
            </a:extLst>
          </p:cNvPr>
          <p:cNvSpPr/>
          <p:nvPr/>
        </p:nvSpPr>
        <p:spPr>
          <a:xfrm>
            <a:off x="-69850" y="4416211"/>
            <a:ext cx="2528983" cy="2528983"/>
          </a:xfrm>
          <a:custGeom>
            <a:avLst/>
            <a:gdLst/>
            <a:ahLst/>
            <a:cxnLst/>
            <a:rect l="l" t="t" r="r" b="b"/>
            <a:pathLst>
              <a:path w="5057966" h="5057966">
                <a:moveTo>
                  <a:pt x="0" y="0"/>
                </a:moveTo>
                <a:lnTo>
                  <a:pt x="5057966" y="0"/>
                </a:lnTo>
                <a:lnTo>
                  <a:pt x="5057966" y="5057966"/>
                </a:lnTo>
                <a:lnTo>
                  <a:pt x="0" y="5057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id="{F6B195DF-7318-E351-4CB9-48FD370F77AF}"/>
              </a:ext>
            </a:extLst>
          </p:cNvPr>
          <p:cNvSpPr txBox="1"/>
          <p:nvPr/>
        </p:nvSpPr>
        <p:spPr>
          <a:xfrm>
            <a:off x="438150" y="525315"/>
            <a:ext cx="9401175" cy="3680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27"/>
              </a:lnSpc>
            </a:pPr>
            <a:r>
              <a:rPr lang="en-US" sz="3200" b="1" dirty="0">
                <a:solidFill>
                  <a:schemeClr val="tx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Experiment 4 - Change Evaluator LLM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08FBDE-0172-E5F4-D83E-E9FB38835E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771" y="1103326"/>
            <a:ext cx="11756863" cy="5611371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B158060-6B34-F35D-7CD3-BE2A0FDE9298}"/>
              </a:ext>
            </a:extLst>
          </p:cNvPr>
          <p:cNvSpPr/>
          <p:nvPr/>
        </p:nvSpPr>
        <p:spPr>
          <a:xfrm>
            <a:off x="4359805" y="1261533"/>
            <a:ext cx="1211262" cy="15240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5CBC665-EA30-36DA-81E0-427712934357}"/>
              </a:ext>
            </a:extLst>
          </p:cNvPr>
          <p:cNvSpPr/>
          <p:nvPr/>
        </p:nvSpPr>
        <p:spPr>
          <a:xfrm>
            <a:off x="10286472" y="1261533"/>
            <a:ext cx="1211262" cy="15240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97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245DF-8CCA-111C-90AD-B57E80674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FB945D4D-74AD-DC40-8B30-5EEA02A12578}"/>
              </a:ext>
            </a:extLst>
          </p:cNvPr>
          <p:cNvSpPr/>
          <p:nvPr/>
        </p:nvSpPr>
        <p:spPr>
          <a:xfrm>
            <a:off x="-69850" y="4416211"/>
            <a:ext cx="2528983" cy="2528983"/>
          </a:xfrm>
          <a:custGeom>
            <a:avLst/>
            <a:gdLst/>
            <a:ahLst/>
            <a:cxnLst/>
            <a:rect l="l" t="t" r="r" b="b"/>
            <a:pathLst>
              <a:path w="5057966" h="5057966">
                <a:moveTo>
                  <a:pt x="0" y="0"/>
                </a:moveTo>
                <a:lnTo>
                  <a:pt x="5057966" y="0"/>
                </a:lnTo>
                <a:lnTo>
                  <a:pt x="5057966" y="5057966"/>
                </a:lnTo>
                <a:lnTo>
                  <a:pt x="0" y="5057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id="{8E5B2DA7-4552-6524-2BD5-76231E7C35BF}"/>
              </a:ext>
            </a:extLst>
          </p:cNvPr>
          <p:cNvSpPr txBox="1"/>
          <p:nvPr/>
        </p:nvSpPr>
        <p:spPr>
          <a:xfrm>
            <a:off x="438150" y="525315"/>
            <a:ext cx="9401175" cy="3680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27"/>
              </a:lnSpc>
            </a:pPr>
            <a:r>
              <a:rPr lang="en-US" sz="3200" b="1" dirty="0">
                <a:solidFill>
                  <a:schemeClr val="tx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Experiments – Takeaway message</a:t>
            </a:r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88F4CA25-11EC-943C-253C-F11FADF575F4}"/>
              </a:ext>
            </a:extLst>
          </p:cNvPr>
          <p:cNvSpPr/>
          <p:nvPr/>
        </p:nvSpPr>
        <p:spPr>
          <a:xfrm>
            <a:off x="12577" y="5637019"/>
            <a:ext cx="1600841" cy="1135671"/>
          </a:xfrm>
          <a:custGeom>
            <a:avLst/>
            <a:gdLst/>
            <a:ahLst/>
            <a:cxnLst/>
            <a:rect l="l" t="t" r="r" b="b"/>
            <a:pathLst>
              <a:path w="3201682" h="2271341">
                <a:moveTo>
                  <a:pt x="0" y="0"/>
                </a:moveTo>
                <a:lnTo>
                  <a:pt x="3201682" y="0"/>
                </a:lnTo>
                <a:lnTo>
                  <a:pt x="3201682" y="2271341"/>
                </a:lnTo>
                <a:lnTo>
                  <a:pt x="0" y="22713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EE0546-3616-743C-67BB-D9007670E254}"/>
              </a:ext>
            </a:extLst>
          </p:cNvPr>
          <p:cNvSpPr txBox="1"/>
          <p:nvPr/>
        </p:nvSpPr>
        <p:spPr>
          <a:xfrm>
            <a:off x="863600" y="1422399"/>
            <a:ext cx="9787467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The </a:t>
            </a:r>
            <a:r>
              <a:rPr lang="en-US" b="1" dirty="0"/>
              <a:t>embedding model</a:t>
            </a:r>
            <a:r>
              <a:rPr lang="en-US" dirty="0"/>
              <a:t> has the </a:t>
            </a:r>
            <a:r>
              <a:rPr lang="en-US" dirty="0" err="1"/>
              <a:t>biggest</a:t>
            </a:r>
            <a:r>
              <a:rPr lang="en-US" dirty="0"/>
              <a:t> </a:t>
            </a:r>
            <a:r>
              <a:rPr lang="en-US" dirty="0" err="1"/>
              <a:t>impact</a:t>
            </a:r>
            <a:r>
              <a:rPr lang="en-US" dirty="0"/>
              <a:t> on the </a:t>
            </a:r>
            <a:r>
              <a:rPr lang="en-US" dirty="0" err="1"/>
              <a:t>quality</a:t>
            </a:r>
            <a:r>
              <a:rPr lang="en-US" dirty="0"/>
              <a:t> of </a:t>
            </a:r>
            <a:r>
              <a:rPr lang="en-US" dirty="0" err="1"/>
              <a:t>your</a:t>
            </a:r>
            <a:r>
              <a:rPr lang="en-US" dirty="0"/>
              <a:t> RAG system. </a:t>
            </a:r>
          </a:p>
          <a:p>
            <a:r>
              <a:rPr lang="en-US" dirty="0"/>
              <a:t>    Everything </a:t>
            </a:r>
            <a:r>
              <a:rPr lang="en-US" dirty="0" err="1"/>
              <a:t>else</a:t>
            </a:r>
            <a:r>
              <a:rPr lang="en-US" dirty="0"/>
              <a:t> (chunking, </a:t>
            </a:r>
            <a:r>
              <a:rPr lang="en-US" dirty="0" err="1"/>
              <a:t>generation</a:t>
            </a:r>
            <a:r>
              <a:rPr lang="en-US" dirty="0"/>
              <a:t>, evaluation) </a:t>
            </a:r>
            <a:r>
              <a:rPr lang="en-US" dirty="0" err="1"/>
              <a:t>builds</a:t>
            </a:r>
            <a:r>
              <a:rPr lang="en-US" dirty="0"/>
              <a:t> </a:t>
            </a:r>
            <a:r>
              <a:rPr lang="en-US" dirty="0" err="1"/>
              <a:t>on it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2. </a:t>
            </a:r>
            <a:r>
              <a:rPr lang="en-US" dirty="0" err="1"/>
              <a:t>Choose</a:t>
            </a:r>
            <a:r>
              <a:rPr lang="en-US" dirty="0"/>
              <a:t> </a:t>
            </a:r>
            <a:r>
              <a:rPr lang="en-US" b="1" dirty="0"/>
              <a:t>chunking method</a:t>
            </a:r>
            <a:r>
              <a:rPr lang="en-US" dirty="0"/>
              <a:t> and </a:t>
            </a:r>
            <a:r>
              <a:rPr lang="en-US" b="1" dirty="0"/>
              <a:t>TOP_K</a:t>
            </a:r>
            <a:r>
              <a:rPr lang="en-US" dirty="0"/>
              <a:t> </a:t>
            </a:r>
            <a:r>
              <a:rPr lang="en-US" dirty="0" err="1"/>
              <a:t>to fit</a:t>
            </a:r>
            <a:r>
              <a:rPr lang="en-US" dirty="0"/>
              <a:t> </a:t>
            </a:r>
            <a:r>
              <a:rPr lang="en-US" dirty="0" err="1"/>
              <a:t>your</a:t>
            </a:r>
            <a:r>
              <a:rPr lang="en-US" dirty="0"/>
              <a:t> </a:t>
            </a:r>
            <a:r>
              <a:rPr lang="en-US" dirty="0" err="1"/>
              <a:t>documents</a:t>
            </a:r>
            <a:r>
              <a:rPr lang="en-US" dirty="0"/>
              <a:t>. </a:t>
            </a:r>
          </a:p>
          <a:p>
            <a:r>
              <a:rPr lang="en-US" dirty="0"/>
              <a:t>    The TOP_K experiment </a:t>
            </a:r>
            <a:r>
              <a:rPr lang="en-US" dirty="0" err="1"/>
              <a:t>shows</a:t>
            </a:r>
            <a:r>
              <a:rPr lang="en-US" dirty="0"/>
              <a:t> where the </a:t>
            </a:r>
            <a:r>
              <a:rPr lang="en-US" dirty="0" err="1"/>
              <a:t>best</a:t>
            </a:r>
            <a:r>
              <a:rPr lang="en-US" dirty="0"/>
              <a:t> trade-off </a:t>
            </a:r>
            <a:r>
              <a:rPr lang="en-US" dirty="0" err="1"/>
              <a:t>between</a:t>
            </a:r>
            <a:r>
              <a:rPr lang="en-US" dirty="0"/>
              <a:t> precision and recall </a:t>
            </a:r>
            <a:r>
              <a:rPr lang="en-US" dirty="0" err="1"/>
              <a:t>lies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3. The </a:t>
            </a:r>
            <a:r>
              <a:rPr lang="en-US" b="1" dirty="0" err="1"/>
              <a:t>test dataset</a:t>
            </a:r>
            <a:r>
              <a:rPr lang="en-US" b="1" dirty="0"/>
              <a:t> </a:t>
            </a:r>
            <a:r>
              <a:rPr lang="en-US" dirty="0" err="1"/>
              <a:t>should</a:t>
            </a:r>
            <a:r>
              <a:rPr lang="en-US" dirty="0"/>
              <a:t> reflect the </a:t>
            </a:r>
            <a:r>
              <a:rPr lang="en-US" dirty="0" err="1"/>
              <a:t>desired</a:t>
            </a:r>
            <a:r>
              <a:rPr lang="en-US" dirty="0"/>
              <a:t> </a:t>
            </a:r>
            <a:r>
              <a:rPr lang="en-US" dirty="0" err="1"/>
              <a:t>behavior</a:t>
            </a:r>
            <a:r>
              <a:rPr lang="en-US" dirty="0"/>
              <a:t> of the RAG system. </a:t>
            </a:r>
          </a:p>
          <a:p>
            <a:r>
              <a:rPr lang="en-US" dirty="0"/>
              <a:t>    In practice, this </a:t>
            </a:r>
            <a:r>
              <a:rPr lang="en-US" dirty="0" err="1"/>
              <a:t>is</a:t>
            </a:r>
            <a:r>
              <a:rPr lang="en-US" dirty="0"/>
              <a:t> the </a:t>
            </a:r>
            <a:r>
              <a:rPr lang="en-US" dirty="0" err="1"/>
              <a:t>biggest</a:t>
            </a:r>
            <a:r>
              <a:rPr lang="en-US" dirty="0"/>
              <a:t> </a:t>
            </a:r>
            <a:r>
              <a:rPr lang="en-US" dirty="0" err="1"/>
              <a:t>effort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4. The </a:t>
            </a:r>
            <a:r>
              <a:rPr lang="en-US" dirty="0" err="1"/>
              <a:t>quality</a:t>
            </a:r>
            <a:r>
              <a:rPr lang="en-US" dirty="0"/>
              <a:t> of the </a:t>
            </a:r>
            <a:r>
              <a:rPr lang="en-US" b="1" dirty="0"/>
              <a:t>evaluator LLM</a:t>
            </a:r>
            <a:r>
              <a:rPr lang="en-US" dirty="0"/>
              <a:t> </a:t>
            </a:r>
            <a:r>
              <a:rPr lang="en-US" dirty="0" err="1"/>
              <a:t>determines</a:t>
            </a:r>
            <a:r>
              <a:rPr lang="en-US" dirty="0"/>
              <a:t> </a:t>
            </a:r>
            <a:r>
              <a:rPr lang="en-US" dirty="0" err="1"/>
              <a:t>how</a:t>
            </a:r>
            <a:r>
              <a:rPr lang="en-US" dirty="0"/>
              <a:t> </a:t>
            </a:r>
            <a:r>
              <a:rPr lang="en-US" dirty="0" err="1"/>
              <a:t>meaningful</a:t>
            </a:r>
            <a:r>
              <a:rPr lang="en-US" dirty="0"/>
              <a:t> the </a:t>
            </a:r>
            <a:r>
              <a:rPr lang="en-US" dirty="0" err="1"/>
              <a:t>metrics are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08971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1295AA-4335-5E21-D7CC-252CD19CF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3DE5D6B-30C3-1C0D-3A74-6C9117228F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smtClean="0"/>
              <a:pPr/>
              <a:t>41</a:t>
            </a:fld>
            <a:endParaRPr lang="de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A724EF-632C-742A-D946-7AB4E485CA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442010" y="775010"/>
            <a:ext cx="5307980" cy="53079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55356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E0B6C-AE72-494F-F376-A1DA9E409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D693B8E2-4C44-755E-4538-3706F96D761B}"/>
              </a:ext>
            </a:extLst>
          </p:cNvPr>
          <p:cNvSpPr/>
          <p:nvPr/>
        </p:nvSpPr>
        <p:spPr>
          <a:xfrm>
            <a:off x="-69850" y="4416211"/>
            <a:ext cx="2528983" cy="2528983"/>
          </a:xfrm>
          <a:custGeom>
            <a:avLst/>
            <a:gdLst/>
            <a:ahLst/>
            <a:cxnLst/>
            <a:rect l="l" t="t" r="r" b="b"/>
            <a:pathLst>
              <a:path w="5057966" h="5057966">
                <a:moveTo>
                  <a:pt x="0" y="0"/>
                </a:moveTo>
                <a:lnTo>
                  <a:pt x="5057966" y="0"/>
                </a:lnTo>
                <a:lnTo>
                  <a:pt x="5057966" y="5057966"/>
                </a:lnTo>
                <a:lnTo>
                  <a:pt x="0" y="5057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341FCC5-77DF-6467-C854-3F3A9C43A02D}"/>
              </a:ext>
            </a:extLst>
          </p:cNvPr>
          <p:cNvSpPr/>
          <p:nvPr/>
        </p:nvSpPr>
        <p:spPr>
          <a:xfrm>
            <a:off x="12577" y="5637019"/>
            <a:ext cx="1600841" cy="1135671"/>
          </a:xfrm>
          <a:custGeom>
            <a:avLst/>
            <a:gdLst/>
            <a:ahLst/>
            <a:cxnLst/>
            <a:rect l="l" t="t" r="r" b="b"/>
            <a:pathLst>
              <a:path w="3201682" h="2271341">
                <a:moveTo>
                  <a:pt x="0" y="0"/>
                </a:moveTo>
                <a:lnTo>
                  <a:pt x="3201682" y="0"/>
                </a:lnTo>
                <a:lnTo>
                  <a:pt x="3201682" y="2271341"/>
                </a:lnTo>
                <a:lnTo>
                  <a:pt x="0" y="22713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id="{A72BF21B-DBD4-A8FF-D18E-A40D9DB51BD3}"/>
              </a:ext>
            </a:extLst>
          </p:cNvPr>
          <p:cNvSpPr txBox="1"/>
          <p:nvPr/>
        </p:nvSpPr>
        <p:spPr>
          <a:xfrm>
            <a:off x="438150" y="525315"/>
            <a:ext cx="9401175" cy="3680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27"/>
              </a:lnSpc>
            </a:pPr>
            <a:r>
              <a:rPr lang="en-US" sz="3200" b="1" dirty="0">
                <a:solidFill>
                  <a:schemeClr val="tx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RAGAS – Answer Correctness – Generation </a:t>
            </a:r>
            <a:r>
              <a:rPr lang="en-US" sz="3200" b="1" dirty="0" err="1">
                <a:solidFill>
                  <a:schemeClr val="tx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Metric</a:t>
            </a:r>
            <a:endParaRPr lang="en-US" sz="3200" b="1" dirty="0">
              <a:solidFill>
                <a:schemeClr val="tx1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39F2853-D1AD-FA71-731D-4189F8848901}"/>
              </a:ext>
            </a:extLst>
          </p:cNvPr>
          <p:cNvSpPr txBox="1"/>
          <p:nvPr/>
        </p:nvSpPr>
        <p:spPr>
          <a:xfrm>
            <a:off x="438151" y="1854567"/>
            <a:ext cx="11419552" cy="87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 dirty="0"/>
              <a:t>The metric measures</a:t>
            </a:r>
            <a:r>
              <a:rPr lang="de-DE" sz="1800" b="1" dirty="0"/>
              <a:t> </a:t>
            </a:r>
            <a:r>
              <a:rPr lang="de-DE" altLang="de-DE" sz="1800" b="1" dirty="0"/>
              <a:t>how factually correct </a:t>
            </a:r>
            <a:r>
              <a:rPr lang="de-DE" altLang="de-DE" sz="1800" dirty="0"/>
              <a:t>and </a:t>
            </a:r>
            <a:r>
              <a:rPr lang="de-DE" altLang="de-DE" sz="1800" b="1" dirty="0"/>
              <a:t>semantically similar </a:t>
            </a:r>
            <a:r>
              <a:rPr lang="de-DE" altLang="de-DE" sz="1800" dirty="0"/>
              <a:t>the answer is to the ground truth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D073C0FD-2C76-6BBE-00A6-0F49A11EF0D8}"/>
                  </a:ext>
                </a:extLst>
              </p:cNvPr>
              <p:cNvSpPr txBox="1"/>
              <p:nvPr/>
            </p:nvSpPr>
            <p:spPr>
              <a:xfrm>
                <a:off x="812997" y="3947345"/>
                <a:ext cx="9006472" cy="6390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200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de-DE" sz="2000" b="0" i="0" smtClean="0">
                          <a:latin typeface="Cambria Math" panose="02040503050406030204" pitchFamily="18" charset="0"/>
                        </a:rPr>
                        <m:t>nswer</m:t>
                      </m:r>
                      <m:r>
                        <a:rPr lang="de-DE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 sz="2000" b="0" i="0" smtClean="0">
                          <a:latin typeface="Cambria Math" panose="02040503050406030204" pitchFamily="18" charset="0"/>
                        </a:rPr>
                        <m:t>Correctness</m:t>
                      </m:r>
                      <m:r>
                        <a:rPr lang="de-DE" sz="2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0.75 </m:t>
                      </m:r>
                      <m:f>
                        <m:fPr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  <m:t>𝑇𝑃</m:t>
                              </m:r>
                            </m:e>
                          </m:d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+0.5(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  <m:t>𝐹𝑃</m:t>
                              </m:r>
                            </m:e>
                          </m:d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  <m:t>𝐹𝑁</m:t>
                              </m:r>
                            </m:e>
                          </m:d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) </m:t>
                          </m:r>
                        </m:den>
                      </m:f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+0.25 </m:t>
                      </m:r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𝑆𝑒𝑚𝑎𝑛𝑡𝑖𝑐</m:t>
                      </m:r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𝑆𝑖𝑚𝑖𝑙𝑎𝑟𝑖𝑡𝑦</m:t>
                      </m:r>
                    </m:oMath>
                  </m:oMathPara>
                </a14:m>
                <a:endParaRPr lang="de-DE" sz="2000" b="0" dirty="0"/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D073C0FD-2C76-6BBE-00A6-0F49A11EF0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997" y="3947345"/>
                <a:ext cx="9006472" cy="639086"/>
              </a:xfrm>
              <a:prstGeom prst="rect">
                <a:avLst/>
              </a:prstGeom>
              <a:blipFill>
                <a:blip r:embed="rId5"/>
                <a:stretch>
                  <a:fillRect l="-281" t="-4000" r="-563" b="-2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4F826D47-5979-F1C0-AC87-9F3E6F0C01D1}"/>
                  </a:ext>
                </a:extLst>
              </p:cNvPr>
              <p:cNvSpPr txBox="1"/>
              <p:nvPr/>
            </p:nvSpPr>
            <p:spPr>
              <a:xfrm>
                <a:off x="812997" y="4898355"/>
                <a:ext cx="6577183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𝐹𝑃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𝑁𝑢𝑚𝑏𝑒𝑟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𝑠𝑡𝑎𝑡𝑒𝑚𝑒𝑛𝑡𝑠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𝑡h𝑎𝑡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𝑎𝑝𝑝𝑒𝑎𝑟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𝑜𝑛𝑙𝑦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𝑎𝑛𝑠𝑤𝑒𝑟</m:t>
                      </m:r>
                    </m:oMath>
                    <m:oMath xmlns:m="http://schemas.openxmlformats.org/officeDocument/2006/math"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𝐹𝑁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𝑁𝑢𝑚𝑏𝑒𝑟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𝑠𝑡𝑎𝑡𝑒𝑚𝑒𝑛𝑡𝑠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𝑡h𝑎𝑡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𝑎𝑝𝑝𝑒𝑎𝑟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𝑜𝑛𝑙𝑦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𝑔𝑟𝑜𝑢𝑛𝑑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𝑡𝑟𝑢𝑡h</m:t>
                      </m:r>
                    </m:oMath>
                    <m:oMath xmlns:m="http://schemas.openxmlformats.org/officeDocument/2006/math"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𝑇𝑃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𝑁𝑢𝑚𝑏𝑒𝑟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𝑠𝑡𝑎𝑡𝑒𝑚𝑒𝑛𝑡𝑠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𝑡h𝑎𝑡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𝑎𝑝𝑝𝑒𝑎𝑟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𝑏𝑜𝑡h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𝑎𝑛𝑠𝑤𝑒𝑟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𝑔𝑟𝑜𝑢𝑛𝑑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𝑡𝑟𝑢𝑡h</m:t>
                      </m:r>
                    </m:oMath>
                  </m:oMathPara>
                </a14:m>
                <a:endParaRPr lang="de-DE" sz="1600" b="0" dirty="0"/>
              </a:p>
            </p:txBody>
          </p:sp>
        </mc:Choice>
        <mc:Fallback xmlns="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4F826D47-5979-F1C0-AC87-9F3E6F0C01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997" y="4898355"/>
                <a:ext cx="6577183" cy="738664"/>
              </a:xfrm>
              <a:prstGeom prst="rect">
                <a:avLst/>
              </a:prstGeom>
              <a:blipFill>
                <a:blip r:embed="rId6"/>
                <a:stretch>
                  <a:fillRect l="-963" t="-1667" r="-12909" b="-1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ckige Klammer rechts 4">
            <a:extLst>
              <a:ext uri="{FF2B5EF4-FFF2-40B4-BE49-F238E27FC236}">
                <a16:creationId xmlns:a16="http://schemas.microsoft.com/office/drawing/2014/main" id="{10C74801-32DE-6B9A-5D0F-DB38344030D2}"/>
              </a:ext>
            </a:extLst>
          </p:cNvPr>
          <p:cNvSpPr/>
          <p:nvPr/>
        </p:nvSpPr>
        <p:spPr>
          <a:xfrm rot="16200000">
            <a:off x="5176702" y="2527299"/>
            <a:ext cx="202368" cy="2637720"/>
          </a:xfrm>
          <a:prstGeom prst="rightBracket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A03D57A-574A-BB51-A7C4-444846ADD746}"/>
              </a:ext>
            </a:extLst>
          </p:cNvPr>
          <p:cNvSpPr txBox="1"/>
          <p:nvPr/>
        </p:nvSpPr>
        <p:spPr>
          <a:xfrm>
            <a:off x="3902420" y="2790866"/>
            <a:ext cx="30765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AF0333"/>
                </a:solidFill>
              </a:rPr>
              <a:t>Measures how many statements in the answer are factually correct, taking missing or incorrect statements into account</a:t>
            </a:r>
          </a:p>
        </p:txBody>
      </p:sp>
    </p:spTree>
    <p:extLst>
      <p:ext uri="{BB962C8B-B14F-4D97-AF65-F5344CB8AC3E}">
        <p14:creationId xmlns:p14="http://schemas.microsoft.com/office/powerpoint/2010/main" val="49346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89488-74E8-4507-7EDD-DBEAEE0AA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FCBE0B56-64B3-768C-14CD-0E76EBB4EF0B}"/>
              </a:ext>
            </a:extLst>
          </p:cNvPr>
          <p:cNvSpPr/>
          <p:nvPr/>
        </p:nvSpPr>
        <p:spPr>
          <a:xfrm>
            <a:off x="-69850" y="4416211"/>
            <a:ext cx="2528983" cy="2528983"/>
          </a:xfrm>
          <a:custGeom>
            <a:avLst/>
            <a:gdLst/>
            <a:ahLst/>
            <a:cxnLst/>
            <a:rect l="l" t="t" r="r" b="b"/>
            <a:pathLst>
              <a:path w="5057966" h="5057966">
                <a:moveTo>
                  <a:pt x="0" y="0"/>
                </a:moveTo>
                <a:lnTo>
                  <a:pt x="5057966" y="0"/>
                </a:lnTo>
                <a:lnTo>
                  <a:pt x="5057966" y="5057966"/>
                </a:lnTo>
                <a:lnTo>
                  <a:pt x="0" y="5057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3288FCC-6540-339C-30C9-7F8FA2A16F2D}"/>
              </a:ext>
            </a:extLst>
          </p:cNvPr>
          <p:cNvSpPr/>
          <p:nvPr/>
        </p:nvSpPr>
        <p:spPr>
          <a:xfrm>
            <a:off x="12577" y="5637019"/>
            <a:ext cx="1600841" cy="1135671"/>
          </a:xfrm>
          <a:custGeom>
            <a:avLst/>
            <a:gdLst/>
            <a:ahLst/>
            <a:cxnLst/>
            <a:rect l="l" t="t" r="r" b="b"/>
            <a:pathLst>
              <a:path w="3201682" h="2271341">
                <a:moveTo>
                  <a:pt x="0" y="0"/>
                </a:moveTo>
                <a:lnTo>
                  <a:pt x="3201682" y="0"/>
                </a:lnTo>
                <a:lnTo>
                  <a:pt x="3201682" y="2271341"/>
                </a:lnTo>
                <a:lnTo>
                  <a:pt x="0" y="22713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id="{1927678C-066C-00A9-3EB9-98DE9B5E8727}"/>
              </a:ext>
            </a:extLst>
          </p:cNvPr>
          <p:cNvSpPr txBox="1"/>
          <p:nvPr/>
        </p:nvSpPr>
        <p:spPr>
          <a:xfrm>
            <a:off x="438150" y="525315"/>
            <a:ext cx="9401175" cy="3680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27"/>
              </a:lnSpc>
            </a:pPr>
            <a:r>
              <a:rPr lang="en-US" sz="3200" b="1" dirty="0">
                <a:solidFill>
                  <a:schemeClr val="tx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RAGAS – Answer Correctness – </a:t>
            </a:r>
            <a:r>
              <a:rPr lang="en-US" sz="3200" b="1" dirty="0" err="1">
                <a:solidFill>
                  <a:schemeClr val="tx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Example</a:t>
            </a:r>
            <a:r>
              <a:rPr lang="en-US" sz="3200" b="1" dirty="0">
                <a:solidFill>
                  <a:schemeClr val="tx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8BA2B718-B0DA-5296-0F96-EE9C8CF56FC5}"/>
              </a:ext>
            </a:extLst>
          </p:cNvPr>
          <p:cNvGrpSpPr/>
          <p:nvPr/>
        </p:nvGrpSpPr>
        <p:grpSpPr>
          <a:xfrm>
            <a:off x="1046725" y="1749895"/>
            <a:ext cx="10098550" cy="2761483"/>
            <a:chOff x="1046725" y="1726355"/>
            <a:chExt cx="10098550" cy="2761483"/>
          </a:xfrm>
        </p:grpSpPr>
        <p:sp>
          <p:nvSpPr>
            <p:cNvPr id="5" name="Abgerundetes Rechteck 4">
              <a:extLst>
                <a:ext uri="{FF2B5EF4-FFF2-40B4-BE49-F238E27FC236}">
                  <a16:creationId xmlns:a16="http://schemas.microsoft.com/office/drawing/2014/main" id="{D2E4F5B9-10D6-C612-4210-1086A73C2B79}"/>
                </a:ext>
              </a:extLst>
            </p:cNvPr>
            <p:cNvSpPr/>
            <p:nvPr/>
          </p:nvSpPr>
          <p:spPr>
            <a:xfrm>
              <a:off x="1046725" y="1726355"/>
              <a:ext cx="3193323" cy="2666316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  <a:alpha val="40258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921B5FA5-24A1-E988-C676-19B3AD522943}"/>
                </a:ext>
              </a:extLst>
            </p:cNvPr>
            <p:cNvSpPr txBox="1"/>
            <p:nvPr/>
          </p:nvSpPr>
          <p:spPr>
            <a:xfrm>
              <a:off x="1046725" y="2318012"/>
              <a:ext cx="3193323" cy="4668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de-DE" sz="1800" dirty="0"/>
                <a:t>Question:</a:t>
              </a:r>
            </a:p>
          </p:txBody>
        </p: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ADE3B9DB-017A-A1F5-57DA-965C46812E33}"/>
                </a:ext>
              </a:extLst>
            </p:cNvPr>
            <p:cNvSpPr txBox="1"/>
            <p:nvPr/>
          </p:nvSpPr>
          <p:spPr>
            <a:xfrm>
              <a:off x="1046725" y="2784871"/>
              <a:ext cx="3193323" cy="1287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de-DE" sz="1800" dirty="0"/>
                <a:t>“What colors does a traffic light have?”</a:t>
              </a:r>
            </a:p>
            <a:p>
              <a:pPr>
                <a:lnSpc>
                  <a:spcPct val="150000"/>
                </a:lnSpc>
              </a:pPr>
              <a:endParaRPr lang="de-DE" sz="1800" i="1" dirty="0"/>
            </a:p>
          </p:txBody>
        </p:sp>
        <p:sp>
          <p:nvSpPr>
            <p:cNvPr id="10" name="Abgerundetes Rechteck 9">
              <a:extLst>
                <a:ext uri="{FF2B5EF4-FFF2-40B4-BE49-F238E27FC236}">
                  <a16:creationId xmlns:a16="http://schemas.microsoft.com/office/drawing/2014/main" id="{FA93A2E4-6E88-3070-0DC8-E9541EDE029F}"/>
                </a:ext>
              </a:extLst>
            </p:cNvPr>
            <p:cNvSpPr/>
            <p:nvPr/>
          </p:nvSpPr>
          <p:spPr>
            <a:xfrm>
              <a:off x="4499338" y="1726355"/>
              <a:ext cx="3193323" cy="266631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  <a:alpha val="40258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7D986C86-CC18-C75A-F50B-5602219AC065}"/>
                </a:ext>
              </a:extLst>
            </p:cNvPr>
            <p:cNvSpPr txBox="1"/>
            <p:nvPr/>
          </p:nvSpPr>
          <p:spPr>
            <a:xfrm>
              <a:off x="4499338" y="2318012"/>
              <a:ext cx="3193323" cy="4668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de-DE" sz="1800" dirty="0"/>
                <a:t>Answer:</a:t>
              </a:r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8016D481-BDCF-3389-4E38-22D6F5756FFB}"/>
                </a:ext>
              </a:extLst>
            </p:cNvPr>
            <p:cNvSpPr txBox="1"/>
            <p:nvPr/>
          </p:nvSpPr>
          <p:spPr>
            <a:xfrm>
              <a:off x="4499338" y="2784871"/>
              <a:ext cx="3193323" cy="17029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de-DE" sz="1800" dirty="0"/>
                <a:t>“</a:t>
              </a:r>
              <a:r>
                <a:rPr lang="de-DE" sz="1800" dirty="0">
                  <a:highlight>
                    <a:srgbClr val="FFFF00"/>
                  </a:highlight>
                </a:rPr>
                <a:t>Red, Yellow </a:t>
              </a:r>
              <a:r>
                <a:rPr lang="de-DE" sz="1800" dirty="0"/>
                <a:t>and</a:t>
              </a:r>
              <a:r>
                <a:rPr lang="de-DE" sz="1800" dirty="0">
                  <a:highlight>
                    <a:srgbClr val="00FFFF"/>
                  </a:highlight>
                </a:rPr>
                <a:t> Blue</a:t>
              </a:r>
              <a:r>
                <a:rPr lang="de-DE" sz="1800" dirty="0"/>
                <a:t>”</a:t>
              </a:r>
            </a:p>
            <a:p>
              <a:pPr>
                <a:lnSpc>
                  <a:spcPct val="150000"/>
                </a:lnSpc>
              </a:pPr>
              <a:r>
                <a:rPr lang="de-DE" sz="1800" dirty="0"/>
                <a:t>Ground Truth: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de-DE" sz="1800" dirty="0"/>
                <a:t>“Red, Yellow and </a:t>
              </a:r>
              <a:r>
                <a:rPr lang="de-DE" sz="1800" dirty="0">
                  <a:highlight>
                    <a:srgbClr val="FF00FF"/>
                  </a:highlight>
                </a:rPr>
                <a:t>Green</a:t>
              </a:r>
              <a:r>
                <a:rPr lang="de-DE" sz="1800" dirty="0"/>
                <a:t>”</a:t>
              </a:r>
            </a:p>
            <a:p>
              <a:pPr>
                <a:lnSpc>
                  <a:spcPct val="150000"/>
                </a:lnSpc>
              </a:pPr>
              <a:endParaRPr lang="de-DE" sz="1800" dirty="0"/>
            </a:p>
          </p:txBody>
        </p:sp>
        <p:sp>
          <p:nvSpPr>
            <p:cNvPr id="15" name="Abgerundetes Rechteck 14">
              <a:extLst>
                <a:ext uri="{FF2B5EF4-FFF2-40B4-BE49-F238E27FC236}">
                  <a16:creationId xmlns:a16="http://schemas.microsoft.com/office/drawing/2014/main" id="{B7A304C1-FD81-8692-E6AE-289465F05DAC}"/>
                </a:ext>
              </a:extLst>
            </p:cNvPr>
            <p:cNvSpPr/>
            <p:nvPr/>
          </p:nvSpPr>
          <p:spPr>
            <a:xfrm>
              <a:off x="7951952" y="1726355"/>
              <a:ext cx="3193323" cy="2666316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  <a:alpha val="40258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1218DF28-84F6-CBA7-1671-BF69B70185BA}"/>
                </a:ext>
              </a:extLst>
            </p:cNvPr>
            <p:cNvSpPr txBox="1"/>
            <p:nvPr/>
          </p:nvSpPr>
          <p:spPr>
            <a:xfrm>
              <a:off x="7951952" y="2318012"/>
              <a:ext cx="3193323" cy="4668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endParaRPr lang="de-DE" sz="1800" dirty="0"/>
            </a:p>
          </p:txBody>
        </p: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81EF1CF3-2522-C708-4609-8C750694663B}"/>
                </a:ext>
              </a:extLst>
            </p:cNvPr>
            <p:cNvSpPr txBox="1"/>
            <p:nvPr/>
          </p:nvSpPr>
          <p:spPr>
            <a:xfrm>
              <a:off x="7951952" y="2323206"/>
              <a:ext cx="319332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de-DE" altLang="de-DE" sz="1800" dirty="0">
                  <a:latin typeface="Arial" panose="020B0604020202020204" pitchFamily="34" charset="0"/>
                </a:rPr>
                <a:t>TP=2 (</a:t>
              </a:r>
              <a:r>
                <a:rPr lang="de-DE" altLang="de-DE" sz="1800" dirty="0">
                  <a:highlight>
                    <a:srgbClr val="FFFF00"/>
                  </a:highlight>
                  <a:latin typeface="Arial" panose="020B0604020202020204" pitchFamily="34" charset="0"/>
                </a:rPr>
                <a:t>Red, Yellow</a:t>
              </a:r>
              <a:r>
                <a:rPr lang="de-DE" altLang="de-DE" sz="1800" dirty="0">
                  <a:latin typeface="Arial" panose="020B0604020202020204" pitchFamily="34" charset="0"/>
                </a:rPr>
                <a:t>)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de-DE" altLang="de-DE" sz="1800" dirty="0">
                  <a:latin typeface="Arial" panose="020B0604020202020204" pitchFamily="34" charset="0"/>
                </a:rPr>
                <a:t>FP=1 (</a:t>
              </a:r>
              <a:r>
                <a:rPr lang="de-DE" altLang="de-DE" sz="1800" dirty="0">
                  <a:highlight>
                    <a:srgbClr val="00FFFF"/>
                  </a:highlight>
                  <a:latin typeface="Arial" panose="020B0604020202020204" pitchFamily="34" charset="0"/>
                </a:rPr>
                <a:t>Blue</a:t>
              </a:r>
              <a:r>
                <a:rPr lang="de-DE" altLang="de-DE" sz="1800" dirty="0">
                  <a:latin typeface="Arial" panose="020B0604020202020204" pitchFamily="34" charset="0"/>
                </a:rPr>
                <a:t>)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de-DE" altLang="de-DE" sz="1800" dirty="0">
                  <a:latin typeface="Arial" panose="020B0604020202020204" pitchFamily="34" charset="0"/>
                </a:rPr>
                <a:t>FN=1 (</a:t>
              </a:r>
              <a:r>
                <a:rPr lang="de-DE" altLang="de-DE" sz="1800" dirty="0">
                  <a:highlight>
                    <a:srgbClr val="FF00FF"/>
                  </a:highlight>
                  <a:latin typeface="Arial" panose="020B0604020202020204" pitchFamily="34" charset="0"/>
                </a:rPr>
                <a:t>Green missing</a:t>
              </a:r>
              <a:r>
                <a:rPr lang="de-DE" altLang="de-DE" sz="1800" dirty="0">
                  <a:latin typeface="Arial" panose="020B0604020202020204" pitchFamily="34" charset="0"/>
                </a:rPr>
                <a:t>)</a:t>
              </a:r>
              <a:endParaRPr lang="de-DE" altLang="de-DE" sz="1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25D08D60-B3D8-A384-7416-F7C0947777D9}"/>
                  </a:ext>
                </a:extLst>
              </p:cNvPr>
              <p:cNvSpPr txBox="1"/>
              <p:nvPr/>
            </p:nvSpPr>
            <p:spPr>
              <a:xfrm>
                <a:off x="1592763" y="4825429"/>
                <a:ext cx="9006472" cy="6390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200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de-DE" sz="2000" b="0" i="0" smtClean="0">
                          <a:latin typeface="Cambria Math" panose="02040503050406030204" pitchFamily="18" charset="0"/>
                        </a:rPr>
                        <m:t>nswer</m:t>
                      </m:r>
                      <m:r>
                        <a:rPr lang="de-DE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 sz="2000" b="0" i="0" smtClean="0">
                          <a:latin typeface="Cambria Math" panose="02040503050406030204" pitchFamily="18" charset="0"/>
                        </a:rPr>
                        <m:t>Correctness</m:t>
                      </m:r>
                      <m:r>
                        <a:rPr lang="de-DE" sz="2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0,75 </m:t>
                      </m:r>
                      <m:f>
                        <m:fPr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2+0,5(1+1) </m:t>
                          </m:r>
                        </m:den>
                      </m:f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+0,25 </m:t>
                      </m:r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𝑆𝑒𝑚𝑎𝑛𝑡𝑖𝑐</m:t>
                      </m:r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𝑆𝑖𝑚𝑖𝑙𝑎𝑟𝑖𝑡𝑦</m:t>
                      </m:r>
                    </m:oMath>
                  </m:oMathPara>
                </a14:m>
                <a:endParaRPr lang="de-DE" sz="2000" b="0" dirty="0"/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25D08D60-B3D8-A384-7416-F7C094777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763" y="4825429"/>
                <a:ext cx="9006472" cy="639086"/>
              </a:xfrm>
              <a:prstGeom prst="rect">
                <a:avLst/>
              </a:prstGeom>
              <a:blipFill>
                <a:blip r:embed="rId5"/>
                <a:stretch>
                  <a:fillRect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Eckige Klammer rechts 18">
            <a:extLst>
              <a:ext uri="{FF2B5EF4-FFF2-40B4-BE49-F238E27FC236}">
                <a16:creationId xmlns:a16="http://schemas.microsoft.com/office/drawing/2014/main" id="{618FA0A6-3301-AEAB-8977-D127B79F1136}"/>
              </a:ext>
            </a:extLst>
          </p:cNvPr>
          <p:cNvSpPr/>
          <p:nvPr/>
        </p:nvSpPr>
        <p:spPr>
          <a:xfrm rot="5400000">
            <a:off x="8773757" y="4205998"/>
            <a:ext cx="177421" cy="2339613"/>
          </a:xfrm>
          <a:prstGeom prst="rightBracket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8360D74E-9002-B452-84BB-B824ABCC4BC8}"/>
              </a:ext>
            </a:extLst>
          </p:cNvPr>
          <p:cNvSpPr txBox="1"/>
          <p:nvPr/>
        </p:nvSpPr>
        <p:spPr>
          <a:xfrm>
            <a:off x="7324203" y="5589677"/>
            <a:ext cx="307652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rgbClr val="AF0333"/>
                </a:solidFill>
              </a:rPr>
              <a:t>Usually the cosine similarity of the embeddings of answer and ground truth</a:t>
            </a:r>
          </a:p>
        </p:txBody>
      </p:sp>
    </p:spTree>
    <p:extLst>
      <p:ext uri="{BB962C8B-B14F-4D97-AF65-F5344CB8AC3E}">
        <p14:creationId xmlns:p14="http://schemas.microsoft.com/office/powerpoint/2010/main" val="1195852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A3DA9-4307-B0BB-E275-4721A44F2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3AF3530E-2006-A739-15D9-6C8B148F3570}"/>
              </a:ext>
            </a:extLst>
          </p:cNvPr>
          <p:cNvSpPr/>
          <p:nvPr/>
        </p:nvSpPr>
        <p:spPr>
          <a:xfrm>
            <a:off x="-69850" y="4416211"/>
            <a:ext cx="2528983" cy="2528983"/>
          </a:xfrm>
          <a:custGeom>
            <a:avLst/>
            <a:gdLst/>
            <a:ahLst/>
            <a:cxnLst/>
            <a:rect l="l" t="t" r="r" b="b"/>
            <a:pathLst>
              <a:path w="5057966" h="5057966">
                <a:moveTo>
                  <a:pt x="0" y="0"/>
                </a:moveTo>
                <a:lnTo>
                  <a:pt x="5057966" y="0"/>
                </a:lnTo>
                <a:lnTo>
                  <a:pt x="5057966" y="5057966"/>
                </a:lnTo>
                <a:lnTo>
                  <a:pt x="0" y="5057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E1C9B858-B1BE-3EF1-C7C9-6379A078C437}"/>
              </a:ext>
            </a:extLst>
          </p:cNvPr>
          <p:cNvSpPr/>
          <p:nvPr/>
        </p:nvSpPr>
        <p:spPr>
          <a:xfrm>
            <a:off x="12577" y="5637019"/>
            <a:ext cx="1600841" cy="1135671"/>
          </a:xfrm>
          <a:custGeom>
            <a:avLst/>
            <a:gdLst/>
            <a:ahLst/>
            <a:cxnLst/>
            <a:rect l="l" t="t" r="r" b="b"/>
            <a:pathLst>
              <a:path w="3201682" h="2271341">
                <a:moveTo>
                  <a:pt x="0" y="0"/>
                </a:moveTo>
                <a:lnTo>
                  <a:pt x="3201682" y="0"/>
                </a:lnTo>
                <a:lnTo>
                  <a:pt x="3201682" y="2271341"/>
                </a:lnTo>
                <a:lnTo>
                  <a:pt x="0" y="22713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id="{E86CCD5C-AC5D-4448-1BA9-E36FD90E0017}"/>
              </a:ext>
            </a:extLst>
          </p:cNvPr>
          <p:cNvSpPr txBox="1"/>
          <p:nvPr/>
        </p:nvSpPr>
        <p:spPr>
          <a:xfrm>
            <a:off x="438150" y="525315"/>
            <a:ext cx="9401175" cy="3680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27"/>
              </a:lnSpc>
            </a:pPr>
            <a:r>
              <a:rPr lang="en-US" sz="3200" b="1" dirty="0">
                <a:solidFill>
                  <a:schemeClr val="tx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RAGAS – Faithfulness – Generation </a:t>
            </a:r>
            <a:r>
              <a:rPr lang="en-US" sz="3200" b="1" dirty="0" err="1">
                <a:solidFill>
                  <a:schemeClr val="tx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Metric</a:t>
            </a:r>
            <a:endParaRPr lang="en-US" sz="3200" b="1" dirty="0">
              <a:solidFill>
                <a:schemeClr val="tx1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F2D1361B-4389-0D4B-52EA-ACD538E0DD20}"/>
              </a:ext>
            </a:extLst>
          </p:cNvPr>
          <p:cNvSpPr txBox="1"/>
          <p:nvPr/>
        </p:nvSpPr>
        <p:spPr>
          <a:xfrm>
            <a:off x="438151" y="1854567"/>
            <a:ext cx="11419552" cy="87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 dirty="0"/>
              <a:t>The metric measures </a:t>
            </a:r>
            <a:r>
              <a:rPr lang="de-DE" altLang="de-DE" sz="1800" dirty="0"/>
              <a:t>how </a:t>
            </a:r>
            <a:r>
              <a:rPr lang="de-DE" altLang="de-DE" sz="1800" b="1" dirty="0"/>
              <a:t>factually consistent </a:t>
            </a:r>
            <a:r>
              <a:rPr lang="de-DE" altLang="de-DE" sz="1800" dirty="0"/>
              <a:t>an answer is with the retrieved context. </a:t>
            </a:r>
            <a:br>
              <a:rPr lang="de-DE" altLang="de-DE" sz="1800" dirty="0"/>
            </a:br>
            <a:r>
              <a:rPr lang="de-DE" altLang="de-DE" sz="1800" dirty="0"/>
              <a:t>It ranges from 0 to 1, with higher values indicating better agreement.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E3F70445-82B5-BBA4-B0AE-ECCE1BB12B8A}"/>
                  </a:ext>
                </a:extLst>
              </p:cNvPr>
              <p:cNvSpPr txBox="1"/>
              <p:nvPr/>
            </p:nvSpPr>
            <p:spPr>
              <a:xfrm>
                <a:off x="508000" y="3628187"/>
                <a:ext cx="11303000" cy="63831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2000" b="0" i="0" smtClean="0">
                          <a:latin typeface="Cambria Math" panose="02040503050406030204" pitchFamily="18" charset="0"/>
                        </a:rPr>
                        <m:t>Faithfulness</m:t>
                      </m:r>
                      <m:r>
                        <a:rPr lang="de-DE" sz="2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𝑠𝑡𝑎𝑡𝑒𝑚𝑒𝑛𝑡𝑠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𝑡h𝑒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𝑎𝑛𝑠𝑤𝑒𝑟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𝑠𝑢𝑝𝑝𝑜𝑟𝑡𝑒𝑑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𝑏𝑦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𝑡h𝑒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𝑟𝑒𝑡𝑟𝑖𝑒𝑣𝑒𝑑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𝑐𝑜𝑛𝑡𝑒𝑥𝑡</m:t>
                          </m:r>
                        </m:num>
                        <m:den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𝑎𝑙𝑙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𝑠𝑡𝑎𝑡𝑒𝑚𝑒𝑛𝑡𝑠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𝑡h𝑒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𝑎𝑛𝑠𝑤𝑒𝑟</m:t>
                          </m:r>
                        </m:den>
                      </m:f>
                    </m:oMath>
                  </m:oMathPara>
                </a14:m>
                <a:endParaRPr lang="de-DE" sz="2000" dirty="0"/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E3F70445-82B5-BBA4-B0AE-ECCE1BB12B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0" y="3628187"/>
                <a:ext cx="11303000" cy="638316"/>
              </a:xfrm>
              <a:prstGeom prst="rect">
                <a:avLst/>
              </a:prstGeom>
              <a:blipFill>
                <a:blip r:embed="rId5"/>
                <a:stretch>
                  <a:fillRect t="-7843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3322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E427D-A11F-0B70-E7F3-78782177D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A72DDB46-C991-661F-BACE-538DF0FA37D7}"/>
              </a:ext>
            </a:extLst>
          </p:cNvPr>
          <p:cNvSpPr/>
          <p:nvPr/>
        </p:nvSpPr>
        <p:spPr>
          <a:xfrm>
            <a:off x="-69850" y="4416211"/>
            <a:ext cx="2528983" cy="2528983"/>
          </a:xfrm>
          <a:custGeom>
            <a:avLst/>
            <a:gdLst/>
            <a:ahLst/>
            <a:cxnLst/>
            <a:rect l="l" t="t" r="r" b="b"/>
            <a:pathLst>
              <a:path w="5057966" h="5057966">
                <a:moveTo>
                  <a:pt x="0" y="0"/>
                </a:moveTo>
                <a:lnTo>
                  <a:pt x="5057966" y="0"/>
                </a:lnTo>
                <a:lnTo>
                  <a:pt x="5057966" y="5057966"/>
                </a:lnTo>
                <a:lnTo>
                  <a:pt x="0" y="5057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CC039D9-2AD0-F539-176C-C0D475E5A8AF}"/>
              </a:ext>
            </a:extLst>
          </p:cNvPr>
          <p:cNvSpPr/>
          <p:nvPr/>
        </p:nvSpPr>
        <p:spPr>
          <a:xfrm>
            <a:off x="12577" y="5637019"/>
            <a:ext cx="1600841" cy="1135671"/>
          </a:xfrm>
          <a:custGeom>
            <a:avLst/>
            <a:gdLst/>
            <a:ahLst/>
            <a:cxnLst/>
            <a:rect l="l" t="t" r="r" b="b"/>
            <a:pathLst>
              <a:path w="3201682" h="2271341">
                <a:moveTo>
                  <a:pt x="0" y="0"/>
                </a:moveTo>
                <a:lnTo>
                  <a:pt x="3201682" y="0"/>
                </a:lnTo>
                <a:lnTo>
                  <a:pt x="3201682" y="2271341"/>
                </a:lnTo>
                <a:lnTo>
                  <a:pt x="0" y="22713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id="{5332E36A-A466-8F6F-2DA0-91802C4F80D5}"/>
              </a:ext>
            </a:extLst>
          </p:cNvPr>
          <p:cNvSpPr txBox="1"/>
          <p:nvPr/>
        </p:nvSpPr>
        <p:spPr>
          <a:xfrm>
            <a:off x="438150" y="525315"/>
            <a:ext cx="9401175" cy="3680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27"/>
              </a:lnSpc>
            </a:pPr>
            <a:r>
              <a:rPr lang="en-US" sz="3200" b="1" dirty="0">
                <a:solidFill>
                  <a:schemeClr val="tx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RAGAS – Faithfulness – </a:t>
            </a:r>
            <a:r>
              <a:rPr lang="en-US" sz="3200" b="1" dirty="0" err="1">
                <a:solidFill>
                  <a:schemeClr val="tx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Example</a:t>
            </a:r>
            <a:r>
              <a:rPr lang="en-US" sz="3200" b="1" dirty="0">
                <a:solidFill>
                  <a:schemeClr val="tx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028C321C-F22A-32B8-7A1F-12461E914040}"/>
              </a:ext>
            </a:extLst>
          </p:cNvPr>
          <p:cNvGrpSpPr/>
          <p:nvPr/>
        </p:nvGrpSpPr>
        <p:grpSpPr>
          <a:xfrm>
            <a:off x="1046725" y="1749895"/>
            <a:ext cx="10098550" cy="3276720"/>
            <a:chOff x="1046725" y="1726355"/>
            <a:chExt cx="10098550" cy="3276720"/>
          </a:xfrm>
        </p:grpSpPr>
        <p:sp>
          <p:nvSpPr>
            <p:cNvPr id="5" name="Abgerundetes Rechteck 4">
              <a:extLst>
                <a:ext uri="{FF2B5EF4-FFF2-40B4-BE49-F238E27FC236}">
                  <a16:creationId xmlns:a16="http://schemas.microsoft.com/office/drawing/2014/main" id="{A916A31C-DA4E-5DFE-B0C7-048FD1CC6615}"/>
                </a:ext>
              </a:extLst>
            </p:cNvPr>
            <p:cNvSpPr/>
            <p:nvPr/>
          </p:nvSpPr>
          <p:spPr>
            <a:xfrm>
              <a:off x="1046725" y="1726355"/>
              <a:ext cx="3193323" cy="327672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  <a:alpha val="40258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97D28A64-6A41-C49B-741A-B4DE504E4BFC}"/>
                </a:ext>
              </a:extLst>
            </p:cNvPr>
            <p:cNvSpPr txBox="1"/>
            <p:nvPr/>
          </p:nvSpPr>
          <p:spPr>
            <a:xfrm>
              <a:off x="1046725" y="2318012"/>
              <a:ext cx="3193323" cy="4668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de-DE" sz="1800" dirty="0"/>
                <a:t>Question:</a:t>
              </a:r>
            </a:p>
          </p:txBody>
        </p: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F020FA5E-CD71-D819-68C4-20664014873B}"/>
                </a:ext>
              </a:extLst>
            </p:cNvPr>
            <p:cNvSpPr txBox="1"/>
            <p:nvPr/>
          </p:nvSpPr>
          <p:spPr>
            <a:xfrm>
              <a:off x="1046725" y="2784871"/>
              <a:ext cx="3193323" cy="1287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de-DE" sz="1800" dirty="0"/>
                <a:t>“What colors does a traffic light have?”</a:t>
              </a:r>
            </a:p>
            <a:p>
              <a:pPr>
                <a:lnSpc>
                  <a:spcPct val="150000"/>
                </a:lnSpc>
              </a:pPr>
              <a:endParaRPr lang="de-DE" sz="1800" i="1" dirty="0"/>
            </a:p>
          </p:txBody>
        </p:sp>
        <p:sp>
          <p:nvSpPr>
            <p:cNvPr id="10" name="Abgerundetes Rechteck 9">
              <a:extLst>
                <a:ext uri="{FF2B5EF4-FFF2-40B4-BE49-F238E27FC236}">
                  <a16:creationId xmlns:a16="http://schemas.microsoft.com/office/drawing/2014/main" id="{14C94345-FDF6-4698-5FEF-41CD45228F99}"/>
                </a:ext>
              </a:extLst>
            </p:cNvPr>
            <p:cNvSpPr/>
            <p:nvPr/>
          </p:nvSpPr>
          <p:spPr>
            <a:xfrm>
              <a:off x="4499338" y="1726355"/>
              <a:ext cx="3193323" cy="327672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  <a:alpha val="40258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C48FB737-F232-3E08-B2CC-B179852B1DE1}"/>
                </a:ext>
              </a:extLst>
            </p:cNvPr>
            <p:cNvSpPr txBox="1"/>
            <p:nvPr/>
          </p:nvSpPr>
          <p:spPr>
            <a:xfrm>
              <a:off x="4499338" y="2318012"/>
              <a:ext cx="3193323" cy="4668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de-DE" sz="1800" dirty="0"/>
                <a:t>Retrieval:</a:t>
              </a:r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EB1D609D-AD25-745C-BAA8-CBBAC808ECB1}"/>
                </a:ext>
              </a:extLst>
            </p:cNvPr>
            <p:cNvSpPr txBox="1"/>
            <p:nvPr/>
          </p:nvSpPr>
          <p:spPr>
            <a:xfrm>
              <a:off x="4499338" y="2784871"/>
              <a:ext cx="3193323" cy="17029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de-DE" sz="1800" dirty="0"/>
                <a:t>“A traffic light has the colors </a:t>
              </a:r>
              <a:r>
                <a:rPr lang="de-DE" sz="1800" dirty="0">
                  <a:highlight>
                    <a:srgbClr val="00FFFF"/>
                  </a:highlight>
                </a:rPr>
                <a:t>Red, Yellow and Green</a:t>
              </a:r>
              <a:r>
                <a:rPr lang="de-DE" sz="1800" dirty="0"/>
                <a:t>”</a:t>
              </a:r>
            </a:p>
            <a:p>
              <a:pPr>
                <a:lnSpc>
                  <a:spcPct val="150000"/>
                </a:lnSpc>
              </a:pPr>
              <a:endParaRPr lang="de-DE" sz="1800" dirty="0"/>
            </a:p>
          </p:txBody>
        </p:sp>
        <p:sp>
          <p:nvSpPr>
            <p:cNvPr id="15" name="Abgerundetes Rechteck 14">
              <a:extLst>
                <a:ext uri="{FF2B5EF4-FFF2-40B4-BE49-F238E27FC236}">
                  <a16:creationId xmlns:a16="http://schemas.microsoft.com/office/drawing/2014/main" id="{FE9C86A4-0E95-7913-1B44-E608798F65AF}"/>
                </a:ext>
              </a:extLst>
            </p:cNvPr>
            <p:cNvSpPr/>
            <p:nvPr/>
          </p:nvSpPr>
          <p:spPr>
            <a:xfrm>
              <a:off x="7951952" y="1726355"/>
              <a:ext cx="3193323" cy="327672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  <a:alpha val="40258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0F91CAC0-103F-3DA1-8377-2FA78484465A}"/>
                </a:ext>
              </a:extLst>
            </p:cNvPr>
            <p:cNvSpPr txBox="1"/>
            <p:nvPr/>
          </p:nvSpPr>
          <p:spPr>
            <a:xfrm>
              <a:off x="7951952" y="2318012"/>
              <a:ext cx="3193323" cy="4668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de-DE" sz="1800" dirty="0"/>
                <a:t>Answer:</a:t>
              </a:r>
            </a:p>
          </p:txBody>
        </p: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7DFD54C2-F051-2829-24DE-1D2F564CFFFE}"/>
                </a:ext>
              </a:extLst>
            </p:cNvPr>
            <p:cNvSpPr txBox="1"/>
            <p:nvPr/>
          </p:nvSpPr>
          <p:spPr>
            <a:xfrm>
              <a:off x="7951952" y="2784871"/>
              <a:ext cx="3193323" cy="21184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de-DE" sz="1800" dirty="0"/>
                <a:t>“A traffic light has the colors </a:t>
              </a:r>
              <a:r>
                <a:rPr lang="de-DE" sz="1800" dirty="0">
                  <a:highlight>
                    <a:srgbClr val="FFFF00"/>
                  </a:highlight>
                </a:rPr>
                <a:t>Red, Yellow </a:t>
              </a:r>
              <a:r>
                <a:rPr lang="de-DE" sz="1800" dirty="0"/>
                <a:t>and Blue”</a:t>
              </a:r>
            </a:p>
            <a:p>
              <a:pPr>
                <a:lnSpc>
                  <a:spcPct val="150000"/>
                </a:lnSpc>
              </a:pPr>
              <a:endParaRPr lang="de-DE" sz="1800" dirty="0"/>
            </a:p>
            <a:p>
              <a:pPr>
                <a:lnSpc>
                  <a:spcPct val="150000"/>
                </a:lnSpc>
              </a:pPr>
              <a:r>
                <a:rPr lang="de-DE" sz="1800" dirty="0" err="1"/>
                <a:t>Faithfulness</a:t>
              </a:r>
              <a:r>
                <a:rPr lang="de-DE" sz="1800" dirty="0"/>
                <a:t> = </a:t>
              </a:r>
              <a:r>
                <a:rPr lang="de-DE" sz="1800" dirty="0">
                  <a:highlight>
                    <a:srgbClr val="FFFF00"/>
                  </a:highlight>
                </a:rPr>
                <a:t>2</a:t>
              </a:r>
              <a:r>
                <a:rPr lang="de-DE" sz="1800" dirty="0"/>
                <a:t>/</a:t>
              </a:r>
              <a:r>
                <a:rPr lang="de-DE" sz="1800" dirty="0">
                  <a:highlight>
                    <a:srgbClr val="00FFFF"/>
                  </a:highlight>
                </a:rPr>
                <a:t>3</a:t>
              </a:r>
              <a:r>
                <a:rPr lang="de-DE" sz="1800" dirty="0"/>
                <a:t> = 0.67</a:t>
              </a:r>
            </a:p>
            <a:p>
              <a:pPr>
                <a:lnSpc>
                  <a:spcPct val="150000"/>
                </a:lnSpc>
              </a:pPr>
              <a:endParaRPr lang="de-DE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550578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EF6DA-12FD-F051-ADA9-7FA04701D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DDA80A3-42D6-82CD-8531-4F01AC8F45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smtClean="0"/>
              <a:pPr/>
              <a:t>46</a:t>
            </a:fld>
            <a:endParaRPr lang="de-D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96357EF-BA6D-167F-DF57-3D5B55D693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94253" y="1027253"/>
            <a:ext cx="4803494" cy="48034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446C93C-0E3B-8947-7417-352A598B2859}"/>
              </a:ext>
            </a:extLst>
          </p:cNvPr>
          <p:cNvSpPr txBox="1"/>
          <p:nvPr/>
        </p:nvSpPr>
        <p:spPr>
          <a:xfrm>
            <a:off x="5467461" y="5676858"/>
            <a:ext cx="12570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Notebook 04</a:t>
            </a:r>
          </a:p>
        </p:txBody>
      </p:sp>
    </p:spTree>
    <p:extLst>
      <p:ext uri="{BB962C8B-B14F-4D97-AF65-F5344CB8AC3E}">
        <p14:creationId xmlns:p14="http://schemas.microsoft.com/office/powerpoint/2010/main" val="467966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48B8F-651C-A445-2CDA-FB408A5F8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5683DC23-2DCE-5BFD-C371-D5BDD098D5B0}"/>
              </a:ext>
            </a:extLst>
          </p:cNvPr>
          <p:cNvSpPr/>
          <p:nvPr/>
        </p:nvSpPr>
        <p:spPr>
          <a:xfrm>
            <a:off x="-69850" y="4416211"/>
            <a:ext cx="2528983" cy="2528983"/>
          </a:xfrm>
          <a:custGeom>
            <a:avLst/>
            <a:gdLst/>
            <a:ahLst/>
            <a:cxnLst/>
            <a:rect l="l" t="t" r="r" b="b"/>
            <a:pathLst>
              <a:path w="5057966" h="5057966">
                <a:moveTo>
                  <a:pt x="0" y="0"/>
                </a:moveTo>
                <a:lnTo>
                  <a:pt x="5057966" y="0"/>
                </a:lnTo>
                <a:lnTo>
                  <a:pt x="5057966" y="5057966"/>
                </a:lnTo>
                <a:lnTo>
                  <a:pt x="0" y="5057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7CAA01F-BDB3-68AA-A443-DBF78C595FFE}"/>
              </a:ext>
            </a:extLst>
          </p:cNvPr>
          <p:cNvSpPr/>
          <p:nvPr/>
        </p:nvSpPr>
        <p:spPr>
          <a:xfrm>
            <a:off x="12577" y="5637019"/>
            <a:ext cx="1600841" cy="1135671"/>
          </a:xfrm>
          <a:custGeom>
            <a:avLst/>
            <a:gdLst/>
            <a:ahLst/>
            <a:cxnLst/>
            <a:rect l="l" t="t" r="r" b="b"/>
            <a:pathLst>
              <a:path w="3201682" h="2271341">
                <a:moveTo>
                  <a:pt x="0" y="0"/>
                </a:moveTo>
                <a:lnTo>
                  <a:pt x="3201682" y="0"/>
                </a:lnTo>
                <a:lnTo>
                  <a:pt x="3201682" y="2271341"/>
                </a:lnTo>
                <a:lnTo>
                  <a:pt x="0" y="22713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id="{0ACC8C80-0CF4-8121-D1C6-139FB3E7C75C}"/>
              </a:ext>
            </a:extLst>
          </p:cNvPr>
          <p:cNvSpPr txBox="1"/>
          <p:nvPr/>
        </p:nvSpPr>
        <p:spPr>
          <a:xfrm>
            <a:off x="438150" y="525315"/>
            <a:ext cx="9401175" cy="3680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27"/>
              </a:lnSpc>
            </a:pPr>
            <a:r>
              <a:rPr lang="en-US" sz="3200" b="1" dirty="0">
                <a:solidFill>
                  <a:schemeClr val="tx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Evaluation and alignment of a RAG system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5BBD860-7429-26CD-0827-F604D4D45FB9}"/>
              </a:ext>
            </a:extLst>
          </p:cNvPr>
          <p:cNvSpPr txBox="1"/>
          <p:nvPr/>
        </p:nvSpPr>
        <p:spPr>
          <a:xfrm>
            <a:off x="438151" y="1854567"/>
            <a:ext cx="8417092" cy="4299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 dirty="0"/>
              <a:t>Are the right documents retrieved, or is important information missing?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 dirty="0"/>
              <a:t>Is the answer supported by the context, or is it hallucinated?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 dirty="0"/>
              <a:t>Is the problem in the retrieval or in the model?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 dirty="0"/>
              <a:t>Where exactly is my RAG system broken?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e-DE" sz="18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 dirty="0"/>
              <a:t>How do I prevent unwanted or poor answers?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 dirty="0"/>
              <a:t>How do you evaluate and optimize a model in areas without clear success metrics?</a:t>
            </a:r>
          </a:p>
          <a:p>
            <a:pPr>
              <a:lnSpc>
                <a:spcPct val="200000"/>
              </a:lnSpc>
            </a:pPr>
            <a:endParaRPr lang="de-DE" sz="1800" dirty="0"/>
          </a:p>
        </p:txBody>
      </p:sp>
      <p:sp>
        <p:nvSpPr>
          <p:cNvPr id="13" name="Eckige Klammer rechts 12">
            <a:extLst>
              <a:ext uri="{FF2B5EF4-FFF2-40B4-BE49-F238E27FC236}">
                <a16:creationId xmlns:a16="http://schemas.microsoft.com/office/drawing/2014/main" id="{9D4F769E-65B2-1C12-2006-7A0018EBCF0A}"/>
              </a:ext>
            </a:extLst>
          </p:cNvPr>
          <p:cNvSpPr/>
          <p:nvPr/>
        </p:nvSpPr>
        <p:spPr>
          <a:xfrm>
            <a:off x="8855243" y="1854567"/>
            <a:ext cx="204537" cy="2224138"/>
          </a:xfrm>
          <a:prstGeom prst="rightBracket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Eckige Klammer rechts 18">
            <a:extLst>
              <a:ext uri="{FF2B5EF4-FFF2-40B4-BE49-F238E27FC236}">
                <a16:creationId xmlns:a16="http://schemas.microsoft.com/office/drawing/2014/main" id="{0ECEBEDA-4497-9228-F4FD-F00B9FC743AF}"/>
              </a:ext>
            </a:extLst>
          </p:cNvPr>
          <p:cNvSpPr/>
          <p:nvPr/>
        </p:nvSpPr>
        <p:spPr>
          <a:xfrm>
            <a:off x="8855243" y="4259178"/>
            <a:ext cx="204537" cy="1117065"/>
          </a:xfrm>
          <a:prstGeom prst="rightBracket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06577C05-D965-CC07-7582-54AA30EA7E7A}"/>
              </a:ext>
            </a:extLst>
          </p:cNvPr>
          <p:cNvSpPr txBox="1"/>
          <p:nvPr/>
        </p:nvSpPr>
        <p:spPr>
          <a:xfrm>
            <a:off x="9280817" y="2703765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800" dirty="0">
                <a:solidFill>
                  <a:srgbClr val="AF0333"/>
                </a:solidFill>
              </a:rPr>
              <a:t>Evaluation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C7E9D2B8-A118-265C-5374-9C2E8AB66D7E}"/>
              </a:ext>
            </a:extLst>
          </p:cNvPr>
          <p:cNvSpPr txBox="1"/>
          <p:nvPr/>
        </p:nvSpPr>
        <p:spPr>
          <a:xfrm>
            <a:off x="9280817" y="4600877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800" dirty="0">
                <a:solidFill>
                  <a:srgbClr val="AF0333"/>
                </a:solidFill>
                <a:highlight>
                  <a:srgbClr val="FFFF00"/>
                </a:highlight>
              </a:rPr>
              <a:t>Alignment</a:t>
            </a:r>
          </a:p>
        </p:txBody>
      </p:sp>
      <p:cxnSp>
        <p:nvCxnSpPr>
          <p:cNvPr id="28" name="Gerade Verbindung 27">
            <a:extLst>
              <a:ext uri="{FF2B5EF4-FFF2-40B4-BE49-F238E27FC236}">
                <a16:creationId xmlns:a16="http://schemas.microsoft.com/office/drawing/2014/main" id="{17E81563-DF77-D6D5-16F6-4C7363D4422B}"/>
              </a:ext>
            </a:extLst>
          </p:cNvPr>
          <p:cNvCxnSpPr/>
          <p:nvPr/>
        </p:nvCxnSpPr>
        <p:spPr>
          <a:xfrm>
            <a:off x="438150" y="3928810"/>
            <a:ext cx="8236618" cy="0"/>
          </a:xfrm>
          <a:prstGeom prst="line">
            <a:avLst/>
          </a:prstGeom>
          <a:ln w="285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8415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BA5E5-319E-A28C-D4CA-D8D1776A0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1A3DCC96-F06A-28AE-9697-DAA895BB5A75}"/>
              </a:ext>
            </a:extLst>
          </p:cNvPr>
          <p:cNvSpPr/>
          <p:nvPr/>
        </p:nvSpPr>
        <p:spPr>
          <a:xfrm>
            <a:off x="-69850" y="4416211"/>
            <a:ext cx="2528983" cy="2528983"/>
          </a:xfrm>
          <a:custGeom>
            <a:avLst/>
            <a:gdLst/>
            <a:ahLst/>
            <a:cxnLst/>
            <a:rect l="l" t="t" r="r" b="b"/>
            <a:pathLst>
              <a:path w="5057966" h="5057966">
                <a:moveTo>
                  <a:pt x="0" y="0"/>
                </a:moveTo>
                <a:lnTo>
                  <a:pt x="5057966" y="0"/>
                </a:lnTo>
                <a:lnTo>
                  <a:pt x="5057966" y="5057966"/>
                </a:lnTo>
                <a:lnTo>
                  <a:pt x="0" y="5057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2AE1692-4BBC-1407-F0E4-6A514B744866}"/>
              </a:ext>
            </a:extLst>
          </p:cNvPr>
          <p:cNvSpPr/>
          <p:nvPr/>
        </p:nvSpPr>
        <p:spPr>
          <a:xfrm>
            <a:off x="12577" y="5637019"/>
            <a:ext cx="1600841" cy="1135671"/>
          </a:xfrm>
          <a:custGeom>
            <a:avLst/>
            <a:gdLst/>
            <a:ahLst/>
            <a:cxnLst/>
            <a:rect l="l" t="t" r="r" b="b"/>
            <a:pathLst>
              <a:path w="3201682" h="2271341">
                <a:moveTo>
                  <a:pt x="0" y="0"/>
                </a:moveTo>
                <a:lnTo>
                  <a:pt x="3201682" y="0"/>
                </a:lnTo>
                <a:lnTo>
                  <a:pt x="3201682" y="2271341"/>
                </a:lnTo>
                <a:lnTo>
                  <a:pt x="0" y="22713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id="{1CEA9A1E-EDB9-9840-240E-72C2B23DA642}"/>
              </a:ext>
            </a:extLst>
          </p:cNvPr>
          <p:cNvSpPr txBox="1"/>
          <p:nvPr/>
        </p:nvSpPr>
        <p:spPr>
          <a:xfrm>
            <a:off x="438150" y="525315"/>
            <a:ext cx="9401175" cy="3680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27"/>
              </a:lnSpc>
            </a:pPr>
            <a:r>
              <a:rPr lang="en-US" sz="3200" b="1" dirty="0">
                <a:solidFill>
                  <a:schemeClr val="tx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RLHF &amp; RLAIF – </a:t>
            </a:r>
            <a:r>
              <a:rPr lang="en-US" sz="3200" b="1" dirty="0" err="1">
                <a:solidFill>
                  <a:schemeClr val="tx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Overview</a:t>
            </a:r>
            <a:endParaRPr lang="en-US" sz="3200" b="1" dirty="0">
              <a:solidFill>
                <a:schemeClr val="tx1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7CB1D90-62C8-5B72-EB83-3279C9E55B25}"/>
              </a:ext>
            </a:extLst>
          </p:cNvPr>
          <p:cNvSpPr txBox="1"/>
          <p:nvPr/>
        </p:nvSpPr>
        <p:spPr>
          <a:xfrm>
            <a:off x="438151" y="1854567"/>
            <a:ext cx="11419552" cy="4299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1800" b="1" dirty="0"/>
              <a:t>RLHF = </a:t>
            </a:r>
            <a:r>
              <a:rPr lang="de-DE" sz="1800" dirty="0"/>
              <a:t>Reinforcement Learning </a:t>
            </a:r>
            <a:r>
              <a:rPr lang="de-DE" sz="1800" dirty="0" err="1"/>
              <a:t>with</a:t>
            </a:r>
            <a:r>
              <a:rPr lang="de-DE" sz="1800" dirty="0"/>
              <a:t> human </a:t>
            </a:r>
            <a:r>
              <a:rPr lang="de-DE" sz="1800" dirty="0" err="1"/>
              <a:t>feedback</a:t>
            </a:r>
            <a:endParaRPr lang="de-DE" sz="1800" b="1" dirty="0"/>
          </a:p>
          <a:p>
            <a:pPr>
              <a:lnSpc>
                <a:spcPct val="150000"/>
              </a:lnSpc>
            </a:pPr>
            <a:r>
              <a:rPr lang="de-DE" sz="1800" b="1" dirty="0"/>
              <a:t>RLAIF = </a:t>
            </a:r>
            <a:r>
              <a:rPr lang="de-DE" sz="1800" dirty="0"/>
              <a:t>Reinforcement Learning </a:t>
            </a:r>
            <a:r>
              <a:rPr lang="de-DE" sz="1800" dirty="0" err="1"/>
              <a:t>with</a:t>
            </a:r>
            <a:r>
              <a:rPr lang="de-DE" sz="1800" dirty="0"/>
              <a:t> AI </a:t>
            </a:r>
            <a:r>
              <a:rPr lang="de-DE" sz="1800" dirty="0" err="1"/>
              <a:t>feedback</a:t>
            </a:r>
            <a:endParaRPr lang="de-DE" sz="18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e-DE" sz="18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 dirty="0"/>
              <a:t>What: method for </a:t>
            </a:r>
            <a:r>
              <a:rPr lang="de-DE" sz="1800" b="1" dirty="0"/>
              <a:t>aligning</a:t>
            </a:r>
            <a:r>
              <a:rPr lang="de-DE" sz="1800" dirty="0"/>
              <a:t> model behavior</a:t>
            </a:r>
          </a:p>
          <a:p>
            <a:pPr>
              <a:lnSpc>
                <a:spcPct val="150000"/>
              </a:lnSpc>
            </a:pPr>
            <a:endParaRPr lang="de-DE" sz="18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 dirty="0"/>
              <a:t>Goal: produce better answers, adapt to human preferences, reduce unwanted behavior</a:t>
            </a:r>
          </a:p>
          <a:p>
            <a:pPr>
              <a:lnSpc>
                <a:spcPct val="150000"/>
              </a:lnSpc>
            </a:pPr>
            <a:endParaRPr lang="de-DE" sz="18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 dirty="0"/>
              <a:t>Where it fits: part of LLM training</a:t>
            </a:r>
          </a:p>
          <a:p>
            <a:pPr>
              <a:lnSpc>
                <a:spcPct val="200000"/>
              </a:lnSpc>
            </a:pPr>
            <a:endParaRPr lang="de-DE" sz="1800" dirty="0"/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4C7C8ABF-6536-59D0-8F95-CBF25D797D44}"/>
              </a:ext>
            </a:extLst>
          </p:cNvPr>
          <p:cNvGrpSpPr/>
          <p:nvPr/>
        </p:nvGrpSpPr>
        <p:grpSpPr>
          <a:xfrm>
            <a:off x="5437911" y="4815346"/>
            <a:ext cx="6602226" cy="1156300"/>
            <a:chOff x="182881" y="1346980"/>
            <a:chExt cx="11873132" cy="2082020"/>
          </a:xfrm>
        </p:grpSpPr>
        <p:sp>
          <p:nvSpPr>
            <p:cNvPr id="9" name="Abgerundetes Rechteck 8">
              <a:extLst>
                <a:ext uri="{FF2B5EF4-FFF2-40B4-BE49-F238E27FC236}">
                  <a16:creationId xmlns:a16="http://schemas.microsoft.com/office/drawing/2014/main" id="{DBABC521-2867-F347-15AA-92F7469025BB}"/>
                </a:ext>
              </a:extLst>
            </p:cNvPr>
            <p:cNvSpPr/>
            <p:nvPr/>
          </p:nvSpPr>
          <p:spPr>
            <a:xfrm>
              <a:off x="182881" y="1420837"/>
              <a:ext cx="11873132" cy="2008163"/>
            </a:xfrm>
            <a:prstGeom prst="roundRect">
              <a:avLst/>
            </a:prstGeom>
            <a:solidFill>
              <a:schemeClr val="accent1">
                <a:alpha val="22518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grpSp>
          <p:nvGrpSpPr>
            <p:cNvPr id="10" name="Gruppieren 9">
              <a:extLst>
                <a:ext uri="{FF2B5EF4-FFF2-40B4-BE49-F238E27FC236}">
                  <a16:creationId xmlns:a16="http://schemas.microsoft.com/office/drawing/2014/main" id="{901C5AD3-1AF0-25AD-F40F-FC1DFECA19DE}"/>
                </a:ext>
              </a:extLst>
            </p:cNvPr>
            <p:cNvGrpSpPr/>
            <p:nvPr/>
          </p:nvGrpSpPr>
          <p:grpSpPr>
            <a:xfrm>
              <a:off x="322939" y="1791270"/>
              <a:ext cx="11580171" cy="1343025"/>
              <a:chOff x="275604" y="1809329"/>
              <a:chExt cx="11580171" cy="1343025"/>
            </a:xfrm>
          </p:grpSpPr>
          <p:sp>
            <p:nvSpPr>
              <p:cNvPr id="12" name="Rectangle: Rounded Corners 4">
                <a:extLst>
                  <a:ext uri="{FF2B5EF4-FFF2-40B4-BE49-F238E27FC236}">
                    <a16:creationId xmlns:a16="http://schemas.microsoft.com/office/drawing/2014/main" id="{577A0309-E4FB-96C9-6183-97C75DA5B643}"/>
                  </a:ext>
                </a:extLst>
              </p:cNvPr>
              <p:cNvSpPr/>
              <p:nvPr/>
            </p:nvSpPr>
            <p:spPr>
              <a:xfrm>
                <a:off x="2400300" y="2056026"/>
                <a:ext cx="1552575" cy="805815"/>
              </a:xfrm>
              <a:prstGeom prst="round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900" dirty="0">
                    <a:solidFill>
                      <a:schemeClr val="tx1">
                        <a:lumMod val="7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Data Filtering &amp; cleaning</a:t>
                </a:r>
                <a:endParaRPr lang="en-GB" sz="700" dirty="0">
                  <a:solidFill>
                    <a:schemeClr val="tx1">
                      <a:lumMod val="7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  <p:sp>
            <p:nvSpPr>
              <p:cNvPr id="13" name="Flowchart: Multidocument 11">
                <a:extLst>
                  <a:ext uri="{FF2B5EF4-FFF2-40B4-BE49-F238E27FC236}">
                    <a16:creationId xmlns:a16="http://schemas.microsoft.com/office/drawing/2014/main" id="{0B8DBD94-8C75-724B-9E3B-6EA601F2F0CA}"/>
                  </a:ext>
                </a:extLst>
              </p:cNvPr>
              <p:cNvSpPr/>
              <p:nvPr/>
            </p:nvSpPr>
            <p:spPr>
              <a:xfrm>
                <a:off x="275604" y="1809329"/>
                <a:ext cx="1552575" cy="1343025"/>
              </a:xfrm>
              <a:prstGeom prst="flowChartMultidocumen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900" dirty="0">
                    <a:solidFill>
                      <a:schemeClr val="tx1">
                        <a:lumMod val="7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Docs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1D9ADFFF-0BE7-36F0-672D-B39C5ADDB406}"/>
                  </a:ext>
                </a:extLst>
              </p:cNvPr>
              <p:cNvCxnSpPr>
                <a:cxnSpLocks/>
                <a:endCxn id="12" idx="1"/>
              </p:cNvCxnSpPr>
              <p:nvPr/>
            </p:nvCxnSpPr>
            <p:spPr>
              <a:xfrm>
                <a:off x="1990724" y="2458934"/>
                <a:ext cx="396000" cy="0"/>
              </a:xfrm>
              <a:prstGeom prst="straightConnector1">
                <a:avLst/>
              </a:prstGeom>
              <a:ln w="76200"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F3EC60F0-6DE7-C2EE-B80C-53E4CF031F1B}"/>
                  </a:ext>
                </a:extLst>
              </p:cNvPr>
              <p:cNvCxnSpPr/>
              <p:nvPr/>
            </p:nvCxnSpPr>
            <p:spPr>
              <a:xfrm>
                <a:off x="3966450" y="2458934"/>
                <a:ext cx="396000" cy="0"/>
              </a:xfrm>
              <a:prstGeom prst="straightConnector1">
                <a:avLst/>
              </a:prstGeom>
              <a:ln w="76200"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9F704F8-9C3F-A1DB-A759-CA6857B7AE5F}"/>
                  </a:ext>
                </a:extLst>
              </p:cNvPr>
              <p:cNvCxnSpPr/>
              <p:nvPr/>
            </p:nvCxnSpPr>
            <p:spPr>
              <a:xfrm>
                <a:off x="5928600" y="2458934"/>
                <a:ext cx="396000" cy="0"/>
              </a:xfrm>
              <a:prstGeom prst="straightConnector1">
                <a:avLst/>
              </a:prstGeom>
              <a:ln w="76200"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F9FE5FCA-054B-44EE-DFBE-4BADB86C0553}"/>
                  </a:ext>
                </a:extLst>
              </p:cNvPr>
              <p:cNvCxnSpPr/>
              <p:nvPr/>
            </p:nvCxnSpPr>
            <p:spPr>
              <a:xfrm>
                <a:off x="7890750" y="2480842"/>
                <a:ext cx="396000" cy="0"/>
              </a:xfrm>
              <a:prstGeom prst="straightConnector1">
                <a:avLst/>
              </a:prstGeom>
              <a:ln w="76200"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" name="Rectangle: Rounded Corners 4">
                <a:extLst>
                  <a:ext uri="{FF2B5EF4-FFF2-40B4-BE49-F238E27FC236}">
                    <a16:creationId xmlns:a16="http://schemas.microsoft.com/office/drawing/2014/main" id="{3F67F258-88C0-F852-C57F-85BB6CF2AF36}"/>
                  </a:ext>
                </a:extLst>
              </p:cNvPr>
              <p:cNvSpPr/>
              <p:nvPr/>
            </p:nvSpPr>
            <p:spPr>
              <a:xfrm>
                <a:off x="4376025" y="2077933"/>
                <a:ext cx="1552575" cy="805815"/>
              </a:xfrm>
              <a:prstGeom prst="round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700" dirty="0">
                    <a:solidFill>
                      <a:schemeClr val="tx1">
                        <a:lumMod val="7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Tokenization</a:t>
                </a:r>
                <a:endParaRPr lang="en-GB" sz="600" dirty="0">
                  <a:solidFill>
                    <a:schemeClr val="tx1">
                      <a:lumMod val="7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  <p:sp>
            <p:nvSpPr>
              <p:cNvPr id="19" name="Rectangle: Rounded Corners 4">
                <a:extLst>
                  <a:ext uri="{FF2B5EF4-FFF2-40B4-BE49-F238E27FC236}">
                    <a16:creationId xmlns:a16="http://schemas.microsoft.com/office/drawing/2014/main" id="{BBEAC3F3-1474-FAF3-3302-1638AA228B08}"/>
                  </a:ext>
                </a:extLst>
              </p:cNvPr>
              <p:cNvSpPr/>
              <p:nvPr/>
            </p:nvSpPr>
            <p:spPr>
              <a:xfrm>
                <a:off x="6351750" y="2077932"/>
                <a:ext cx="1552575" cy="805815"/>
              </a:xfrm>
              <a:prstGeom prst="round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800" dirty="0">
                    <a:solidFill>
                      <a:schemeClr val="tx1">
                        <a:lumMod val="7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Pretraining</a:t>
                </a:r>
                <a:br>
                  <a:rPr lang="en-GB" sz="800" dirty="0">
                    <a:solidFill>
                      <a:schemeClr val="tx1">
                        <a:lumMod val="7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GB" sz="800" dirty="0">
                    <a:solidFill>
                      <a:schemeClr val="tx1">
                        <a:lumMod val="7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(Next Token Prediction)</a:t>
                </a:r>
                <a:endParaRPr lang="en-GB" sz="600" dirty="0">
                  <a:solidFill>
                    <a:schemeClr val="tx1">
                      <a:lumMod val="7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  <p:sp>
            <p:nvSpPr>
              <p:cNvPr id="20" name="Rectangle: Rounded Corners 4">
                <a:extLst>
                  <a:ext uri="{FF2B5EF4-FFF2-40B4-BE49-F238E27FC236}">
                    <a16:creationId xmlns:a16="http://schemas.microsoft.com/office/drawing/2014/main" id="{E72E183E-6556-8862-B169-676621384FA8}"/>
                  </a:ext>
                </a:extLst>
              </p:cNvPr>
              <p:cNvSpPr/>
              <p:nvPr/>
            </p:nvSpPr>
            <p:spPr>
              <a:xfrm>
                <a:off x="8327475" y="2077932"/>
                <a:ext cx="1552575" cy="805815"/>
              </a:xfrm>
              <a:prstGeom prst="round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800" dirty="0">
                    <a:solidFill>
                      <a:schemeClr val="tx1">
                        <a:lumMod val="7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Supervised Fine Tuning</a:t>
                </a:r>
                <a:endParaRPr lang="en-GB" sz="600" dirty="0">
                  <a:solidFill>
                    <a:schemeClr val="tx1">
                      <a:lumMod val="7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  <p:sp>
            <p:nvSpPr>
              <p:cNvPr id="22" name="Rectangle: Rounded Corners 4">
                <a:extLst>
                  <a:ext uri="{FF2B5EF4-FFF2-40B4-BE49-F238E27FC236}">
                    <a16:creationId xmlns:a16="http://schemas.microsoft.com/office/drawing/2014/main" id="{D9455BF1-5B83-7E68-5F9C-65D6E2D5AFF2}"/>
                  </a:ext>
                </a:extLst>
              </p:cNvPr>
              <p:cNvSpPr/>
              <p:nvPr/>
            </p:nvSpPr>
            <p:spPr>
              <a:xfrm>
                <a:off x="10303200" y="2090261"/>
                <a:ext cx="1552575" cy="805815"/>
              </a:xfrm>
              <a:prstGeom prst="roundRect">
                <a:avLst/>
              </a:prstGeom>
              <a:solidFill>
                <a:srgbClr val="75B3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>
                        <a:lumMod val="7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RLHF/RLAIF</a:t>
                </a:r>
                <a:endParaRPr lang="en-GB" sz="1100" dirty="0">
                  <a:solidFill>
                    <a:schemeClr val="tx1">
                      <a:lumMod val="7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  <p:cxnSp>
            <p:nvCxnSpPr>
              <p:cNvPr id="23" name="Straight Arrow Connector 16">
                <a:extLst>
                  <a:ext uri="{FF2B5EF4-FFF2-40B4-BE49-F238E27FC236}">
                    <a16:creationId xmlns:a16="http://schemas.microsoft.com/office/drawing/2014/main" id="{F95AC23A-2767-6A4B-9B9F-FA778201BE21}"/>
                  </a:ext>
                </a:extLst>
              </p:cNvPr>
              <p:cNvCxnSpPr/>
              <p:nvPr/>
            </p:nvCxnSpPr>
            <p:spPr>
              <a:xfrm>
                <a:off x="9880050" y="2480839"/>
                <a:ext cx="396000" cy="0"/>
              </a:xfrm>
              <a:prstGeom prst="straightConnector1">
                <a:avLst/>
              </a:prstGeom>
              <a:ln w="76200"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58A9CE96-09B6-3085-0365-E7A9FA0775AE}"/>
                </a:ext>
              </a:extLst>
            </p:cNvPr>
            <p:cNvSpPr txBox="1"/>
            <p:nvPr/>
          </p:nvSpPr>
          <p:spPr>
            <a:xfrm>
              <a:off x="4633644" y="1346980"/>
              <a:ext cx="1531188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800" dirty="0">
                  <a:solidFill>
                    <a:srgbClr val="AF0333"/>
                  </a:solidFill>
                </a:rPr>
                <a:t>Training LLM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4382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73CD0-3624-007A-E43E-CE284407D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EEDD018B-69F2-7E13-6C32-468C7D39B7EE}"/>
              </a:ext>
            </a:extLst>
          </p:cNvPr>
          <p:cNvSpPr/>
          <p:nvPr/>
        </p:nvSpPr>
        <p:spPr>
          <a:xfrm>
            <a:off x="-69850" y="4416211"/>
            <a:ext cx="2528983" cy="2528983"/>
          </a:xfrm>
          <a:custGeom>
            <a:avLst/>
            <a:gdLst/>
            <a:ahLst/>
            <a:cxnLst/>
            <a:rect l="l" t="t" r="r" b="b"/>
            <a:pathLst>
              <a:path w="5057966" h="5057966">
                <a:moveTo>
                  <a:pt x="0" y="0"/>
                </a:moveTo>
                <a:lnTo>
                  <a:pt x="5057966" y="0"/>
                </a:lnTo>
                <a:lnTo>
                  <a:pt x="5057966" y="5057966"/>
                </a:lnTo>
                <a:lnTo>
                  <a:pt x="0" y="5057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7526010-BE62-97FC-243A-78C1FD887E48}"/>
              </a:ext>
            </a:extLst>
          </p:cNvPr>
          <p:cNvSpPr/>
          <p:nvPr/>
        </p:nvSpPr>
        <p:spPr>
          <a:xfrm>
            <a:off x="12577" y="5637019"/>
            <a:ext cx="1600841" cy="1135671"/>
          </a:xfrm>
          <a:custGeom>
            <a:avLst/>
            <a:gdLst/>
            <a:ahLst/>
            <a:cxnLst/>
            <a:rect l="l" t="t" r="r" b="b"/>
            <a:pathLst>
              <a:path w="3201682" h="2271341">
                <a:moveTo>
                  <a:pt x="0" y="0"/>
                </a:moveTo>
                <a:lnTo>
                  <a:pt x="3201682" y="0"/>
                </a:lnTo>
                <a:lnTo>
                  <a:pt x="3201682" y="2271341"/>
                </a:lnTo>
                <a:lnTo>
                  <a:pt x="0" y="22713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id="{D09D9F78-D847-061A-9946-937A55929ECA}"/>
              </a:ext>
            </a:extLst>
          </p:cNvPr>
          <p:cNvSpPr txBox="1"/>
          <p:nvPr/>
        </p:nvSpPr>
        <p:spPr>
          <a:xfrm>
            <a:off x="438150" y="525315"/>
            <a:ext cx="9401175" cy="3680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27"/>
              </a:lnSpc>
            </a:pPr>
            <a:r>
              <a:rPr lang="en-US" sz="3200" b="1" dirty="0">
                <a:solidFill>
                  <a:schemeClr val="tx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RLHF and RLAIF – How it works</a:t>
            </a:r>
            <a:endParaRPr lang="en-US" sz="3200" dirty="0">
              <a:solidFill>
                <a:schemeClr val="tx1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pic>
        <p:nvPicPr>
          <p:cNvPr id="6146" name="Picture 2" descr="Was ist RLHF? – Reinforcement Learning durch menschliches Feedback erklärt  – AWS">
            <a:extLst>
              <a:ext uri="{FF2B5EF4-FFF2-40B4-BE49-F238E27FC236}">
                <a16:creationId xmlns:a16="http://schemas.microsoft.com/office/drawing/2014/main" id="{F1CE18A6-B38F-D848-AF19-20C42B991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" y="1134166"/>
            <a:ext cx="10036629" cy="4458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9128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3B1B1-CC99-D6E8-0A3B-FAA52AAA0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3BC930E3-E9CA-A5E9-C80D-FD985AE8D2EF}"/>
              </a:ext>
            </a:extLst>
          </p:cNvPr>
          <p:cNvSpPr/>
          <p:nvPr/>
        </p:nvSpPr>
        <p:spPr>
          <a:xfrm>
            <a:off x="-69850" y="4416211"/>
            <a:ext cx="2528983" cy="2528983"/>
          </a:xfrm>
          <a:custGeom>
            <a:avLst/>
            <a:gdLst/>
            <a:ahLst/>
            <a:cxnLst/>
            <a:rect l="l" t="t" r="r" b="b"/>
            <a:pathLst>
              <a:path w="5057966" h="5057966">
                <a:moveTo>
                  <a:pt x="0" y="0"/>
                </a:moveTo>
                <a:lnTo>
                  <a:pt x="5057966" y="0"/>
                </a:lnTo>
                <a:lnTo>
                  <a:pt x="5057966" y="5057966"/>
                </a:lnTo>
                <a:lnTo>
                  <a:pt x="0" y="5057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7242475-98C5-E977-11BA-8324979F1254}"/>
              </a:ext>
            </a:extLst>
          </p:cNvPr>
          <p:cNvSpPr/>
          <p:nvPr/>
        </p:nvSpPr>
        <p:spPr>
          <a:xfrm>
            <a:off x="12577" y="5637019"/>
            <a:ext cx="1600841" cy="1135671"/>
          </a:xfrm>
          <a:custGeom>
            <a:avLst/>
            <a:gdLst/>
            <a:ahLst/>
            <a:cxnLst/>
            <a:rect l="l" t="t" r="r" b="b"/>
            <a:pathLst>
              <a:path w="3201682" h="2271341">
                <a:moveTo>
                  <a:pt x="0" y="0"/>
                </a:moveTo>
                <a:lnTo>
                  <a:pt x="3201682" y="0"/>
                </a:lnTo>
                <a:lnTo>
                  <a:pt x="3201682" y="2271341"/>
                </a:lnTo>
                <a:lnTo>
                  <a:pt x="0" y="22713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id="{C661323B-F393-22EF-9399-361938B3CAD5}"/>
              </a:ext>
            </a:extLst>
          </p:cNvPr>
          <p:cNvSpPr txBox="1"/>
          <p:nvPr/>
        </p:nvSpPr>
        <p:spPr>
          <a:xfrm>
            <a:off x="438150" y="525315"/>
            <a:ext cx="9401175" cy="3680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27"/>
              </a:lnSpc>
            </a:pPr>
            <a:r>
              <a:rPr lang="en-US" sz="3200" b="1" dirty="0">
                <a:solidFill>
                  <a:schemeClr val="tx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RLHF &amp; RLAIF – </a:t>
            </a:r>
            <a:r>
              <a:rPr lang="en-US" sz="3200" b="1" dirty="0" err="1">
                <a:solidFill>
                  <a:schemeClr val="tx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Comparison</a:t>
            </a:r>
            <a:endParaRPr lang="en-US" sz="3200" b="1" dirty="0">
              <a:solidFill>
                <a:schemeClr val="tx1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EE4676C9-0316-DACD-3AF6-35295F3A31CA}"/>
              </a:ext>
            </a:extLst>
          </p:cNvPr>
          <p:cNvGraphicFramePr>
            <a:graphicFrameLocks noGrp="1"/>
          </p:cNvGraphicFramePr>
          <p:nvPr/>
        </p:nvGraphicFramePr>
        <p:xfrm>
          <a:off x="438150" y="1536653"/>
          <a:ext cx="11187793" cy="311573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86593">
                  <a:extLst>
                    <a:ext uri="{9D8B030D-6E8A-4147-A177-3AD203B41FA5}">
                      <a16:colId xmlns:a16="http://schemas.microsoft.com/office/drawing/2014/main" val="514995209"/>
                    </a:ext>
                  </a:extLst>
                </a:gridCol>
                <a:gridCol w="4767943">
                  <a:extLst>
                    <a:ext uri="{9D8B030D-6E8A-4147-A177-3AD203B41FA5}">
                      <a16:colId xmlns:a16="http://schemas.microsoft.com/office/drawing/2014/main" val="2717487641"/>
                    </a:ext>
                  </a:extLst>
                </a:gridCol>
                <a:gridCol w="4833257">
                  <a:extLst>
                    <a:ext uri="{9D8B030D-6E8A-4147-A177-3AD203B41FA5}">
                      <a16:colId xmlns:a16="http://schemas.microsoft.com/office/drawing/2014/main" val="26754996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RLHF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RLAIF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0395422"/>
                  </a:ext>
                </a:extLst>
              </a:tr>
              <a:tr h="372534">
                <a:tc>
                  <a:txBody>
                    <a:bodyPr/>
                    <a:lstStyle/>
                    <a:p>
                      <a:r>
                        <a:rPr lang="de-DE" dirty="0"/>
                        <a:t>Feedback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Rating by humans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Rating by an LLM (AI as a judge)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5687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Very high, close to human preferences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Depends on quality &amp; prompt of the judge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6776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Scalability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Limited by human 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Scales well through automation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1150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High due to time &amp; effort of human raters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High due to computing resources, but scales better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4557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Human biases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Bias of the judge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0422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High-quality, critical alignment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Large data volumes &amp; automated training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577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Optimization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PPO, DPO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PPO, DPO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83094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3859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B1297C-CBDC-F012-6607-BB90D1C93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00C1EAF-2A4A-05D1-121C-8D65329D1F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smtClean="0"/>
              <a:pPr/>
              <a:t>51</a:t>
            </a:fld>
            <a:endParaRPr lang="de-DE" dirty="0"/>
          </a:p>
        </p:txBody>
      </p:sp>
      <p:pic>
        <p:nvPicPr>
          <p:cNvPr id="7" name="Graphic 6" descr="Monitor outline">
            <a:extLst>
              <a:ext uri="{FF2B5EF4-FFF2-40B4-BE49-F238E27FC236}">
                <a16:creationId xmlns:a16="http://schemas.microsoft.com/office/drawing/2014/main" id="{16E04E8B-7F65-8DE1-DF39-3209E33F73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32913" y="1450073"/>
            <a:ext cx="4126173" cy="4126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92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D41D1A-9F1A-4D31-9842-B95D5FD3DC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52</a:t>
            </a:fld>
            <a:endParaRPr lang="de-D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240646-332E-4066-9C1A-62F283A095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993748" y="1326748"/>
            <a:ext cx="4204504" cy="4204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834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7874000" y="3650370"/>
            <a:ext cx="1901479" cy="3073400"/>
          </a:xfrm>
          <a:custGeom>
            <a:avLst/>
            <a:gdLst/>
            <a:ahLst/>
            <a:cxnLst/>
            <a:rect l="l" t="t" r="r" b="b"/>
            <a:pathLst>
              <a:path w="4071418" h="6566803">
                <a:moveTo>
                  <a:pt x="0" y="0"/>
                </a:moveTo>
                <a:lnTo>
                  <a:pt x="4071418" y="0"/>
                </a:lnTo>
                <a:lnTo>
                  <a:pt x="4071418" y="6566803"/>
                </a:lnTo>
                <a:lnTo>
                  <a:pt x="0" y="65668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TextBox 8"/>
          <p:cNvSpPr txBox="1"/>
          <p:nvPr/>
        </p:nvSpPr>
        <p:spPr>
          <a:xfrm>
            <a:off x="685800" y="711339"/>
            <a:ext cx="2063800" cy="908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38"/>
              </a:lnSpc>
            </a:pPr>
            <a:r>
              <a:rPr lang="en-US" sz="2670" u="sng" dirty="0">
                <a:solidFill>
                  <a:srgbClr val="DC640D"/>
                </a:solidFill>
                <a:latin typeface="Codec Pro Bold"/>
              </a:rPr>
              <a:t>kisz@hpi.de</a:t>
            </a:r>
            <a:r>
              <a:rPr lang="en-US" sz="2670" dirty="0">
                <a:solidFill>
                  <a:srgbClr val="DC640D"/>
                </a:solidFill>
                <a:latin typeface="Codec Pro Bold"/>
              </a:rPr>
              <a:t>    </a:t>
            </a:r>
            <a:r>
              <a:rPr lang="en-US" sz="2670" u="sng" dirty="0">
                <a:solidFill>
                  <a:srgbClr val="DC640D"/>
                </a:solidFill>
                <a:latin typeface="Codec Pro Bold"/>
              </a:rPr>
              <a:t>hpi.de/</a:t>
            </a:r>
            <a:r>
              <a:rPr lang="en-US" sz="2670" u="sng" dirty="0" err="1">
                <a:solidFill>
                  <a:srgbClr val="DC640D"/>
                </a:solidFill>
                <a:latin typeface="Codec Pro Bold"/>
              </a:rPr>
              <a:t>kisz</a:t>
            </a:r>
            <a:endParaRPr lang="en-US" sz="2670" u="sng" dirty="0">
              <a:solidFill>
                <a:srgbClr val="DC640D"/>
              </a:solidFill>
              <a:latin typeface="Codec Pro Bold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4F368CA3-BE27-4624-9ED8-CEEDBFDA04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10000" y="2589430"/>
            <a:ext cx="2474740" cy="24747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9CC0D7-B76F-42A6-AD50-62C3E3B3A053}"/>
              </a:ext>
            </a:extLst>
          </p:cNvPr>
          <p:cNvSpPr txBox="1"/>
          <p:nvPr/>
        </p:nvSpPr>
        <p:spPr>
          <a:xfrm>
            <a:off x="3810000" y="1684913"/>
            <a:ext cx="2474740" cy="913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667" dirty="0"/>
              <a:t>Your opinion matters!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65C9C3-9987-4D5C-9B42-177262B8064A}"/>
              </a:ext>
            </a:extLst>
          </p:cNvPr>
          <p:cNvSpPr txBox="1"/>
          <p:nvPr/>
        </p:nvSpPr>
        <p:spPr>
          <a:xfrm>
            <a:off x="3810000" y="5064170"/>
            <a:ext cx="2474740" cy="502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333" dirty="0"/>
              <a:t>QR code to the feedback form</a:t>
            </a:r>
          </a:p>
        </p:txBody>
      </p:sp>
    </p:spTree>
    <p:extLst>
      <p:ext uri="{BB962C8B-B14F-4D97-AF65-F5344CB8AC3E}">
        <p14:creationId xmlns:p14="http://schemas.microsoft.com/office/powerpoint/2010/main" val="718220455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NTIMETER_SERIES_ID_KEY" val="ala35bo6akrmxridvkm8ynntmvmcfqy2"/>
  <p:tag name="MENTI_PPT_SLIDE_MAP" val="{&quot;421&quot;:&quot;kn31uvfo3c1j&quot;,&quot;422&quot;:&quot;bocsjtbgawbr&quot;,&quot;423&quot;:&quot;az1gcfxxy1e2&quot;,&quot;424&quot;:&quot;jr6gjyr5yb3t&quot;,&quot;425&quot;:&quot;snqghddqiesm&quot;,&quot;426&quot;:&quot;2mt584dvpvcs&quot;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NTIMETER_QUESTION_ID_KEY" val="kn31uvfo3c1j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NTIMETER_QUESTION_ID_KEY" val="bocsjtbgawb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NTIMETER_QUESTION_ID_KEY" val="az1gcfxxy1e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NTIMETER_QUESTION_ID_KEY" val="jr6gjyr5yb3t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NTIMETER_QUESTION_ID_KEY" val="snqghddqies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NTIMETER_QUESTION_ID_KEY" val="2mt584dvpvcs"/>
</p:tagLst>
</file>

<file path=ppt/theme/theme1.xml><?xml version="1.0" encoding="utf-8"?>
<a:theme xmlns:a="http://schemas.openxmlformats.org/drawingml/2006/main" name="HPI">
  <a:themeElements>
    <a:clrScheme name="Benutzerdefiniert 4">
      <a:dk1>
        <a:srgbClr val="5A6065"/>
      </a:dk1>
      <a:lt1>
        <a:srgbClr val="FFFFFF"/>
      </a:lt1>
      <a:dk2>
        <a:srgbClr val="5A6065"/>
      </a:dk2>
      <a:lt2>
        <a:srgbClr val="FFFFFF"/>
      </a:lt2>
      <a:accent1>
        <a:srgbClr val="B1063A"/>
      </a:accent1>
      <a:accent2>
        <a:srgbClr val="DD6108"/>
      </a:accent2>
      <a:accent3>
        <a:srgbClr val="F6A800"/>
      </a:accent3>
      <a:accent4>
        <a:srgbClr val="DDDFE0"/>
      </a:accent4>
      <a:accent5>
        <a:srgbClr val="007A9E"/>
      </a:accent5>
      <a:accent6>
        <a:srgbClr val="18E979"/>
      </a:accent6>
      <a:hlink>
        <a:srgbClr val="B1063A"/>
      </a:hlink>
      <a:folHlink>
        <a:srgbClr val="B1063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_rels/webextension2.xml.rels><?xml version='1.0' encoding='UTF-8' standalone='yes'?>
<Relationships xmlns="http://schemas.openxmlformats.org/package/2006/relationships"><Relationship Id="rId1" Type="http://schemas.openxmlformats.org/officeDocument/2006/relationships/image" Target="../media/image60.png"/></Relationships>
</file>

<file path=ppt/webextensions/_rels/webextension3.xml.rels><?xml version='1.0' encoding='UTF-8' standalone='yes'?>
<Relationships xmlns="http://schemas.openxmlformats.org/package/2006/relationships"><Relationship Id="rId1" Type="http://schemas.openxmlformats.org/officeDocument/2006/relationships/image" Target="../media/image61.png"/></Relationships>
</file>

<file path=ppt/webextensions/_rels/webextension4.xml.rels><?xml version='1.0' encoding='UTF-8' standalone='yes'?>
<Relationships xmlns="http://schemas.openxmlformats.org/package/2006/relationships"><Relationship Id="rId1" Type="http://schemas.openxmlformats.org/officeDocument/2006/relationships/image" Target="../media/image62.png"/></Relationships>
</file>

<file path=ppt/webextensions/_rels/webextension5.xml.rels><?xml version='1.0' encoding='UTF-8' standalone='yes'?>
<Relationships xmlns="http://schemas.openxmlformats.org/package/2006/relationships"><Relationship Id="rId1" Type="http://schemas.openxmlformats.org/officeDocument/2006/relationships/image" Target="../media/image63.png"/></Relationships>
</file>

<file path=ppt/webextensions/_rels/webextension6.xml.rels><?xml version='1.0' encoding='UTF-8' standalone='yes'?>
<Relationships xmlns="http://schemas.openxmlformats.org/package/2006/relationships"><Relationship Id="rId1" Type="http://schemas.openxmlformats.org/officeDocument/2006/relationships/image" Target="../media/image61.png"/></Relationships>
</file>

<file path=ppt/webextensions/_rels/webextension7.xml.rels><?xml version='1.0' encoding='UTF-8' standalone='yes'?>
<Relationships xmlns="http://schemas.openxmlformats.org/package/2006/relationships"><Relationship Id="rId1" Type="http://schemas.openxmlformats.org/officeDocument/2006/relationships/image" Target="../media/image64.png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2EB649C-6F83-FE4E-9B6D-3B2BF1FAEE91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351f0209-c610-45fd-a5af-bdbeba314775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20D8AEA1-263B-4671-99C8-97A2822BEF27}">
  <we:reference id="wa104379261" version="4.4.0.0" store="en-US" storeType="OMEX"/>
  <we:alternateReferences>
    <we:reference id="WA104379261" version="4.4.0.0" store="" storeType="OMEX"/>
  </we:alternateReferences>
  <we:properties>
    <we:property name="MENTIMETER_QUESTION_ID_KEY" value="&quot;kn31uvfo3c1j&quot;"/>
  </we:properties>
  <we:bindings/>
  <we:snapshot xmlns:r="http://schemas.openxmlformats.org/officeDocument/2006/relationships" r:embed="rId1"/>
</we:webextension>
</file>

<file path=ppt/webextensions/webextension3.xml><?xml version="1.0" encoding="utf-8"?>
<we:webextension xmlns:we="http://schemas.microsoft.com/office/webextensions/webextension/2010/11" id="{20D8AEA1-263B-4671-99C8-97A2822BEF27}">
  <we:reference id="wa104379261" version="4.4.0.0" store="en-US" storeType="OMEX"/>
  <we:alternateReferences>
    <we:reference id="WA104379261" version="4.4.0.0" store="" storeType="OMEX"/>
  </we:alternateReferences>
  <we:properties>
    <we:property name="MENTIMETER_QUESTION_ID_KEY" value="&quot;bocsjtbgawbr&quot;"/>
  </we:properties>
  <we:bindings/>
  <we:snapshot xmlns:r="http://schemas.openxmlformats.org/officeDocument/2006/relationships" r:embed="rId1"/>
</we:webextension>
</file>

<file path=ppt/webextensions/webextension4.xml><?xml version="1.0" encoding="utf-8"?>
<we:webextension xmlns:we="http://schemas.microsoft.com/office/webextensions/webextension/2010/11" id="{20D8AEA1-263B-4671-99C8-97A2822BEF27}">
  <we:reference id="wa104379261" version="4.4.0.0" store="en-US" storeType="OMEX"/>
  <we:alternateReferences>
    <we:reference id="WA104379261" version="4.4.0.0" store="" storeType="OMEX"/>
  </we:alternateReferences>
  <we:properties>
    <we:property name="MENTIMETER_QUESTION_ID_KEY" value="&quot;az1gcfxxy1e2&quot;"/>
  </we:properties>
  <we:bindings/>
  <we:snapshot xmlns:r="http://schemas.openxmlformats.org/officeDocument/2006/relationships" r:embed="rId1"/>
</we:webextension>
</file>

<file path=ppt/webextensions/webextension5.xml><?xml version="1.0" encoding="utf-8"?>
<we:webextension xmlns:we="http://schemas.microsoft.com/office/webextensions/webextension/2010/11" id="{20D8AEA1-263B-4671-99C8-97A2822BEF27}">
  <we:reference id="wa104379261" version="4.4.0.0" store="en-US" storeType="OMEX"/>
  <we:alternateReferences>
    <we:reference id="WA104379261" version="4.4.0.0" store="" storeType="OMEX"/>
  </we:alternateReferences>
  <we:properties>
    <we:property name="MENTIMETER_QUESTION_ID_KEY" value="&quot;jr6gjyr5yb3t&quot;"/>
  </we:properties>
  <we:bindings/>
  <we:snapshot xmlns:r="http://schemas.openxmlformats.org/officeDocument/2006/relationships" r:embed="rId1"/>
</we:webextension>
</file>

<file path=ppt/webextensions/webextension6.xml><?xml version="1.0" encoding="utf-8"?>
<we:webextension xmlns:we="http://schemas.microsoft.com/office/webextensions/webextension/2010/11" id="{20D8AEA1-263B-4671-99C8-97A2822BEF27}">
  <we:reference id="wa104379261" version="4.4.0.0" store="en-US" storeType="OMEX"/>
  <we:alternateReferences>
    <we:reference id="WA104379261" version="4.4.0.0" store="" storeType="OMEX"/>
  </we:alternateReferences>
  <we:properties>
    <we:property name="MENTIMETER_QUESTION_ID_KEY" value="&quot;snqghddqiesm&quot;"/>
  </we:properties>
  <we:bindings/>
  <we:snapshot xmlns:r="http://schemas.openxmlformats.org/officeDocument/2006/relationships" r:embed="rId1"/>
</we:webextension>
</file>

<file path=ppt/webextensions/webextension7.xml><?xml version="1.0" encoding="utf-8"?>
<we:webextension xmlns:we="http://schemas.microsoft.com/office/webextensions/webextension/2010/11" id="{20D8AEA1-263B-4671-99C8-97A2822BEF27}">
  <we:reference id="wa104379261" version="4.4.0.0" store="en-US" storeType="OMEX"/>
  <we:alternateReferences>
    <we:reference id="WA104379261" version="4.4.0.0" store="" storeType="OMEX"/>
  </we:alternateReferences>
  <we:properties>
    <we:property name="MENTIMETER_QUESTION_ID_KEY" value="&quot;2mt584dvpvcs&quot;"/>
  </we:properties>
  <we:bindings/>
  <we:snapshot xmlns:r="http://schemas.openxmlformats.org/officeDocument/2006/relationships" r:embed="rId1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2141</Words>
  <Application>Microsoft Office PowerPoint</Application>
  <PresentationFormat>Widescreen</PresentationFormat>
  <Paragraphs>406</Paragraphs>
  <Slides>53</Slides>
  <Notes>14</Notes>
  <HiddenSlides>7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2" baseType="lpstr">
      <vt:lpstr>Arial</vt:lpstr>
      <vt:lpstr>Calibri</vt:lpstr>
      <vt:lpstr>Cambria Math</vt:lpstr>
      <vt:lpstr>Code Pro Bold</vt:lpstr>
      <vt:lpstr>Codec Pro</vt:lpstr>
      <vt:lpstr>Codec Pro Bold</vt:lpstr>
      <vt:lpstr>Verdana</vt:lpstr>
      <vt:lpstr>Wingdings</vt:lpstr>
      <vt:lpstr>HPI</vt:lpstr>
      <vt:lpstr>Efficient Information Retrieval / Reinforcement Learning from Human Feedback</vt:lpstr>
      <vt:lpstr>Attendance list</vt:lpstr>
      <vt:lpstr>PowerPoint Presentation</vt:lpstr>
      <vt:lpstr>AI Service Center Berlin Brandenburg</vt:lpstr>
      <vt:lpstr>PowerPoint Presentation</vt:lpstr>
      <vt:lpstr>PowerPoint Presentation</vt:lpstr>
      <vt:lpstr>PowerPoint Presentation</vt:lpstr>
      <vt:lpstr>PowerPoint Presentation</vt:lpstr>
      <vt:lpstr>Other Workshops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a Claim?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sensing</dc:title>
  <dc:creator>Kohlmeyer, Lasse</dc:creator>
  <cp:lastModifiedBy>Mueller, Hanno</cp:lastModifiedBy>
  <cp:revision>82</cp:revision>
  <dcterms:modified xsi:type="dcterms:W3CDTF">2026-10-21T12:26:39Z</dcterms:modified>
</cp:coreProperties>
</file>